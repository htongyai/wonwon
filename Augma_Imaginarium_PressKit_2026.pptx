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228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2860" cy="3657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612880" y="0"/>
            <a:ext cx="578815" cy="228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168835" y="0"/>
            <a:ext cx="22860" cy="3657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35140"/>
            <a:ext cx="12191695" cy="228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92240"/>
            <a:ext cx="22860" cy="3657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168835" y="6492240"/>
            <a:ext cx="22860" cy="3657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731520"/>
            <a:ext cx="11247120" cy="7315"/>
          </a:xfrm>
          <a:prstGeom prst="rect">
            <a:avLst/>
          </a:prstGeom>
          <a:solidFill>
            <a:srgbClr val="F0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11247120" cy="7315"/>
          </a:xfrm>
          <a:prstGeom prst="rect">
            <a:avLst/>
          </a:prstGeom>
          <a:solidFill>
            <a:srgbClr val="F0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743200"/>
            <a:ext cx="11247120" cy="7315"/>
          </a:xfrm>
          <a:prstGeom prst="rect">
            <a:avLst/>
          </a:prstGeom>
          <a:solidFill>
            <a:srgbClr val="F0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749040"/>
            <a:ext cx="11247120" cy="7315"/>
          </a:xfrm>
          <a:prstGeom prst="rect">
            <a:avLst/>
          </a:prstGeom>
          <a:solidFill>
            <a:srgbClr val="F0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754880"/>
            <a:ext cx="11247120" cy="7315"/>
          </a:xfrm>
          <a:prstGeom prst="rect">
            <a:avLst/>
          </a:prstGeom>
          <a:solidFill>
            <a:srgbClr val="F0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5760720"/>
            <a:ext cx="11247120" cy="7315"/>
          </a:xfrm>
          <a:prstGeom prst="rect">
            <a:avLst/>
          </a:prstGeom>
          <a:solidFill>
            <a:srgbClr val="F0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0" y="27432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784080" y="27432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966960" y="27432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149840" y="27432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332720" y="27432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0" y="27432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0" y="45720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784080" y="45720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966960" y="45720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49840" y="45720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32720" y="45720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515600" y="45720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01200" y="64008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84080" y="64008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966960" y="64008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149840" y="64008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32720" y="64008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515600" y="64008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01200" y="82296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82296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966960" y="82296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149840" y="82296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332720" y="82296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515600" y="822960"/>
            <a:ext cx="27432"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01200" y="274320"/>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515600" y="457200"/>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48640"/>
            <a:ext cx="4572000" cy="457200"/>
          </a:xfrm>
          <a:prstGeom prst="rect">
            <a:avLst/>
          </a:prstGeom>
          <a:noFill/>
        </p:spPr>
        <p:txBody>
          <a:bodyPr wrap="square"/>
          <a:lstStyle/>
          <a:p>
            <a:pPr algn="l">
              <a:defRPr sz="1100" b="1" i="0">
                <a:solidFill>
                  <a:srgbClr val="888580"/>
                </a:solidFill>
                <a:latin typeface="Calibri"/>
              </a:defRPr>
            </a:pPr>
            <a:r>
              <a:t>PRESS KIT</a:t>
            </a:r>
          </a:p>
        </p:txBody>
      </p:sp>
      <p:sp>
        <p:nvSpPr>
          <p:cNvPr id="43" name="TextBox 42"/>
          <p:cNvSpPr txBox="1"/>
          <p:nvPr/>
        </p:nvSpPr>
        <p:spPr>
          <a:xfrm>
            <a:off x="731520" y="1097280"/>
            <a:ext cx="9144000" cy="731520"/>
          </a:xfrm>
          <a:prstGeom prst="rect">
            <a:avLst/>
          </a:prstGeom>
          <a:noFill/>
        </p:spPr>
        <p:txBody>
          <a:bodyPr wrap="square"/>
          <a:lstStyle/>
          <a:p>
            <a:pPr algn="l">
              <a:defRPr sz="5600" b="1" i="0">
                <a:solidFill>
                  <a:srgbClr val="1A1A1A"/>
                </a:solidFill>
                <a:latin typeface="Arial Black"/>
              </a:defRPr>
            </a:pPr>
            <a:r>
              <a:t>M.L. HARIRAS</a:t>
            </a:r>
          </a:p>
        </p:txBody>
      </p:sp>
      <p:sp>
        <p:nvSpPr>
          <p:cNvPr id="44" name="TextBox 43"/>
          <p:cNvSpPr txBox="1"/>
          <p:nvPr/>
        </p:nvSpPr>
        <p:spPr>
          <a:xfrm>
            <a:off x="731520" y="1920240"/>
            <a:ext cx="9144000" cy="731520"/>
          </a:xfrm>
          <a:prstGeom prst="rect">
            <a:avLst/>
          </a:prstGeom>
          <a:noFill/>
        </p:spPr>
        <p:txBody>
          <a:bodyPr wrap="square"/>
          <a:lstStyle/>
          <a:p>
            <a:pPr algn="l">
              <a:defRPr sz="5600" b="1" i="0">
                <a:solidFill>
                  <a:srgbClr val="CC0011"/>
                </a:solidFill>
                <a:latin typeface="Arial Black"/>
              </a:defRPr>
            </a:pPr>
            <a:r>
              <a:t>TONGYAI</a:t>
            </a:r>
          </a:p>
        </p:txBody>
      </p:sp>
      <p:sp>
        <p:nvSpPr>
          <p:cNvPr id="45" name="Rectangle 44"/>
          <p:cNvSpPr/>
          <p:nvPr/>
        </p:nvSpPr>
        <p:spPr>
          <a:xfrm>
            <a:off x="731520" y="2743200"/>
            <a:ext cx="2286000" cy="2743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08960" y="2743200"/>
            <a:ext cx="73152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931920" y="2743200"/>
            <a:ext cx="274320" cy="2743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3017520"/>
            <a:ext cx="7315200" cy="365760"/>
          </a:xfrm>
          <a:prstGeom prst="rect">
            <a:avLst/>
          </a:prstGeom>
          <a:noFill/>
        </p:spPr>
        <p:txBody>
          <a:bodyPr wrap="square"/>
          <a:lstStyle/>
          <a:p>
            <a:pPr algn="l">
              <a:defRPr sz="1600" b="0" i="0">
                <a:solidFill>
                  <a:srgbClr val="4A4A4A"/>
                </a:solidFill>
                <a:latin typeface="Calibri"/>
              </a:defRPr>
            </a:pPr>
            <a:r>
              <a:t>Futurist  /  XR Designer  /  AI &amp; Robotics Engineer</a:t>
            </a:r>
          </a:p>
        </p:txBody>
      </p:sp>
      <p:sp>
        <p:nvSpPr>
          <p:cNvPr id="49" name="TextBox 48"/>
          <p:cNvSpPr txBox="1"/>
          <p:nvPr/>
        </p:nvSpPr>
        <p:spPr>
          <a:xfrm>
            <a:off x="731520" y="3657600"/>
            <a:ext cx="7315200" cy="274320"/>
          </a:xfrm>
          <a:prstGeom prst="rect">
            <a:avLst/>
          </a:prstGeom>
          <a:noFill/>
        </p:spPr>
        <p:txBody>
          <a:bodyPr wrap="square"/>
          <a:lstStyle/>
          <a:p>
            <a:pPr algn="l">
              <a:defRPr sz="1200" b="0" i="0">
                <a:solidFill>
                  <a:srgbClr val="888580"/>
                </a:solidFill>
                <a:latin typeface="Calibri"/>
              </a:defRPr>
            </a:pPr>
            <a:r>
              <a:t>Founder — Augma Imaginarium (XR Developer Studio)</a:t>
            </a:r>
          </a:p>
        </p:txBody>
      </p:sp>
      <p:sp>
        <p:nvSpPr>
          <p:cNvPr id="50" name="TextBox 49"/>
          <p:cNvSpPr txBox="1"/>
          <p:nvPr/>
        </p:nvSpPr>
        <p:spPr>
          <a:xfrm>
            <a:off x="731520" y="3977639"/>
            <a:ext cx="7315200" cy="274320"/>
          </a:xfrm>
          <a:prstGeom prst="rect">
            <a:avLst/>
          </a:prstGeom>
          <a:noFill/>
        </p:spPr>
        <p:txBody>
          <a:bodyPr wrap="square"/>
          <a:lstStyle/>
          <a:p>
            <a:pPr algn="l">
              <a:defRPr sz="1200" b="0" i="0">
                <a:solidFill>
                  <a:srgbClr val="888580"/>
                </a:solidFill>
                <a:latin typeface="Calibri"/>
              </a:defRPr>
            </a:pPr>
            <a:r>
              <a:t>Founder — BaanARVR  |  Motiwatt  |  Social Climbers  |  AUGMA World</a:t>
            </a:r>
          </a:p>
        </p:txBody>
      </p:sp>
      <p:sp>
        <p:nvSpPr>
          <p:cNvPr id="51" name="Rectangle 50"/>
          <p:cNvSpPr/>
          <p:nvPr/>
        </p:nvSpPr>
        <p:spPr>
          <a:xfrm>
            <a:off x="731520" y="4754880"/>
            <a:ext cx="10698480" cy="1371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029200"/>
            <a:ext cx="1371600" cy="548640"/>
          </a:xfrm>
          <a:prstGeom prst="rect">
            <a:avLst/>
          </a:prstGeom>
          <a:noFill/>
        </p:spPr>
        <p:txBody>
          <a:bodyPr wrap="square"/>
          <a:lstStyle/>
          <a:p>
            <a:pPr algn="l">
              <a:defRPr sz="4200" b="1" i="0">
                <a:solidFill>
                  <a:srgbClr val="CC0011"/>
                </a:solidFill>
                <a:latin typeface="Arial Black"/>
              </a:defRPr>
            </a:pPr>
            <a:r>
              <a:t>4</a:t>
            </a:r>
          </a:p>
        </p:txBody>
      </p:sp>
      <p:sp>
        <p:nvSpPr>
          <p:cNvPr id="53" name="TextBox 52"/>
          <p:cNvSpPr txBox="1"/>
          <p:nvPr/>
        </p:nvSpPr>
        <p:spPr>
          <a:xfrm>
            <a:off x="1920240" y="5074920"/>
            <a:ext cx="1828800" cy="457200"/>
          </a:xfrm>
          <a:prstGeom prst="rect">
            <a:avLst/>
          </a:prstGeom>
          <a:noFill/>
        </p:spPr>
        <p:txBody>
          <a:bodyPr wrap="square"/>
          <a:lstStyle/>
          <a:p>
            <a:pPr algn="l">
              <a:lnSpc>
                <a:spcPts val="1300"/>
              </a:lnSpc>
              <a:defRPr sz="800" b="1" i="0">
                <a:solidFill>
                  <a:srgbClr val="888580"/>
                </a:solidFill>
                <a:latin typeface="Calibri"/>
              </a:defRPr>
            </a:pPr>
            <a:r>
              <a:t>COMPANIES</a:t>
            </a:r>
            <a:br/>
            <a:r>
              <a:t>FOUNDED</a:t>
            </a:r>
          </a:p>
        </p:txBody>
      </p:sp>
      <p:sp>
        <p:nvSpPr>
          <p:cNvPr id="54" name="TextBox 53"/>
          <p:cNvSpPr txBox="1"/>
          <p:nvPr/>
        </p:nvSpPr>
        <p:spPr>
          <a:xfrm>
            <a:off x="3474720" y="5029200"/>
            <a:ext cx="1371600" cy="548640"/>
          </a:xfrm>
          <a:prstGeom prst="rect">
            <a:avLst/>
          </a:prstGeom>
          <a:noFill/>
        </p:spPr>
        <p:txBody>
          <a:bodyPr wrap="square"/>
          <a:lstStyle/>
          <a:p>
            <a:pPr algn="l">
              <a:defRPr sz="4200" b="1" i="0">
                <a:solidFill>
                  <a:srgbClr val="CC0011"/>
                </a:solidFill>
                <a:latin typeface="Arial Black"/>
              </a:defRPr>
            </a:pPr>
            <a:r>
              <a:t>5+</a:t>
            </a:r>
          </a:p>
        </p:txBody>
      </p:sp>
      <p:sp>
        <p:nvSpPr>
          <p:cNvPr id="55" name="TextBox 54"/>
          <p:cNvSpPr txBox="1"/>
          <p:nvPr/>
        </p:nvSpPr>
        <p:spPr>
          <a:xfrm>
            <a:off x="4663440" y="5074920"/>
            <a:ext cx="1828800" cy="457200"/>
          </a:xfrm>
          <a:prstGeom prst="rect">
            <a:avLst/>
          </a:prstGeom>
          <a:noFill/>
        </p:spPr>
        <p:txBody>
          <a:bodyPr wrap="square"/>
          <a:lstStyle/>
          <a:p>
            <a:pPr algn="l">
              <a:lnSpc>
                <a:spcPts val="1300"/>
              </a:lnSpc>
              <a:defRPr sz="800" b="1" i="0">
                <a:solidFill>
                  <a:srgbClr val="888580"/>
                </a:solidFill>
                <a:latin typeface="Calibri"/>
              </a:defRPr>
            </a:pPr>
            <a:r>
              <a:t>MAJOR PROJECTS</a:t>
            </a:r>
            <a:br/>
            <a:r>
              <a:t>DEPLOYED</a:t>
            </a:r>
          </a:p>
        </p:txBody>
      </p:sp>
      <p:sp>
        <p:nvSpPr>
          <p:cNvPr id="56" name="TextBox 55"/>
          <p:cNvSpPr txBox="1"/>
          <p:nvPr/>
        </p:nvSpPr>
        <p:spPr>
          <a:xfrm>
            <a:off x="6217920" y="5029200"/>
            <a:ext cx="1371600" cy="548640"/>
          </a:xfrm>
          <a:prstGeom prst="rect">
            <a:avLst/>
          </a:prstGeom>
          <a:noFill/>
        </p:spPr>
        <p:txBody>
          <a:bodyPr wrap="square"/>
          <a:lstStyle/>
          <a:p>
            <a:pPr algn="l">
              <a:defRPr sz="4200" b="1" i="0">
                <a:solidFill>
                  <a:srgbClr val="CC0011"/>
                </a:solidFill>
                <a:latin typeface="Arial Black"/>
              </a:defRPr>
            </a:pPr>
            <a:r>
              <a:t>10+</a:t>
            </a:r>
          </a:p>
        </p:txBody>
      </p:sp>
      <p:sp>
        <p:nvSpPr>
          <p:cNvPr id="57" name="TextBox 56"/>
          <p:cNvSpPr txBox="1"/>
          <p:nvPr/>
        </p:nvSpPr>
        <p:spPr>
          <a:xfrm>
            <a:off x="7406640" y="5074920"/>
            <a:ext cx="1828800" cy="457200"/>
          </a:xfrm>
          <a:prstGeom prst="rect">
            <a:avLst/>
          </a:prstGeom>
          <a:noFill/>
        </p:spPr>
        <p:txBody>
          <a:bodyPr wrap="square"/>
          <a:lstStyle/>
          <a:p>
            <a:pPr algn="l">
              <a:lnSpc>
                <a:spcPts val="1300"/>
              </a:lnSpc>
              <a:defRPr sz="800" b="1" i="0">
                <a:solidFill>
                  <a:srgbClr val="888580"/>
                </a:solidFill>
                <a:latin typeface="Calibri"/>
              </a:defRPr>
            </a:pPr>
            <a:r>
              <a:t>YEARS IN</a:t>
            </a:r>
            <a:br/>
            <a:r>
              <a:t>TECH</a:t>
            </a:r>
          </a:p>
        </p:txBody>
      </p:sp>
      <p:sp>
        <p:nvSpPr>
          <p:cNvPr id="58" name="TextBox 57"/>
          <p:cNvSpPr txBox="1"/>
          <p:nvPr/>
        </p:nvSpPr>
        <p:spPr>
          <a:xfrm>
            <a:off x="8961120" y="5029200"/>
            <a:ext cx="1371600" cy="548640"/>
          </a:xfrm>
          <a:prstGeom prst="rect">
            <a:avLst/>
          </a:prstGeom>
          <a:noFill/>
        </p:spPr>
        <p:txBody>
          <a:bodyPr wrap="square"/>
          <a:lstStyle/>
          <a:p>
            <a:pPr algn="l">
              <a:defRPr sz="4200" b="1" i="0">
                <a:solidFill>
                  <a:srgbClr val="CC0011"/>
                </a:solidFill>
                <a:latin typeface="Arial Black"/>
              </a:defRPr>
            </a:pPr>
            <a:r>
              <a:t>300</a:t>
            </a:r>
          </a:p>
        </p:txBody>
      </p:sp>
      <p:sp>
        <p:nvSpPr>
          <p:cNvPr id="59" name="TextBox 58"/>
          <p:cNvSpPr txBox="1"/>
          <p:nvPr/>
        </p:nvSpPr>
        <p:spPr>
          <a:xfrm>
            <a:off x="10149840" y="5074920"/>
            <a:ext cx="1828800" cy="457200"/>
          </a:xfrm>
          <a:prstGeom prst="rect">
            <a:avLst/>
          </a:prstGeom>
          <a:noFill/>
        </p:spPr>
        <p:txBody>
          <a:bodyPr wrap="square"/>
          <a:lstStyle/>
          <a:p>
            <a:pPr algn="l">
              <a:lnSpc>
                <a:spcPts val="1300"/>
              </a:lnSpc>
              <a:defRPr sz="800" b="1" i="0">
                <a:solidFill>
                  <a:srgbClr val="888580"/>
                </a:solidFill>
                <a:latin typeface="Calibri"/>
              </a:defRPr>
            </a:pPr>
            <a:r>
              <a:t>PRESTIGE</a:t>
            </a:r>
            <a:br/>
            <a:r>
              <a:t>HIGHFLYER</a:t>
            </a:r>
          </a:p>
        </p:txBody>
      </p:sp>
      <p:sp>
        <p:nvSpPr>
          <p:cNvPr id="60" name="Rectangle 59"/>
          <p:cNvSpPr/>
          <p:nvPr/>
        </p:nvSpPr>
        <p:spPr>
          <a:xfrm>
            <a:off x="731520" y="5943600"/>
            <a:ext cx="10698480" cy="1371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1520" y="6080760"/>
            <a:ext cx="3657600" cy="274320"/>
          </a:xfrm>
          <a:prstGeom prst="rect">
            <a:avLst/>
          </a:prstGeom>
          <a:noFill/>
        </p:spPr>
        <p:txBody>
          <a:bodyPr wrap="square"/>
          <a:lstStyle/>
          <a:p>
            <a:pPr algn="l">
              <a:defRPr sz="1000" b="1" i="0">
                <a:solidFill>
                  <a:srgbClr val="1A1A1A"/>
                </a:solidFill>
                <a:latin typeface="Calibri"/>
              </a:defRPr>
            </a:pPr>
            <a:r>
              <a:t>AUGMA  IMAGINARIUM</a:t>
            </a:r>
          </a:p>
        </p:txBody>
      </p:sp>
      <p:sp>
        <p:nvSpPr>
          <p:cNvPr id="62" name="TextBox 61"/>
          <p:cNvSpPr txBox="1"/>
          <p:nvPr/>
        </p:nvSpPr>
        <p:spPr>
          <a:xfrm>
            <a:off x="731520" y="6309360"/>
            <a:ext cx="3657600" cy="228600"/>
          </a:xfrm>
          <a:prstGeom prst="rect">
            <a:avLst/>
          </a:prstGeom>
          <a:noFill/>
        </p:spPr>
        <p:txBody>
          <a:bodyPr wrap="square"/>
          <a:lstStyle/>
          <a:p>
            <a:pPr algn="l">
              <a:defRPr sz="900" b="0" i="0">
                <a:solidFill>
                  <a:srgbClr val="888580"/>
                </a:solidFill>
                <a:latin typeface="Calibri"/>
              </a:defRPr>
            </a:pPr>
            <a:r>
              <a:t>XR Developer Studio  —  Bangkok, Thailand</a:t>
            </a:r>
          </a:p>
        </p:txBody>
      </p:sp>
      <p:sp>
        <p:nvSpPr>
          <p:cNvPr id="63" name="TextBox 62"/>
          <p:cNvSpPr txBox="1"/>
          <p:nvPr/>
        </p:nvSpPr>
        <p:spPr>
          <a:xfrm>
            <a:off x="9875520" y="6035040"/>
            <a:ext cx="1828800" cy="365760"/>
          </a:xfrm>
          <a:prstGeom prst="rect">
            <a:avLst/>
          </a:prstGeom>
          <a:noFill/>
        </p:spPr>
        <p:txBody>
          <a:bodyPr wrap="square"/>
          <a:lstStyle/>
          <a:p>
            <a:pPr algn="r">
              <a:defRPr sz="2400" b="1" i="0">
                <a:solidFill>
                  <a:srgbClr val="DDDDDD"/>
                </a:solidFill>
                <a:latin typeface="Arial Black"/>
              </a:defRPr>
            </a:pPr>
            <a: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01  —  INTRODUCTION</a:t>
            </a:r>
          </a:p>
        </p:txBody>
      </p:sp>
      <p:sp>
        <p:nvSpPr>
          <p:cNvPr id="41" name="Rectangle 40"/>
          <p:cNvSpPr/>
          <p:nvPr/>
        </p:nvSpPr>
        <p:spPr>
          <a:xfrm>
            <a:off x="731520" y="685800"/>
            <a:ext cx="1129284"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5486400" cy="594360"/>
          </a:xfrm>
          <a:prstGeom prst="rect">
            <a:avLst/>
          </a:prstGeom>
          <a:noFill/>
        </p:spPr>
        <p:txBody>
          <a:bodyPr wrap="square"/>
          <a:lstStyle/>
          <a:p>
            <a:pPr algn="l">
              <a:defRPr sz="4400" b="1" i="0">
                <a:solidFill>
                  <a:srgbClr val="1A1A1A"/>
                </a:solidFill>
                <a:latin typeface="Arial Black"/>
              </a:defRPr>
            </a:pPr>
            <a:r>
              <a:t>M.L. Hariras</a:t>
            </a:r>
          </a:p>
        </p:txBody>
      </p:sp>
      <p:sp>
        <p:nvSpPr>
          <p:cNvPr id="43" name="TextBox 42"/>
          <p:cNvSpPr txBox="1"/>
          <p:nvPr/>
        </p:nvSpPr>
        <p:spPr>
          <a:xfrm>
            <a:off x="731520" y="1371600"/>
            <a:ext cx="5486400" cy="594360"/>
          </a:xfrm>
          <a:prstGeom prst="rect">
            <a:avLst/>
          </a:prstGeom>
          <a:noFill/>
        </p:spPr>
        <p:txBody>
          <a:bodyPr wrap="square"/>
          <a:lstStyle/>
          <a:p>
            <a:pPr algn="l">
              <a:defRPr sz="4400" b="1" i="0">
                <a:solidFill>
                  <a:srgbClr val="CC0011"/>
                </a:solidFill>
                <a:latin typeface="Arial Black"/>
              </a:defRPr>
            </a:pPr>
            <a:r>
              <a:t>Tongyai</a:t>
            </a:r>
          </a:p>
        </p:txBody>
      </p:sp>
      <p:sp>
        <p:nvSpPr>
          <p:cNvPr id="44" name="Rectangle 43"/>
          <p:cNvSpPr/>
          <p:nvPr/>
        </p:nvSpPr>
        <p:spPr>
          <a:xfrm>
            <a:off x="731520" y="2286000"/>
            <a:ext cx="36576" cy="20116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2286000"/>
            <a:ext cx="4754880" cy="2011680"/>
          </a:xfrm>
          <a:prstGeom prst="rect">
            <a:avLst/>
          </a:prstGeom>
          <a:noFill/>
        </p:spPr>
        <p:txBody>
          <a:bodyPr wrap="square"/>
          <a:lstStyle/>
          <a:p>
            <a:pPr algn="l">
              <a:lnSpc>
                <a:spcPts val="2000"/>
              </a:lnSpc>
              <a:defRPr sz="1200" b="0" i="1">
                <a:solidFill>
                  <a:srgbClr val="4A4A4A"/>
                </a:solidFill>
                <a:latin typeface="Calibri"/>
              </a:defRPr>
            </a:pPr>
            <a:r>
              <a:t>"I believe stories connect us more than we realize. We share our unique points of view, and often, we connect when we relate to a mutual understanding of experiences. The same principle applies to connecting audiences and brands. AR enables us to connect without the limitations of the physical world, bringing us together in ways where only our imagination sets the limit."</a:t>
            </a:r>
          </a:p>
        </p:txBody>
      </p:sp>
      <p:sp>
        <p:nvSpPr>
          <p:cNvPr id="46" name="TextBox 45"/>
          <p:cNvSpPr txBox="1"/>
          <p:nvPr/>
        </p:nvSpPr>
        <p:spPr>
          <a:xfrm>
            <a:off x="731520" y="4572000"/>
            <a:ext cx="5029200" cy="731520"/>
          </a:xfrm>
          <a:prstGeom prst="rect">
            <a:avLst/>
          </a:prstGeom>
          <a:noFill/>
        </p:spPr>
        <p:txBody>
          <a:bodyPr wrap="square"/>
          <a:lstStyle/>
          <a:p>
            <a:pPr algn="l">
              <a:lnSpc>
                <a:spcPts val="2000"/>
              </a:lnSpc>
              <a:defRPr sz="1200" b="0" i="0">
                <a:solidFill>
                  <a:srgbClr val="4A4A4A"/>
                </a:solidFill>
                <a:latin typeface="Calibri"/>
              </a:defRPr>
            </a:pPr>
            <a:r>
              <a:t>I'll utilize XR development tools to help you design an experience like no other, creating extraordinary memories for your audience moving forward.</a:t>
            </a:r>
          </a:p>
        </p:txBody>
      </p:sp>
      <p:sp>
        <p:nvSpPr>
          <p:cNvPr id="47" name="TextBox 46"/>
          <p:cNvSpPr txBox="1"/>
          <p:nvPr/>
        </p:nvSpPr>
        <p:spPr>
          <a:xfrm>
            <a:off x="731520" y="5394960"/>
            <a:ext cx="4572000" cy="274320"/>
          </a:xfrm>
          <a:prstGeom prst="rect">
            <a:avLst/>
          </a:prstGeom>
          <a:noFill/>
        </p:spPr>
        <p:txBody>
          <a:bodyPr wrap="square"/>
          <a:lstStyle/>
          <a:p>
            <a:pPr algn="l">
              <a:defRPr sz="1200" b="1" i="0">
                <a:solidFill>
                  <a:srgbClr val="CC0011"/>
                </a:solidFill>
                <a:latin typeface="Calibri"/>
              </a:defRPr>
            </a:pPr>
            <a:r>
              <a:t>— M.L. Hariras Tongyai</a:t>
            </a:r>
          </a:p>
        </p:txBody>
      </p:sp>
      <p:sp>
        <p:nvSpPr>
          <p:cNvPr id="48" name="Rectangle 47"/>
          <p:cNvSpPr/>
          <p:nvPr/>
        </p:nvSpPr>
        <p:spPr>
          <a:xfrm>
            <a:off x="6400800" y="365760"/>
            <a:ext cx="5303520" cy="5852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0" y="2926080"/>
            <a:ext cx="3474720" cy="365760"/>
          </a:xfrm>
          <a:prstGeom prst="rect">
            <a:avLst/>
          </a:prstGeom>
          <a:noFill/>
        </p:spPr>
        <p:txBody>
          <a:bodyPr wrap="square"/>
          <a:lstStyle/>
          <a:p>
            <a:pPr algn="ctr">
              <a:defRPr sz="1400" b="0" i="0">
                <a:solidFill>
                  <a:srgbClr val="AAA7A2"/>
                </a:solidFill>
                <a:latin typeface="Calibri"/>
              </a:defRPr>
            </a:pPr>
            <a:r>
              <a:t>[ PORTRAIT PHOTO ]</a:t>
            </a:r>
          </a:p>
        </p:txBody>
      </p:sp>
      <p:sp>
        <p:nvSpPr>
          <p:cNvPr id="50" name="Rectangle 49"/>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53" name="TextBox 52"/>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02  —  MY STORY</a:t>
            </a:r>
          </a:p>
        </p:txBody>
      </p:sp>
      <p:sp>
        <p:nvSpPr>
          <p:cNvPr id="41" name="Rectangle 40"/>
          <p:cNvSpPr/>
          <p:nvPr/>
        </p:nvSpPr>
        <p:spPr>
          <a:xfrm>
            <a:off x="731520" y="685800"/>
            <a:ext cx="89154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5943600" cy="457200"/>
          </a:xfrm>
          <a:prstGeom prst="rect">
            <a:avLst/>
          </a:prstGeom>
          <a:noFill/>
        </p:spPr>
        <p:txBody>
          <a:bodyPr wrap="square"/>
          <a:lstStyle/>
          <a:p>
            <a:pPr algn="l">
              <a:defRPr sz="3200" b="1" i="0">
                <a:solidFill>
                  <a:srgbClr val="1A1A1A"/>
                </a:solidFill>
                <a:latin typeface="Arial Black"/>
              </a:defRPr>
            </a:pPr>
            <a:r>
              <a:t>From Science Fiction</a:t>
            </a:r>
          </a:p>
        </p:txBody>
      </p:sp>
      <p:sp>
        <p:nvSpPr>
          <p:cNvPr id="43" name="TextBox 42"/>
          <p:cNvSpPr txBox="1"/>
          <p:nvPr/>
        </p:nvSpPr>
        <p:spPr>
          <a:xfrm>
            <a:off x="731520" y="1234440"/>
            <a:ext cx="5943600" cy="457200"/>
          </a:xfrm>
          <a:prstGeom prst="rect">
            <a:avLst/>
          </a:prstGeom>
          <a:noFill/>
        </p:spPr>
        <p:txBody>
          <a:bodyPr wrap="square"/>
          <a:lstStyle/>
          <a:p>
            <a:pPr algn="l">
              <a:defRPr sz="3200" b="1" i="0">
                <a:solidFill>
                  <a:srgbClr val="CC0011"/>
                </a:solidFill>
                <a:latin typeface="Arial Black"/>
              </a:defRPr>
            </a:pPr>
            <a:r>
              <a:t>Daydreams to XR Reality</a:t>
            </a:r>
          </a:p>
        </p:txBody>
      </p:sp>
      <p:sp>
        <p:nvSpPr>
          <p:cNvPr id="44" name="Rectangle 43"/>
          <p:cNvSpPr/>
          <p:nvPr/>
        </p:nvSpPr>
        <p:spPr>
          <a:xfrm>
            <a:off x="731520" y="1737360"/>
            <a:ext cx="274320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520440" y="1737360"/>
            <a:ext cx="457200" cy="18288"/>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1965960"/>
            <a:ext cx="5943600" cy="4114800"/>
          </a:xfrm>
          <a:prstGeom prst="rect">
            <a:avLst/>
          </a:prstGeom>
          <a:noFill/>
        </p:spPr>
        <p:txBody>
          <a:bodyPr wrap="square"/>
          <a:lstStyle/>
          <a:p>
            <a:pPr algn="l">
              <a:lnSpc>
                <a:spcPts val="1900"/>
              </a:lnSpc>
              <a:defRPr sz="1200" b="0" i="0">
                <a:solidFill>
                  <a:srgbClr val="4A4A4A"/>
                </a:solidFill>
                <a:latin typeface="Calibri"/>
              </a:defRPr>
            </a:pPr>
            <a:r>
              <a:t>At 14, I was already taking things apart — trying to find out how they worked. I didn't understand it then, but it was a coping mechanism. My mother had left, and learning why things work, building and repairing them, was my way of processing what I couldn't fix. When Iron Man came out that year, it gave all of that a name.</a:t>
            </a:r>
            <a:br/>
            <a:br/>
            <a:r>
              <a:t>I moved to London — Bachelor's in Electronics at Queen Mary, Master's in AI &amp; Robotics at King's College London, where my thesis on surrogate rescue robots was inspired by the Tham Luang cave rescue. Back in Bangkok — CTO role, then Baan ARVR for rural schools, then climbing communities through Routesetter and Bangkok Boulderfest.</a:t>
            </a:r>
            <a:br/>
            <a:br/>
            <a:r>
              <a:t>In March 2026, I lost my mother for good. And everything I'd been building — every project, every community — finally made sense. Augma Imaginarium is where it all comes together. I was never just building tech. I was repairing connection.</a:t>
            </a:r>
          </a:p>
        </p:txBody>
      </p:sp>
      <p:sp>
        <p:nvSpPr>
          <p:cNvPr id="47" name="Rectangle 46"/>
          <p:cNvSpPr/>
          <p:nvPr/>
        </p:nvSpPr>
        <p:spPr>
          <a:xfrm>
            <a:off x="7132320" y="822960"/>
            <a:ext cx="4572000" cy="5303520"/>
          </a:xfrm>
          <a:prstGeom prst="rect">
            <a:avLst/>
          </a:prstGeom>
          <a:solidFill>
            <a:srgbClr val="E8E5E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6720" y="3200400"/>
            <a:ext cx="2743200" cy="457200"/>
          </a:xfrm>
          <a:prstGeom prst="rect">
            <a:avLst/>
          </a:prstGeom>
          <a:noFill/>
        </p:spPr>
        <p:txBody>
          <a:bodyPr wrap="square"/>
          <a:lstStyle/>
          <a:p>
            <a:pPr algn="ctr">
              <a:defRPr sz="1400" b="0" i="0">
                <a:solidFill>
                  <a:srgbClr val="AAA7A2"/>
                </a:solidFill>
                <a:latin typeface="Calibri"/>
              </a:defRPr>
            </a:pPr>
            <a:r>
              <a:t>[ INSERT PHOTO ]</a:t>
            </a:r>
          </a:p>
        </p:txBody>
      </p:sp>
      <p:sp>
        <p:nvSpPr>
          <p:cNvPr id="49" name="Rectangle 48"/>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52" name="TextBox 51"/>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03  —  EDUCATION</a:t>
            </a:r>
          </a:p>
        </p:txBody>
      </p:sp>
      <p:sp>
        <p:nvSpPr>
          <p:cNvPr id="41" name="Rectangle 40"/>
          <p:cNvSpPr/>
          <p:nvPr/>
        </p:nvSpPr>
        <p:spPr>
          <a:xfrm>
            <a:off x="731520" y="685800"/>
            <a:ext cx="950976"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Academic Background</a:t>
            </a:r>
          </a:p>
        </p:txBody>
      </p:sp>
      <p:sp>
        <p:nvSpPr>
          <p:cNvPr id="43" name="TextBox 42"/>
          <p:cNvSpPr txBox="1"/>
          <p:nvPr/>
        </p:nvSpPr>
        <p:spPr>
          <a:xfrm>
            <a:off x="731520" y="1554480"/>
            <a:ext cx="1280160" cy="274320"/>
          </a:xfrm>
          <a:prstGeom prst="rect">
            <a:avLst/>
          </a:prstGeom>
          <a:noFill/>
        </p:spPr>
        <p:txBody>
          <a:bodyPr wrap="square"/>
          <a:lstStyle/>
          <a:p>
            <a:pPr algn="l">
              <a:defRPr sz="1100" b="1" i="0">
                <a:solidFill>
                  <a:srgbClr val="CC0011"/>
                </a:solidFill>
                <a:latin typeface="Calibri"/>
              </a:defRPr>
            </a:pPr>
            <a:r>
              <a:t>2022</a:t>
            </a:r>
          </a:p>
        </p:txBody>
      </p:sp>
      <p:sp>
        <p:nvSpPr>
          <p:cNvPr id="44" name="TextBox 43"/>
          <p:cNvSpPr txBox="1"/>
          <p:nvPr/>
        </p:nvSpPr>
        <p:spPr>
          <a:xfrm>
            <a:off x="2194560" y="1554480"/>
            <a:ext cx="4114800" cy="274320"/>
          </a:xfrm>
          <a:prstGeom prst="rect">
            <a:avLst/>
          </a:prstGeom>
          <a:noFill/>
        </p:spPr>
        <p:txBody>
          <a:bodyPr wrap="square"/>
          <a:lstStyle/>
          <a:p>
            <a:pPr algn="l">
              <a:defRPr sz="1200" b="1" i="0">
                <a:solidFill>
                  <a:srgbClr val="1A1A1A"/>
                </a:solidFill>
                <a:latin typeface="Calibri"/>
              </a:defRPr>
            </a:pPr>
            <a:r>
              <a:t>GAMIFICATION &amp; BEHAVIOURAL DESIGN</a:t>
            </a:r>
          </a:p>
        </p:txBody>
      </p:sp>
      <p:sp>
        <p:nvSpPr>
          <p:cNvPr id="45" name="TextBox 44"/>
          <p:cNvSpPr txBox="1"/>
          <p:nvPr/>
        </p:nvSpPr>
        <p:spPr>
          <a:xfrm>
            <a:off x="2194560" y="1783080"/>
            <a:ext cx="4114800" cy="274320"/>
          </a:xfrm>
          <a:prstGeom prst="rect">
            <a:avLst/>
          </a:prstGeom>
          <a:noFill/>
        </p:spPr>
        <p:txBody>
          <a:bodyPr wrap="square"/>
          <a:lstStyle/>
          <a:p>
            <a:pPr algn="l">
              <a:defRPr sz="1000" b="0" i="0">
                <a:solidFill>
                  <a:srgbClr val="888580"/>
                </a:solidFill>
                <a:latin typeface="Calibri"/>
              </a:defRPr>
            </a:pPr>
            <a:r>
              <a:t>Thammasat University  —  Bangkok, Thailand</a:t>
            </a:r>
          </a:p>
        </p:txBody>
      </p:sp>
      <p:sp>
        <p:nvSpPr>
          <p:cNvPr id="46" name="TextBox 45"/>
          <p:cNvSpPr txBox="1"/>
          <p:nvPr/>
        </p:nvSpPr>
        <p:spPr>
          <a:xfrm>
            <a:off x="6858000" y="1554480"/>
            <a:ext cx="4846320" cy="640080"/>
          </a:xfrm>
          <a:prstGeom prst="rect">
            <a:avLst/>
          </a:prstGeom>
          <a:noFill/>
        </p:spPr>
        <p:txBody>
          <a:bodyPr wrap="square"/>
          <a:lstStyle/>
          <a:p>
            <a:pPr algn="l">
              <a:lnSpc>
                <a:spcPts val="1500"/>
              </a:lnSpc>
              <a:defRPr sz="1000" b="0" i="0">
                <a:solidFill>
                  <a:srgbClr val="4A4A4A"/>
                </a:solidFill>
                <a:latin typeface="Calibri"/>
              </a:defRPr>
            </a:pPr>
            <a:r>
              <a:t>Certification in gamification principles, behavioural design patterns, and engagement mechanics — applied directly to Motiwatt and Augma gaming systems.</a:t>
            </a:r>
          </a:p>
        </p:txBody>
      </p:sp>
      <p:sp>
        <p:nvSpPr>
          <p:cNvPr id="47" name="Rectangle 46"/>
          <p:cNvSpPr/>
          <p:nvPr/>
        </p:nvSpPr>
        <p:spPr>
          <a:xfrm>
            <a:off x="731520" y="23774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2514600"/>
            <a:ext cx="1280160" cy="274320"/>
          </a:xfrm>
          <a:prstGeom prst="rect">
            <a:avLst/>
          </a:prstGeom>
          <a:noFill/>
        </p:spPr>
        <p:txBody>
          <a:bodyPr wrap="square"/>
          <a:lstStyle/>
          <a:p>
            <a:pPr algn="l">
              <a:defRPr sz="1100" b="1" i="0">
                <a:solidFill>
                  <a:srgbClr val="CC0011"/>
                </a:solidFill>
                <a:latin typeface="Calibri"/>
              </a:defRPr>
            </a:pPr>
            <a:r>
              <a:t>2019</a:t>
            </a:r>
          </a:p>
        </p:txBody>
      </p:sp>
      <p:sp>
        <p:nvSpPr>
          <p:cNvPr id="49" name="TextBox 48"/>
          <p:cNvSpPr txBox="1"/>
          <p:nvPr/>
        </p:nvSpPr>
        <p:spPr>
          <a:xfrm>
            <a:off x="2194560" y="2514600"/>
            <a:ext cx="4114800" cy="274320"/>
          </a:xfrm>
          <a:prstGeom prst="rect">
            <a:avLst/>
          </a:prstGeom>
          <a:noFill/>
        </p:spPr>
        <p:txBody>
          <a:bodyPr wrap="square"/>
          <a:lstStyle/>
          <a:p>
            <a:pPr algn="l">
              <a:defRPr sz="1200" b="1" i="0">
                <a:solidFill>
                  <a:srgbClr val="1A1A1A"/>
                </a:solidFill>
                <a:latin typeface="Calibri"/>
              </a:defRPr>
            </a:pPr>
            <a:r>
              <a:t>A.I. BUSINESS ANALYTICS</a:t>
            </a:r>
          </a:p>
        </p:txBody>
      </p:sp>
      <p:sp>
        <p:nvSpPr>
          <p:cNvPr id="50" name="TextBox 49"/>
          <p:cNvSpPr txBox="1"/>
          <p:nvPr/>
        </p:nvSpPr>
        <p:spPr>
          <a:xfrm>
            <a:off x="2194560" y="2743200"/>
            <a:ext cx="4114800" cy="274320"/>
          </a:xfrm>
          <a:prstGeom prst="rect">
            <a:avLst/>
          </a:prstGeom>
          <a:noFill/>
        </p:spPr>
        <p:txBody>
          <a:bodyPr wrap="square"/>
          <a:lstStyle/>
          <a:p>
            <a:pPr algn="l">
              <a:defRPr sz="1000" b="0" i="0">
                <a:solidFill>
                  <a:srgbClr val="888580"/>
                </a:solidFill>
                <a:latin typeface="Calibri"/>
              </a:defRPr>
            </a:pPr>
            <a:r>
              <a:t>University of Cambridge  —  United Kingdom</a:t>
            </a:r>
          </a:p>
        </p:txBody>
      </p:sp>
      <p:sp>
        <p:nvSpPr>
          <p:cNvPr id="51" name="TextBox 50"/>
          <p:cNvSpPr txBox="1"/>
          <p:nvPr/>
        </p:nvSpPr>
        <p:spPr>
          <a:xfrm>
            <a:off x="6858000" y="2514600"/>
            <a:ext cx="4846320" cy="640080"/>
          </a:xfrm>
          <a:prstGeom prst="rect">
            <a:avLst/>
          </a:prstGeom>
          <a:noFill/>
        </p:spPr>
        <p:txBody>
          <a:bodyPr wrap="square"/>
          <a:lstStyle/>
          <a:p>
            <a:pPr algn="l">
              <a:lnSpc>
                <a:spcPts val="1500"/>
              </a:lnSpc>
              <a:defRPr sz="1000" b="0" i="0">
                <a:solidFill>
                  <a:srgbClr val="4A4A4A"/>
                </a:solidFill>
                <a:latin typeface="Calibri"/>
              </a:defRPr>
            </a:pPr>
            <a:r>
              <a:t>Certification in decision making using data, machine learning applications in business, and AI strategy for enterprise.</a:t>
            </a:r>
          </a:p>
        </p:txBody>
      </p:sp>
      <p:sp>
        <p:nvSpPr>
          <p:cNvPr id="52" name="Rectangle 51"/>
          <p:cNvSpPr/>
          <p:nvPr/>
        </p:nvSpPr>
        <p:spPr>
          <a:xfrm>
            <a:off x="731520" y="333756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3474720"/>
            <a:ext cx="1280160" cy="274320"/>
          </a:xfrm>
          <a:prstGeom prst="rect">
            <a:avLst/>
          </a:prstGeom>
          <a:noFill/>
        </p:spPr>
        <p:txBody>
          <a:bodyPr wrap="square"/>
          <a:lstStyle/>
          <a:p>
            <a:pPr algn="l">
              <a:defRPr sz="1100" b="1" i="0">
                <a:solidFill>
                  <a:srgbClr val="CC0011"/>
                </a:solidFill>
                <a:latin typeface="Calibri"/>
              </a:defRPr>
            </a:pPr>
            <a:r>
              <a:t>2017–2019</a:t>
            </a:r>
          </a:p>
        </p:txBody>
      </p:sp>
      <p:sp>
        <p:nvSpPr>
          <p:cNvPr id="54" name="TextBox 53"/>
          <p:cNvSpPr txBox="1"/>
          <p:nvPr/>
        </p:nvSpPr>
        <p:spPr>
          <a:xfrm>
            <a:off x="2194560" y="3474720"/>
            <a:ext cx="4114800" cy="274320"/>
          </a:xfrm>
          <a:prstGeom prst="rect">
            <a:avLst/>
          </a:prstGeom>
          <a:noFill/>
        </p:spPr>
        <p:txBody>
          <a:bodyPr wrap="square"/>
          <a:lstStyle/>
          <a:p>
            <a:pPr algn="l">
              <a:defRPr sz="1200" b="1" i="0">
                <a:solidFill>
                  <a:srgbClr val="1A1A1A"/>
                </a:solidFill>
                <a:latin typeface="Calibri"/>
              </a:defRPr>
            </a:pPr>
            <a:r>
              <a:t>MSci ARTIFICIAL INTELLIGENCE &amp; ROBOTICS</a:t>
            </a:r>
          </a:p>
        </p:txBody>
      </p:sp>
      <p:sp>
        <p:nvSpPr>
          <p:cNvPr id="55" name="TextBox 54"/>
          <p:cNvSpPr txBox="1"/>
          <p:nvPr/>
        </p:nvSpPr>
        <p:spPr>
          <a:xfrm>
            <a:off x="2194560" y="3703320"/>
            <a:ext cx="4114800" cy="274320"/>
          </a:xfrm>
          <a:prstGeom prst="rect">
            <a:avLst/>
          </a:prstGeom>
          <a:noFill/>
        </p:spPr>
        <p:txBody>
          <a:bodyPr wrap="square"/>
          <a:lstStyle/>
          <a:p>
            <a:pPr algn="l">
              <a:defRPr sz="1000" b="0" i="0">
                <a:solidFill>
                  <a:srgbClr val="888580"/>
                </a:solidFill>
                <a:latin typeface="Calibri"/>
              </a:defRPr>
            </a:pPr>
            <a:r>
              <a:t>King's College London  —  United Kingdom</a:t>
            </a:r>
          </a:p>
        </p:txBody>
      </p:sp>
      <p:sp>
        <p:nvSpPr>
          <p:cNvPr id="56" name="TextBox 55"/>
          <p:cNvSpPr txBox="1"/>
          <p:nvPr/>
        </p:nvSpPr>
        <p:spPr>
          <a:xfrm>
            <a:off x="6858000" y="3474720"/>
            <a:ext cx="4846320" cy="640080"/>
          </a:xfrm>
          <a:prstGeom prst="rect">
            <a:avLst/>
          </a:prstGeom>
          <a:noFill/>
        </p:spPr>
        <p:txBody>
          <a:bodyPr wrap="square"/>
          <a:lstStyle/>
          <a:p>
            <a:pPr algn="l">
              <a:lnSpc>
                <a:spcPts val="1500"/>
              </a:lnSpc>
              <a:defRPr sz="1000" b="0" i="0">
                <a:solidFill>
                  <a:srgbClr val="4A4A4A"/>
                </a:solidFill>
                <a:latin typeface="Calibri"/>
              </a:defRPr>
            </a:pPr>
            <a:r>
              <a:t>Master's thesis: Remote Surrogate Robotics for Rescue Missions — inspired by the 2018 Tham Luang cave rescue. Presented and exhibited at Bush House. If we send in surrogate robots, human lives need not be risked.</a:t>
            </a:r>
          </a:p>
        </p:txBody>
      </p:sp>
      <p:sp>
        <p:nvSpPr>
          <p:cNvPr id="57" name="Rectangle 56"/>
          <p:cNvSpPr/>
          <p:nvPr/>
        </p:nvSpPr>
        <p:spPr>
          <a:xfrm>
            <a:off x="731520" y="429768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1520" y="4434840"/>
            <a:ext cx="1280160" cy="274320"/>
          </a:xfrm>
          <a:prstGeom prst="rect">
            <a:avLst/>
          </a:prstGeom>
          <a:noFill/>
        </p:spPr>
        <p:txBody>
          <a:bodyPr wrap="square"/>
          <a:lstStyle/>
          <a:p>
            <a:pPr algn="l">
              <a:defRPr sz="1100" b="1" i="0">
                <a:solidFill>
                  <a:srgbClr val="CC0011"/>
                </a:solidFill>
                <a:latin typeface="Calibri"/>
              </a:defRPr>
            </a:pPr>
            <a:r>
              <a:t>2014–2017</a:t>
            </a:r>
          </a:p>
        </p:txBody>
      </p:sp>
      <p:sp>
        <p:nvSpPr>
          <p:cNvPr id="59" name="TextBox 58"/>
          <p:cNvSpPr txBox="1"/>
          <p:nvPr/>
        </p:nvSpPr>
        <p:spPr>
          <a:xfrm>
            <a:off x="2194560" y="4434840"/>
            <a:ext cx="4114800" cy="274320"/>
          </a:xfrm>
          <a:prstGeom prst="rect">
            <a:avLst/>
          </a:prstGeom>
          <a:noFill/>
        </p:spPr>
        <p:txBody>
          <a:bodyPr wrap="square"/>
          <a:lstStyle/>
          <a:p>
            <a:pPr algn="l">
              <a:defRPr sz="1200" b="1" i="0">
                <a:solidFill>
                  <a:srgbClr val="1A1A1A"/>
                </a:solidFill>
                <a:latin typeface="Calibri"/>
              </a:defRPr>
            </a:pPr>
            <a:r>
              <a:t>BEng ELECTRONICS &amp; ELECTRICAL ENGINEERING</a:t>
            </a:r>
          </a:p>
        </p:txBody>
      </p:sp>
      <p:sp>
        <p:nvSpPr>
          <p:cNvPr id="60" name="TextBox 59"/>
          <p:cNvSpPr txBox="1"/>
          <p:nvPr/>
        </p:nvSpPr>
        <p:spPr>
          <a:xfrm>
            <a:off x="2194560" y="4663440"/>
            <a:ext cx="4114800" cy="274320"/>
          </a:xfrm>
          <a:prstGeom prst="rect">
            <a:avLst/>
          </a:prstGeom>
          <a:noFill/>
        </p:spPr>
        <p:txBody>
          <a:bodyPr wrap="square"/>
          <a:lstStyle/>
          <a:p>
            <a:pPr algn="l">
              <a:defRPr sz="1000" b="0" i="0">
                <a:solidFill>
                  <a:srgbClr val="888580"/>
                </a:solidFill>
                <a:latin typeface="Calibri"/>
              </a:defRPr>
            </a:pPr>
            <a:r>
              <a:t>Queen Mary, University of London  —  United Kingdom</a:t>
            </a:r>
          </a:p>
        </p:txBody>
      </p:sp>
      <p:sp>
        <p:nvSpPr>
          <p:cNvPr id="61" name="TextBox 60"/>
          <p:cNvSpPr txBox="1"/>
          <p:nvPr/>
        </p:nvSpPr>
        <p:spPr>
          <a:xfrm>
            <a:off x="6858000" y="4434840"/>
            <a:ext cx="4846320" cy="640080"/>
          </a:xfrm>
          <a:prstGeom prst="rect">
            <a:avLst/>
          </a:prstGeom>
          <a:noFill/>
        </p:spPr>
        <p:txBody>
          <a:bodyPr wrap="square"/>
          <a:lstStyle/>
          <a:p>
            <a:pPr algn="l">
              <a:lnSpc>
                <a:spcPts val="1500"/>
              </a:lnSpc>
              <a:defRPr sz="1000" b="0" i="0">
                <a:solidFill>
                  <a:srgbClr val="4A4A4A"/>
                </a:solidFill>
                <a:latin typeface="Calibri"/>
              </a:defRPr>
            </a:pPr>
            <a:r>
              <a:t>Full engineering degree with a scholarship for international science excellence. Hardware prototyping, circuit design, and embedded systems.</a:t>
            </a:r>
          </a:p>
        </p:txBody>
      </p:sp>
      <p:sp>
        <p:nvSpPr>
          <p:cNvPr id="62" name="Rectangle 61"/>
          <p:cNvSpPr/>
          <p:nvPr/>
        </p:nvSpPr>
        <p:spPr>
          <a:xfrm>
            <a:off x="731520" y="525780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 y="5394960"/>
            <a:ext cx="1280160" cy="274320"/>
          </a:xfrm>
          <a:prstGeom prst="rect">
            <a:avLst/>
          </a:prstGeom>
          <a:noFill/>
        </p:spPr>
        <p:txBody>
          <a:bodyPr wrap="square"/>
          <a:lstStyle/>
          <a:p>
            <a:pPr algn="l">
              <a:defRPr sz="1100" b="1" i="0">
                <a:solidFill>
                  <a:srgbClr val="CC0011"/>
                </a:solidFill>
                <a:latin typeface="Calibri"/>
              </a:defRPr>
            </a:pPr>
            <a:r>
              <a:t>2012</a:t>
            </a:r>
          </a:p>
        </p:txBody>
      </p:sp>
      <p:sp>
        <p:nvSpPr>
          <p:cNvPr id="64" name="TextBox 63"/>
          <p:cNvSpPr txBox="1"/>
          <p:nvPr/>
        </p:nvSpPr>
        <p:spPr>
          <a:xfrm>
            <a:off x="2194560" y="5394960"/>
            <a:ext cx="4114800" cy="274320"/>
          </a:xfrm>
          <a:prstGeom prst="rect">
            <a:avLst/>
          </a:prstGeom>
          <a:noFill/>
        </p:spPr>
        <p:txBody>
          <a:bodyPr wrap="square"/>
          <a:lstStyle/>
          <a:p>
            <a:pPr algn="l">
              <a:defRPr sz="1200" b="1" i="0">
                <a:solidFill>
                  <a:srgbClr val="1A1A1A"/>
                </a:solidFill>
                <a:latin typeface="Calibri"/>
              </a:defRPr>
            </a:pPr>
            <a:r>
              <a:t>INTERNATIONAL BACCALAUREATE DIPLOMA</a:t>
            </a:r>
          </a:p>
        </p:txBody>
      </p:sp>
      <p:sp>
        <p:nvSpPr>
          <p:cNvPr id="65" name="TextBox 64"/>
          <p:cNvSpPr txBox="1"/>
          <p:nvPr/>
        </p:nvSpPr>
        <p:spPr>
          <a:xfrm>
            <a:off x="2194560" y="5623560"/>
            <a:ext cx="4114800" cy="274320"/>
          </a:xfrm>
          <a:prstGeom prst="rect">
            <a:avLst/>
          </a:prstGeom>
          <a:noFill/>
        </p:spPr>
        <p:txBody>
          <a:bodyPr wrap="square"/>
          <a:lstStyle/>
          <a:p>
            <a:pPr algn="l">
              <a:defRPr sz="1000" b="0" i="0">
                <a:solidFill>
                  <a:srgbClr val="888580"/>
                </a:solidFill>
                <a:latin typeface="Calibri"/>
              </a:defRPr>
            </a:pPr>
            <a:r>
              <a:t>Bangkok Patana School  —  Bangkok, Thailand</a:t>
            </a:r>
          </a:p>
        </p:txBody>
      </p:sp>
      <p:sp>
        <p:nvSpPr>
          <p:cNvPr id="66" name="TextBox 65"/>
          <p:cNvSpPr txBox="1"/>
          <p:nvPr/>
        </p:nvSpPr>
        <p:spPr>
          <a:xfrm>
            <a:off x="6858000" y="5394960"/>
            <a:ext cx="4846320" cy="640080"/>
          </a:xfrm>
          <a:prstGeom prst="rect">
            <a:avLst/>
          </a:prstGeom>
          <a:noFill/>
        </p:spPr>
        <p:txBody>
          <a:bodyPr wrap="square"/>
          <a:lstStyle/>
          <a:p>
            <a:pPr algn="l">
              <a:lnSpc>
                <a:spcPts val="1500"/>
              </a:lnSpc>
              <a:defRPr sz="1000" b="0" i="0">
                <a:solidFill>
                  <a:srgbClr val="4A4A4A"/>
                </a:solidFill>
                <a:latin typeface="Calibri"/>
              </a:defRPr>
            </a:pPr>
            <a:r>
              <a:t>International education with early exposure to technology and engineering. Selected as a TechEx student speaker at age 18 — presenting an AR virtual classroom concept born from the 2011 Bangkok floods.</a:t>
            </a:r>
          </a:p>
        </p:txBody>
      </p:sp>
      <p:sp>
        <p:nvSpPr>
          <p:cNvPr id="67" name="Rectangle 66"/>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0" name="TextBox 69"/>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04  —  CAREER</a:t>
            </a:r>
          </a:p>
        </p:txBody>
      </p:sp>
      <p:sp>
        <p:nvSpPr>
          <p:cNvPr id="41" name="Rectangle 40"/>
          <p:cNvSpPr/>
          <p:nvPr/>
        </p:nvSpPr>
        <p:spPr>
          <a:xfrm>
            <a:off x="731520" y="685800"/>
            <a:ext cx="772668"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Work Experience</a:t>
            </a:r>
          </a:p>
        </p:txBody>
      </p:sp>
      <p:sp>
        <p:nvSpPr>
          <p:cNvPr id="43" name="Rectangle 42"/>
          <p:cNvSpPr/>
          <p:nvPr/>
        </p:nvSpPr>
        <p:spPr>
          <a:xfrm>
            <a:off x="640080" y="1554480"/>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1536192"/>
            <a:ext cx="4572000" cy="274320"/>
          </a:xfrm>
          <a:prstGeom prst="rect">
            <a:avLst/>
          </a:prstGeom>
          <a:noFill/>
        </p:spPr>
        <p:txBody>
          <a:bodyPr wrap="square"/>
          <a:lstStyle/>
          <a:p>
            <a:pPr algn="l">
              <a:defRPr sz="1400" b="1" i="0">
                <a:solidFill>
                  <a:srgbClr val="1A1A1A"/>
                </a:solidFill>
                <a:latin typeface="Calibri"/>
              </a:defRPr>
            </a:pPr>
            <a:r>
              <a:t>Operation Manager</a:t>
            </a:r>
          </a:p>
        </p:txBody>
      </p:sp>
      <p:sp>
        <p:nvSpPr>
          <p:cNvPr id="45" name="TextBox 44"/>
          <p:cNvSpPr txBox="1"/>
          <p:nvPr/>
        </p:nvSpPr>
        <p:spPr>
          <a:xfrm>
            <a:off x="914400" y="1783080"/>
            <a:ext cx="4572000" cy="228600"/>
          </a:xfrm>
          <a:prstGeom prst="rect">
            <a:avLst/>
          </a:prstGeom>
          <a:noFill/>
        </p:spPr>
        <p:txBody>
          <a:bodyPr wrap="square"/>
          <a:lstStyle/>
          <a:p>
            <a:pPr algn="l">
              <a:defRPr sz="1000" b="0" i="0">
                <a:solidFill>
                  <a:srgbClr val="CC0011"/>
                </a:solidFill>
                <a:latin typeface="Calibri"/>
              </a:defRPr>
            </a:pPr>
            <a:r>
              <a:t>DBN Fertility — Bangkok (2025)</a:t>
            </a:r>
          </a:p>
        </p:txBody>
      </p:sp>
      <p:sp>
        <p:nvSpPr>
          <p:cNvPr id="46" name="TextBox 45"/>
          <p:cNvSpPr txBox="1"/>
          <p:nvPr/>
        </p:nvSpPr>
        <p:spPr>
          <a:xfrm>
            <a:off x="5943600" y="1554480"/>
            <a:ext cx="5760720" cy="640080"/>
          </a:xfrm>
          <a:prstGeom prst="rect">
            <a:avLst/>
          </a:prstGeom>
          <a:noFill/>
        </p:spPr>
        <p:txBody>
          <a:bodyPr wrap="square"/>
          <a:lstStyle/>
          <a:p>
            <a:pPr algn="l">
              <a:lnSpc>
                <a:spcPts val="1500"/>
              </a:lnSpc>
              <a:defRPr sz="1000" b="0" i="0">
                <a:solidFill>
                  <a:srgbClr val="4A4A4A"/>
                </a:solidFill>
                <a:latin typeface="Calibri"/>
              </a:defRPr>
            </a:pPr>
            <a:r>
              <a:t>Operations management for family-owned fertility clinic. Overseeing business operations, process optimisation, and technology integration.</a:t>
            </a:r>
          </a:p>
        </p:txBody>
      </p:sp>
      <p:sp>
        <p:nvSpPr>
          <p:cNvPr id="47" name="Rectangle 46"/>
          <p:cNvSpPr/>
          <p:nvPr/>
        </p:nvSpPr>
        <p:spPr>
          <a:xfrm>
            <a:off x="731520" y="226771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0080" y="2359152"/>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340864"/>
            <a:ext cx="4572000" cy="274320"/>
          </a:xfrm>
          <a:prstGeom prst="rect">
            <a:avLst/>
          </a:prstGeom>
          <a:noFill/>
        </p:spPr>
        <p:txBody>
          <a:bodyPr wrap="square"/>
          <a:lstStyle/>
          <a:p>
            <a:pPr algn="l">
              <a:defRPr sz="1400" b="1" i="0">
                <a:solidFill>
                  <a:srgbClr val="1A1A1A"/>
                </a:solidFill>
                <a:latin typeface="Calibri"/>
              </a:defRPr>
            </a:pPr>
            <a:r>
              <a:t>Founder &amp; Developer</a:t>
            </a:r>
          </a:p>
        </p:txBody>
      </p:sp>
      <p:sp>
        <p:nvSpPr>
          <p:cNvPr id="50" name="TextBox 49"/>
          <p:cNvSpPr txBox="1"/>
          <p:nvPr/>
        </p:nvSpPr>
        <p:spPr>
          <a:xfrm>
            <a:off x="914400" y="2587752"/>
            <a:ext cx="4572000" cy="228600"/>
          </a:xfrm>
          <a:prstGeom prst="rect">
            <a:avLst/>
          </a:prstGeom>
          <a:noFill/>
        </p:spPr>
        <p:txBody>
          <a:bodyPr wrap="square"/>
          <a:lstStyle/>
          <a:p>
            <a:pPr algn="l">
              <a:defRPr sz="1000" b="0" i="0">
                <a:solidFill>
                  <a:srgbClr val="CC0011"/>
                </a:solidFill>
                <a:latin typeface="Calibri"/>
              </a:defRPr>
            </a:pPr>
            <a:r>
              <a:t>Social Climbers / Nexus App — Bangkok (2024–Present)</a:t>
            </a:r>
          </a:p>
        </p:txBody>
      </p:sp>
      <p:sp>
        <p:nvSpPr>
          <p:cNvPr id="51" name="TextBox 50"/>
          <p:cNvSpPr txBox="1"/>
          <p:nvPr/>
        </p:nvSpPr>
        <p:spPr>
          <a:xfrm>
            <a:off x="5943600" y="2359152"/>
            <a:ext cx="5760720" cy="640080"/>
          </a:xfrm>
          <a:prstGeom prst="rect">
            <a:avLst/>
          </a:prstGeom>
          <a:noFill/>
        </p:spPr>
        <p:txBody>
          <a:bodyPr wrap="square"/>
          <a:lstStyle/>
          <a:p>
            <a:pPr algn="l">
              <a:lnSpc>
                <a:spcPts val="1500"/>
              </a:lnSpc>
              <a:defRPr sz="1000" b="0" i="0">
                <a:solidFill>
                  <a:srgbClr val="4A4A4A"/>
                </a:solidFill>
                <a:latin typeface="Calibri"/>
              </a:defRPr>
            </a:pPr>
            <a:r>
              <a:t>Built a climbing competition platform with team scoring, leaderboards, and event management. Powering Bangkok Boulder Fest.</a:t>
            </a:r>
          </a:p>
        </p:txBody>
      </p:sp>
      <p:sp>
        <p:nvSpPr>
          <p:cNvPr id="52" name="Rectangle 51"/>
          <p:cNvSpPr/>
          <p:nvPr/>
        </p:nvSpPr>
        <p:spPr>
          <a:xfrm>
            <a:off x="731520" y="3072384"/>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080" y="3163824"/>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4400" y="3145536"/>
            <a:ext cx="4572000" cy="274320"/>
          </a:xfrm>
          <a:prstGeom prst="rect">
            <a:avLst/>
          </a:prstGeom>
          <a:noFill/>
        </p:spPr>
        <p:txBody>
          <a:bodyPr wrap="square"/>
          <a:lstStyle/>
          <a:p>
            <a:pPr algn="l">
              <a:defRPr sz="1400" b="1" i="0">
                <a:solidFill>
                  <a:srgbClr val="1A1A1A"/>
                </a:solidFill>
                <a:latin typeface="Calibri"/>
              </a:defRPr>
            </a:pPr>
            <a:r>
              <a:t>Founder</a:t>
            </a:r>
          </a:p>
        </p:txBody>
      </p:sp>
      <p:sp>
        <p:nvSpPr>
          <p:cNvPr id="55" name="TextBox 54"/>
          <p:cNvSpPr txBox="1"/>
          <p:nvPr/>
        </p:nvSpPr>
        <p:spPr>
          <a:xfrm>
            <a:off x="914400" y="3392424"/>
            <a:ext cx="4572000" cy="228600"/>
          </a:xfrm>
          <a:prstGeom prst="rect">
            <a:avLst/>
          </a:prstGeom>
          <a:noFill/>
        </p:spPr>
        <p:txBody>
          <a:bodyPr wrap="square"/>
          <a:lstStyle/>
          <a:p>
            <a:pPr algn="l">
              <a:defRPr sz="1000" b="0" i="0">
                <a:solidFill>
                  <a:srgbClr val="CC0011"/>
                </a:solidFill>
                <a:latin typeface="Calibri"/>
              </a:defRPr>
            </a:pPr>
            <a:r>
              <a:t>Augma Imaginarium (XR Developer Studio) — Bangkok (2023–Present)</a:t>
            </a:r>
          </a:p>
        </p:txBody>
      </p:sp>
      <p:sp>
        <p:nvSpPr>
          <p:cNvPr id="56" name="TextBox 55"/>
          <p:cNvSpPr txBox="1"/>
          <p:nvPr/>
        </p:nvSpPr>
        <p:spPr>
          <a:xfrm>
            <a:off x="5943600" y="3163824"/>
            <a:ext cx="5760720" cy="640080"/>
          </a:xfrm>
          <a:prstGeom prst="rect">
            <a:avLst/>
          </a:prstGeom>
          <a:noFill/>
        </p:spPr>
        <p:txBody>
          <a:bodyPr wrap="square"/>
          <a:lstStyle/>
          <a:p>
            <a:pPr algn="l">
              <a:lnSpc>
                <a:spcPts val="1500"/>
              </a:lnSpc>
              <a:defRPr sz="1000" b="0" i="0">
                <a:solidFill>
                  <a:srgbClr val="4A4A4A"/>
                </a:solidFill>
                <a:latin typeface="Calibri"/>
              </a:defRPr>
            </a:pPr>
            <a:r>
              <a:t>Founded XR studio specialising in AR, VR, spatial computing, and gamification experiences for brands, tourism, retail, and enterprise.</a:t>
            </a:r>
          </a:p>
        </p:txBody>
      </p:sp>
      <p:sp>
        <p:nvSpPr>
          <p:cNvPr id="57" name="Rectangle 56"/>
          <p:cNvSpPr/>
          <p:nvPr/>
        </p:nvSpPr>
        <p:spPr>
          <a:xfrm>
            <a:off x="731520" y="3877056"/>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40080" y="3968496"/>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4400" y="3950208"/>
            <a:ext cx="4572000" cy="274320"/>
          </a:xfrm>
          <a:prstGeom prst="rect">
            <a:avLst/>
          </a:prstGeom>
          <a:noFill/>
        </p:spPr>
        <p:txBody>
          <a:bodyPr wrap="square"/>
          <a:lstStyle/>
          <a:p>
            <a:pPr algn="l">
              <a:defRPr sz="1400" b="1" i="0">
                <a:solidFill>
                  <a:srgbClr val="1A1A1A"/>
                </a:solidFill>
                <a:latin typeface="Calibri"/>
              </a:defRPr>
            </a:pPr>
            <a:r>
              <a:t>Director</a:t>
            </a:r>
          </a:p>
        </p:txBody>
      </p:sp>
      <p:sp>
        <p:nvSpPr>
          <p:cNvPr id="60" name="TextBox 59"/>
          <p:cNvSpPr txBox="1"/>
          <p:nvPr/>
        </p:nvSpPr>
        <p:spPr>
          <a:xfrm>
            <a:off x="914400" y="4197096"/>
            <a:ext cx="4572000" cy="228600"/>
          </a:xfrm>
          <a:prstGeom prst="rect">
            <a:avLst/>
          </a:prstGeom>
          <a:noFill/>
        </p:spPr>
        <p:txBody>
          <a:bodyPr wrap="square"/>
          <a:lstStyle/>
          <a:p>
            <a:pPr algn="l">
              <a:defRPr sz="1000" b="0" i="0">
                <a:solidFill>
                  <a:srgbClr val="CC0011"/>
                </a:solidFill>
                <a:latin typeface="Calibri"/>
              </a:defRPr>
            </a:pPr>
            <a:r>
              <a:t>BaanARVR — Bangkok (2023–2024)</a:t>
            </a:r>
          </a:p>
        </p:txBody>
      </p:sp>
      <p:sp>
        <p:nvSpPr>
          <p:cNvPr id="61" name="TextBox 60"/>
          <p:cNvSpPr txBox="1"/>
          <p:nvPr/>
        </p:nvSpPr>
        <p:spPr>
          <a:xfrm>
            <a:off x="5943600" y="3968496"/>
            <a:ext cx="5760720" cy="640080"/>
          </a:xfrm>
          <a:prstGeom prst="rect">
            <a:avLst/>
          </a:prstGeom>
          <a:noFill/>
        </p:spPr>
        <p:txBody>
          <a:bodyPr wrap="square"/>
          <a:lstStyle/>
          <a:p>
            <a:pPr algn="l">
              <a:lnSpc>
                <a:spcPts val="1500"/>
              </a:lnSpc>
              <a:defRPr sz="1000" b="0" i="0">
                <a:solidFill>
                  <a:srgbClr val="4A4A4A"/>
                </a:solidFill>
                <a:latin typeface="Calibri"/>
              </a:defRPr>
            </a:pPr>
            <a:r>
              <a:t>Led XR education initiative bringing VR/AR workshops to rural Thai communities and schools. Open house events and education fairs.</a:t>
            </a:r>
          </a:p>
        </p:txBody>
      </p:sp>
      <p:sp>
        <p:nvSpPr>
          <p:cNvPr id="62" name="Rectangle 61"/>
          <p:cNvSpPr/>
          <p:nvPr/>
        </p:nvSpPr>
        <p:spPr>
          <a:xfrm>
            <a:off x="731520" y="4681728"/>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0080" y="4773168"/>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14400" y="4754880"/>
            <a:ext cx="4572000" cy="274320"/>
          </a:xfrm>
          <a:prstGeom prst="rect">
            <a:avLst/>
          </a:prstGeom>
          <a:noFill/>
        </p:spPr>
        <p:txBody>
          <a:bodyPr wrap="square"/>
          <a:lstStyle/>
          <a:p>
            <a:pPr algn="l">
              <a:defRPr sz="1400" b="1" i="0">
                <a:solidFill>
                  <a:srgbClr val="1A1A1A"/>
                </a:solidFill>
                <a:latin typeface="Calibri"/>
              </a:defRPr>
            </a:pPr>
            <a:r>
              <a:t>CTO &amp; Executive</a:t>
            </a:r>
          </a:p>
        </p:txBody>
      </p:sp>
      <p:sp>
        <p:nvSpPr>
          <p:cNvPr id="65" name="TextBox 64"/>
          <p:cNvSpPr txBox="1"/>
          <p:nvPr/>
        </p:nvSpPr>
        <p:spPr>
          <a:xfrm>
            <a:off x="914400" y="5001768"/>
            <a:ext cx="4572000" cy="228600"/>
          </a:xfrm>
          <a:prstGeom prst="rect">
            <a:avLst/>
          </a:prstGeom>
          <a:noFill/>
        </p:spPr>
        <p:txBody>
          <a:bodyPr wrap="square"/>
          <a:lstStyle/>
          <a:p>
            <a:pPr algn="l">
              <a:defRPr sz="1000" b="0" i="0">
                <a:solidFill>
                  <a:srgbClr val="CC0011"/>
                </a:solidFill>
                <a:latin typeface="Calibri"/>
              </a:defRPr>
            </a:pPr>
            <a:r>
              <a:t>KUN Inter Group — Bangkok (2022–2024)</a:t>
            </a:r>
          </a:p>
        </p:txBody>
      </p:sp>
      <p:sp>
        <p:nvSpPr>
          <p:cNvPr id="66" name="TextBox 65"/>
          <p:cNvSpPr txBox="1"/>
          <p:nvPr/>
        </p:nvSpPr>
        <p:spPr>
          <a:xfrm>
            <a:off x="5943600" y="4773168"/>
            <a:ext cx="5760720" cy="640080"/>
          </a:xfrm>
          <a:prstGeom prst="rect">
            <a:avLst/>
          </a:prstGeom>
          <a:noFill/>
        </p:spPr>
        <p:txBody>
          <a:bodyPr wrap="square"/>
          <a:lstStyle/>
          <a:p>
            <a:pPr algn="l">
              <a:lnSpc>
                <a:spcPts val="1500"/>
              </a:lnSpc>
              <a:defRPr sz="1000" b="0" i="0">
                <a:solidFill>
                  <a:srgbClr val="4A4A4A"/>
                </a:solidFill>
                <a:latin typeface="Calibri"/>
              </a:defRPr>
            </a:pPr>
            <a:r>
              <a:t>Oversaw technology strategy for creative digital marketing company. Built web platforms for content marketing and live streaming services.</a:t>
            </a:r>
          </a:p>
        </p:txBody>
      </p:sp>
      <p:sp>
        <p:nvSpPr>
          <p:cNvPr id="67" name="Rectangle 66"/>
          <p:cNvSpPr/>
          <p:nvPr/>
        </p:nvSpPr>
        <p:spPr>
          <a:xfrm>
            <a:off x="731520" y="548640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40080" y="5577840"/>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4400" y="5559552"/>
            <a:ext cx="4572000" cy="274320"/>
          </a:xfrm>
          <a:prstGeom prst="rect">
            <a:avLst/>
          </a:prstGeom>
          <a:noFill/>
        </p:spPr>
        <p:txBody>
          <a:bodyPr wrap="square"/>
          <a:lstStyle/>
          <a:p>
            <a:pPr algn="l">
              <a:defRPr sz="1400" b="1" i="0">
                <a:solidFill>
                  <a:srgbClr val="1A1A1A"/>
                </a:solidFill>
                <a:latin typeface="Calibri"/>
              </a:defRPr>
            </a:pPr>
            <a:r>
              <a:t>Project Director</a:t>
            </a:r>
          </a:p>
        </p:txBody>
      </p:sp>
      <p:sp>
        <p:nvSpPr>
          <p:cNvPr id="70" name="TextBox 69"/>
          <p:cNvSpPr txBox="1"/>
          <p:nvPr/>
        </p:nvSpPr>
        <p:spPr>
          <a:xfrm>
            <a:off x="914400" y="5806440"/>
            <a:ext cx="4572000" cy="228600"/>
          </a:xfrm>
          <a:prstGeom prst="rect">
            <a:avLst/>
          </a:prstGeom>
          <a:noFill/>
        </p:spPr>
        <p:txBody>
          <a:bodyPr wrap="square"/>
          <a:lstStyle/>
          <a:p>
            <a:pPr algn="l">
              <a:defRPr sz="1000" b="0" i="0">
                <a:solidFill>
                  <a:srgbClr val="CC0011"/>
                </a:solidFill>
                <a:latin typeface="Calibri"/>
              </a:defRPr>
            </a:pPr>
            <a:r>
              <a:t>THG Thonburi Health Group — Bangkok (2021)</a:t>
            </a:r>
          </a:p>
        </p:txBody>
      </p:sp>
      <p:sp>
        <p:nvSpPr>
          <p:cNvPr id="71" name="TextBox 70"/>
          <p:cNvSpPr txBox="1"/>
          <p:nvPr/>
        </p:nvSpPr>
        <p:spPr>
          <a:xfrm>
            <a:off x="5943600" y="5577840"/>
            <a:ext cx="5760720" cy="640080"/>
          </a:xfrm>
          <a:prstGeom prst="rect">
            <a:avLst/>
          </a:prstGeom>
          <a:noFill/>
        </p:spPr>
        <p:txBody>
          <a:bodyPr wrap="square"/>
          <a:lstStyle/>
          <a:p>
            <a:pPr algn="l">
              <a:lnSpc>
                <a:spcPts val="1500"/>
              </a:lnSpc>
              <a:defRPr sz="1000" b="0" i="0">
                <a:solidFill>
                  <a:srgbClr val="4A4A4A"/>
                </a:solidFill>
                <a:latin typeface="Calibri"/>
              </a:defRPr>
            </a:pPr>
            <a:r>
              <a:t>Led the medical utility token project — a blockchain-based healthcare payment and loyalty platform. Panelist at Bangkok Post Crypto Forum.</a:t>
            </a:r>
          </a:p>
        </p:txBody>
      </p:sp>
      <p:sp>
        <p:nvSpPr>
          <p:cNvPr id="72" name="Rectangle 71"/>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5" name="TextBox 74"/>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04  —  CAREER — CONTINUED</a:t>
            </a:r>
          </a:p>
        </p:txBody>
      </p:sp>
      <p:sp>
        <p:nvSpPr>
          <p:cNvPr id="41" name="Rectangle 40"/>
          <p:cNvSpPr/>
          <p:nvPr/>
        </p:nvSpPr>
        <p:spPr>
          <a:xfrm>
            <a:off x="731520" y="685800"/>
            <a:ext cx="148590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Work Experience</a:t>
            </a:r>
          </a:p>
        </p:txBody>
      </p:sp>
      <p:sp>
        <p:nvSpPr>
          <p:cNvPr id="43" name="TextBox 42"/>
          <p:cNvSpPr txBox="1"/>
          <p:nvPr/>
        </p:nvSpPr>
        <p:spPr>
          <a:xfrm>
            <a:off x="5029200" y="1005840"/>
            <a:ext cx="3657600" cy="365760"/>
          </a:xfrm>
          <a:prstGeom prst="rect">
            <a:avLst/>
          </a:prstGeom>
          <a:noFill/>
        </p:spPr>
        <p:txBody>
          <a:bodyPr wrap="square"/>
          <a:lstStyle/>
          <a:p>
            <a:pPr algn="l">
              <a:defRPr sz="1800" b="0" i="1">
                <a:solidFill>
                  <a:srgbClr val="888580"/>
                </a:solidFill>
                <a:latin typeface="Calibri"/>
              </a:defRPr>
            </a:pPr>
            <a:r>
              <a:t>(continued)</a:t>
            </a:r>
          </a:p>
        </p:txBody>
      </p:sp>
      <p:sp>
        <p:nvSpPr>
          <p:cNvPr id="44" name="Rectangle 43"/>
          <p:cNvSpPr/>
          <p:nvPr/>
        </p:nvSpPr>
        <p:spPr>
          <a:xfrm>
            <a:off x="640080" y="1737360"/>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1719072"/>
            <a:ext cx="4572000" cy="274320"/>
          </a:xfrm>
          <a:prstGeom prst="rect">
            <a:avLst/>
          </a:prstGeom>
          <a:noFill/>
        </p:spPr>
        <p:txBody>
          <a:bodyPr wrap="square"/>
          <a:lstStyle/>
          <a:p>
            <a:pPr algn="l">
              <a:defRPr sz="1400" b="1" i="0">
                <a:solidFill>
                  <a:srgbClr val="1A1A1A"/>
                </a:solidFill>
                <a:latin typeface="Calibri"/>
              </a:defRPr>
            </a:pPr>
            <a:r>
              <a:t>Co-Founder &amp; CTO</a:t>
            </a:r>
          </a:p>
        </p:txBody>
      </p:sp>
      <p:sp>
        <p:nvSpPr>
          <p:cNvPr id="46" name="TextBox 45"/>
          <p:cNvSpPr txBox="1"/>
          <p:nvPr/>
        </p:nvSpPr>
        <p:spPr>
          <a:xfrm>
            <a:off x="914400" y="1965960"/>
            <a:ext cx="4572000" cy="228600"/>
          </a:xfrm>
          <a:prstGeom prst="rect">
            <a:avLst/>
          </a:prstGeom>
          <a:noFill/>
        </p:spPr>
        <p:txBody>
          <a:bodyPr wrap="square"/>
          <a:lstStyle/>
          <a:p>
            <a:pPr algn="l">
              <a:defRPr sz="1000" b="0" i="0">
                <a:solidFill>
                  <a:srgbClr val="CC0011"/>
                </a:solidFill>
                <a:latin typeface="Calibri"/>
              </a:defRPr>
            </a:pPr>
            <a:r>
              <a:t>Omniactive Ltd — Bangkok (2020–2021)</a:t>
            </a:r>
          </a:p>
        </p:txBody>
      </p:sp>
      <p:sp>
        <p:nvSpPr>
          <p:cNvPr id="47" name="TextBox 46"/>
          <p:cNvSpPr txBox="1"/>
          <p:nvPr/>
        </p:nvSpPr>
        <p:spPr>
          <a:xfrm>
            <a:off x="5943600" y="1737360"/>
            <a:ext cx="5760720" cy="640080"/>
          </a:xfrm>
          <a:prstGeom prst="rect">
            <a:avLst/>
          </a:prstGeom>
          <a:noFill/>
        </p:spPr>
        <p:txBody>
          <a:bodyPr wrap="square"/>
          <a:lstStyle/>
          <a:p>
            <a:pPr algn="l">
              <a:lnSpc>
                <a:spcPts val="1500"/>
              </a:lnSpc>
              <a:defRPr sz="1000" b="0" i="0">
                <a:solidFill>
                  <a:srgbClr val="4A4A4A"/>
                </a:solidFill>
                <a:latin typeface="Calibri"/>
              </a:defRPr>
            </a:pPr>
            <a:r>
              <a:t>Start-up building an AI-powered sports coaching marketplace with cross-platform mobile app using Flutter and Firebase.</a:t>
            </a:r>
          </a:p>
        </p:txBody>
      </p:sp>
      <p:sp>
        <p:nvSpPr>
          <p:cNvPr id="48" name="Rectangle 47"/>
          <p:cNvSpPr/>
          <p:nvPr/>
        </p:nvSpPr>
        <p:spPr>
          <a:xfrm>
            <a:off x="731520" y="254203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 y="2651760"/>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2633472"/>
            <a:ext cx="4572000" cy="274320"/>
          </a:xfrm>
          <a:prstGeom prst="rect">
            <a:avLst/>
          </a:prstGeom>
          <a:noFill/>
        </p:spPr>
        <p:txBody>
          <a:bodyPr wrap="square"/>
          <a:lstStyle/>
          <a:p>
            <a:pPr algn="l">
              <a:defRPr sz="1400" b="1" i="0">
                <a:solidFill>
                  <a:srgbClr val="1A1A1A"/>
                </a:solidFill>
                <a:latin typeface="Calibri"/>
              </a:defRPr>
            </a:pPr>
            <a:r>
              <a:t>Private Tech Consulting</a:t>
            </a:r>
          </a:p>
        </p:txBody>
      </p:sp>
      <p:sp>
        <p:nvSpPr>
          <p:cNvPr id="51" name="TextBox 50"/>
          <p:cNvSpPr txBox="1"/>
          <p:nvPr/>
        </p:nvSpPr>
        <p:spPr>
          <a:xfrm>
            <a:off x="914400" y="2880360"/>
            <a:ext cx="4572000" cy="228600"/>
          </a:xfrm>
          <a:prstGeom prst="rect">
            <a:avLst/>
          </a:prstGeom>
          <a:noFill/>
        </p:spPr>
        <p:txBody>
          <a:bodyPr wrap="square"/>
          <a:lstStyle/>
          <a:p>
            <a:pPr algn="l">
              <a:defRPr sz="1000" b="0" i="0">
                <a:solidFill>
                  <a:srgbClr val="CC0011"/>
                </a:solidFill>
                <a:latin typeface="Calibri"/>
              </a:defRPr>
            </a:pPr>
            <a:r>
              <a:t>Singapore / London / Bangkok (2018–2021)</a:t>
            </a:r>
          </a:p>
        </p:txBody>
      </p:sp>
      <p:sp>
        <p:nvSpPr>
          <p:cNvPr id="52" name="TextBox 51"/>
          <p:cNvSpPr txBox="1"/>
          <p:nvPr/>
        </p:nvSpPr>
        <p:spPr>
          <a:xfrm>
            <a:off x="5943600" y="2651760"/>
            <a:ext cx="5760720" cy="640080"/>
          </a:xfrm>
          <a:prstGeom prst="rect">
            <a:avLst/>
          </a:prstGeom>
          <a:noFill/>
        </p:spPr>
        <p:txBody>
          <a:bodyPr wrap="square"/>
          <a:lstStyle/>
          <a:p>
            <a:pPr algn="l">
              <a:lnSpc>
                <a:spcPts val="1500"/>
              </a:lnSpc>
              <a:defRPr sz="1000" b="0" i="0">
                <a:solidFill>
                  <a:srgbClr val="4A4A4A"/>
                </a:solidFill>
                <a:latin typeface="Calibri"/>
              </a:defRPr>
            </a:pPr>
            <a:r>
              <a:t>Rapid prototyping consulting for multiple clients across Southeast Asia and the UK, specialising in emerging technology integration.</a:t>
            </a:r>
          </a:p>
        </p:txBody>
      </p:sp>
      <p:sp>
        <p:nvSpPr>
          <p:cNvPr id="53" name="Rectangle 52"/>
          <p:cNvSpPr/>
          <p:nvPr/>
        </p:nvSpPr>
        <p:spPr>
          <a:xfrm>
            <a:off x="731520" y="345643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0080" y="3566160"/>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 y="3547872"/>
            <a:ext cx="4572000" cy="274320"/>
          </a:xfrm>
          <a:prstGeom prst="rect">
            <a:avLst/>
          </a:prstGeom>
          <a:noFill/>
        </p:spPr>
        <p:txBody>
          <a:bodyPr wrap="square"/>
          <a:lstStyle/>
          <a:p>
            <a:pPr algn="l">
              <a:defRPr sz="1400" b="1" i="0">
                <a:solidFill>
                  <a:srgbClr val="1A1A1A"/>
                </a:solidFill>
                <a:latin typeface="Calibri"/>
              </a:defRPr>
            </a:pPr>
            <a:r>
              <a:t>Contracted Developer</a:t>
            </a:r>
          </a:p>
        </p:txBody>
      </p:sp>
      <p:sp>
        <p:nvSpPr>
          <p:cNvPr id="56" name="TextBox 55"/>
          <p:cNvSpPr txBox="1"/>
          <p:nvPr/>
        </p:nvSpPr>
        <p:spPr>
          <a:xfrm>
            <a:off x="914400" y="3794760"/>
            <a:ext cx="4572000" cy="228600"/>
          </a:xfrm>
          <a:prstGeom prst="rect">
            <a:avLst/>
          </a:prstGeom>
          <a:noFill/>
        </p:spPr>
        <p:txBody>
          <a:bodyPr wrap="square"/>
          <a:lstStyle/>
          <a:p>
            <a:pPr algn="l">
              <a:defRPr sz="1000" b="0" i="0">
                <a:solidFill>
                  <a:srgbClr val="CC0011"/>
                </a:solidFill>
                <a:latin typeface="Calibri"/>
              </a:defRPr>
            </a:pPr>
            <a:r>
              <a:t>McKinsey &amp; Company — London (2017)</a:t>
            </a:r>
          </a:p>
        </p:txBody>
      </p:sp>
      <p:sp>
        <p:nvSpPr>
          <p:cNvPr id="57" name="TextBox 56"/>
          <p:cNvSpPr txBox="1"/>
          <p:nvPr/>
        </p:nvSpPr>
        <p:spPr>
          <a:xfrm>
            <a:off x="5943600" y="3566160"/>
            <a:ext cx="5760720" cy="640080"/>
          </a:xfrm>
          <a:prstGeom prst="rect">
            <a:avLst/>
          </a:prstGeom>
          <a:noFill/>
        </p:spPr>
        <p:txBody>
          <a:bodyPr wrap="square"/>
          <a:lstStyle/>
          <a:p>
            <a:pPr algn="l">
              <a:lnSpc>
                <a:spcPts val="1500"/>
              </a:lnSpc>
              <a:defRPr sz="1000" b="0" i="0">
                <a:solidFill>
                  <a:srgbClr val="4A4A4A"/>
                </a:solidFill>
                <a:latin typeface="Calibri"/>
              </a:defRPr>
            </a:pPr>
            <a:r>
              <a:t>Delivered technology solutions for one of the world's top management consulting firms.</a:t>
            </a:r>
          </a:p>
        </p:txBody>
      </p:sp>
      <p:sp>
        <p:nvSpPr>
          <p:cNvPr id="58" name="Rectangle 57"/>
          <p:cNvSpPr/>
          <p:nvPr/>
        </p:nvSpPr>
        <p:spPr>
          <a:xfrm>
            <a:off x="731520" y="437083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40080" y="4480560"/>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4400" y="4462272"/>
            <a:ext cx="4572000" cy="274320"/>
          </a:xfrm>
          <a:prstGeom prst="rect">
            <a:avLst/>
          </a:prstGeom>
          <a:noFill/>
        </p:spPr>
        <p:txBody>
          <a:bodyPr wrap="square"/>
          <a:lstStyle/>
          <a:p>
            <a:pPr algn="l">
              <a:defRPr sz="1400" b="1" i="0">
                <a:solidFill>
                  <a:srgbClr val="1A1A1A"/>
                </a:solidFill>
                <a:latin typeface="Calibri"/>
              </a:defRPr>
            </a:pPr>
            <a:r>
              <a:t>CTO</a:t>
            </a:r>
          </a:p>
        </p:txBody>
      </p:sp>
      <p:sp>
        <p:nvSpPr>
          <p:cNvPr id="61" name="TextBox 60"/>
          <p:cNvSpPr txBox="1"/>
          <p:nvPr/>
        </p:nvSpPr>
        <p:spPr>
          <a:xfrm>
            <a:off x="914400" y="4709160"/>
            <a:ext cx="4572000" cy="228600"/>
          </a:xfrm>
          <a:prstGeom prst="rect">
            <a:avLst/>
          </a:prstGeom>
          <a:noFill/>
        </p:spPr>
        <p:txBody>
          <a:bodyPr wrap="square"/>
          <a:lstStyle/>
          <a:p>
            <a:pPr algn="l">
              <a:defRPr sz="1000" b="0" i="0">
                <a:solidFill>
                  <a:srgbClr val="CC0011"/>
                </a:solidFill>
                <a:latin typeface="Calibri"/>
              </a:defRPr>
            </a:pPr>
            <a:r>
              <a:t>Sammaggi Samagom 116 — London (2016–2017)</a:t>
            </a:r>
          </a:p>
        </p:txBody>
      </p:sp>
      <p:sp>
        <p:nvSpPr>
          <p:cNvPr id="62" name="TextBox 61"/>
          <p:cNvSpPr txBox="1"/>
          <p:nvPr/>
        </p:nvSpPr>
        <p:spPr>
          <a:xfrm>
            <a:off x="5943600" y="4480560"/>
            <a:ext cx="5760720" cy="640080"/>
          </a:xfrm>
          <a:prstGeom prst="rect">
            <a:avLst/>
          </a:prstGeom>
          <a:noFill/>
        </p:spPr>
        <p:txBody>
          <a:bodyPr wrap="square"/>
          <a:lstStyle/>
          <a:p>
            <a:pPr algn="l">
              <a:lnSpc>
                <a:spcPts val="1500"/>
              </a:lnSpc>
              <a:defRPr sz="1000" b="0" i="0">
                <a:solidFill>
                  <a:srgbClr val="4A4A4A"/>
                </a:solidFill>
                <a:latin typeface="Calibri"/>
              </a:defRPr>
            </a:pPr>
            <a:r>
              <a:t>Led technology for Thailand's student organisation in the UK. Built digital platform for events, registration, and community engagement.</a:t>
            </a:r>
          </a:p>
        </p:txBody>
      </p:sp>
      <p:sp>
        <p:nvSpPr>
          <p:cNvPr id="63" name="Rectangle 62"/>
          <p:cNvSpPr/>
          <p:nvPr/>
        </p:nvSpPr>
        <p:spPr>
          <a:xfrm>
            <a:off x="731520" y="528523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40080" y="5394960"/>
            <a:ext cx="36576"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5376672"/>
            <a:ext cx="4572000" cy="274320"/>
          </a:xfrm>
          <a:prstGeom prst="rect">
            <a:avLst/>
          </a:prstGeom>
          <a:noFill/>
        </p:spPr>
        <p:txBody>
          <a:bodyPr wrap="square"/>
          <a:lstStyle/>
          <a:p>
            <a:pPr algn="l">
              <a:defRPr sz="1400" b="1" i="0">
                <a:solidFill>
                  <a:srgbClr val="1A1A1A"/>
                </a:solidFill>
                <a:latin typeface="Calibri"/>
              </a:defRPr>
            </a:pPr>
            <a:r>
              <a:t>Contracted Developer</a:t>
            </a:r>
          </a:p>
        </p:txBody>
      </p:sp>
      <p:sp>
        <p:nvSpPr>
          <p:cNvPr id="66" name="TextBox 65"/>
          <p:cNvSpPr txBox="1"/>
          <p:nvPr/>
        </p:nvSpPr>
        <p:spPr>
          <a:xfrm>
            <a:off x="914400" y="5623560"/>
            <a:ext cx="4572000" cy="228600"/>
          </a:xfrm>
          <a:prstGeom prst="rect">
            <a:avLst/>
          </a:prstGeom>
          <a:noFill/>
        </p:spPr>
        <p:txBody>
          <a:bodyPr wrap="square"/>
          <a:lstStyle/>
          <a:p>
            <a:pPr algn="l">
              <a:defRPr sz="1000" b="0" i="0">
                <a:solidFill>
                  <a:srgbClr val="CC0011"/>
                </a:solidFill>
                <a:latin typeface="Calibri"/>
              </a:defRPr>
            </a:pPr>
            <a:r>
              <a:t>Royal Thai Embassy — London (2016)</a:t>
            </a:r>
          </a:p>
        </p:txBody>
      </p:sp>
      <p:sp>
        <p:nvSpPr>
          <p:cNvPr id="67" name="TextBox 66"/>
          <p:cNvSpPr txBox="1"/>
          <p:nvPr/>
        </p:nvSpPr>
        <p:spPr>
          <a:xfrm>
            <a:off x="5943600" y="5394960"/>
            <a:ext cx="5760720" cy="640080"/>
          </a:xfrm>
          <a:prstGeom prst="rect">
            <a:avLst/>
          </a:prstGeom>
          <a:noFill/>
        </p:spPr>
        <p:txBody>
          <a:bodyPr wrap="square"/>
          <a:lstStyle/>
          <a:p>
            <a:pPr algn="l">
              <a:lnSpc>
                <a:spcPts val="1500"/>
              </a:lnSpc>
              <a:defRPr sz="1000" b="0" i="0">
                <a:solidFill>
                  <a:srgbClr val="4A4A4A"/>
                </a:solidFill>
                <a:latin typeface="Calibri"/>
              </a:defRPr>
            </a:pPr>
            <a:r>
              <a:t>Redesigned embassy website and built a mobile consular booking system for passport and visa appointment scheduling.</a:t>
            </a:r>
          </a:p>
        </p:txBody>
      </p:sp>
      <p:sp>
        <p:nvSpPr>
          <p:cNvPr id="68" name="Rectangle 67"/>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1" name="TextBox 70"/>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05  —  RECOGNITION</a:t>
            </a:r>
          </a:p>
        </p:txBody>
      </p:sp>
      <p:sp>
        <p:nvSpPr>
          <p:cNvPr id="3" name="Rectangle 2"/>
          <p:cNvSpPr/>
          <p:nvPr/>
        </p:nvSpPr>
        <p:spPr>
          <a:xfrm>
            <a:off x="731520" y="685800"/>
            <a:ext cx="1069848"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Awards &amp; Press</a:t>
            </a:r>
          </a:p>
        </p:txBody>
      </p:sp>
      <p:sp>
        <p:nvSpPr>
          <p:cNvPr id="5" name="TextBox 4"/>
          <p:cNvSpPr txBox="1"/>
          <p:nvPr/>
        </p:nvSpPr>
        <p:spPr>
          <a:xfrm>
            <a:off x="731520" y="1508760"/>
            <a:ext cx="822960" cy="274320"/>
          </a:xfrm>
          <a:prstGeom prst="rect">
            <a:avLst/>
          </a:prstGeom>
          <a:noFill/>
        </p:spPr>
        <p:txBody>
          <a:bodyPr wrap="square"/>
          <a:lstStyle/>
          <a:p>
            <a:pPr algn="l">
              <a:defRPr sz="1100" b="1" i="0">
                <a:solidFill>
                  <a:srgbClr val="CC0011"/>
                </a:solidFill>
                <a:latin typeface="Calibri"/>
              </a:defRPr>
            </a:pPr>
            <a:r>
              <a:t>2024</a:t>
            </a:r>
          </a:p>
        </p:txBody>
      </p:sp>
      <p:sp>
        <p:nvSpPr>
          <p:cNvPr id="6" name="TextBox 5"/>
          <p:cNvSpPr txBox="1"/>
          <p:nvPr/>
        </p:nvSpPr>
        <p:spPr>
          <a:xfrm>
            <a:off x="1645920" y="1508760"/>
            <a:ext cx="3474720" cy="274320"/>
          </a:xfrm>
          <a:prstGeom prst="rect">
            <a:avLst/>
          </a:prstGeom>
          <a:noFill/>
        </p:spPr>
        <p:txBody>
          <a:bodyPr wrap="square"/>
          <a:lstStyle/>
          <a:p>
            <a:pPr algn="l">
              <a:defRPr sz="1200" b="1" i="0">
                <a:solidFill>
                  <a:srgbClr val="1A1A1A"/>
                </a:solidFill>
                <a:latin typeface="Calibri"/>
              </a:defRPr>
            </a:pPr>
            <a:r>
              <a:t>Prestige 300 Highflyer 2024</a:t>
            </a:r>
          </a:p>
        </p:txBody>
      </p:sp>
      <p:sp>
        <p:nvSpPr>
          <p:cNvPr id="7" name="TextBox 6"/>
          <p:cNvSpPr txBox="1"/>
          <p:nvPr/>
        </p:nvSpPr>
        <p:spPr>
          <a:xfrm>
            <a:off x="5486400" y="1508760"/>
            <a:ext cx="6217920" cy="411480"/>
          </a:xfrm>
          <a:prstGeom prst="rect">
            <a:avLst/>
          </a:prstGeom>
          <a:noFill/>
        </p:spPr>
        <p:txBody>
          <a:bodyPr wrap="square"/>
          <a:lstStyle/>
          <a:p>
            <a:pPr algn="l">
              <a:lnSpc>
                <a:spcPts val="1400"/>
              </a:lnSpc>
              <a:defRPr sz="1000" b="0" i="0">
                <a:solidFill>
                  <a:srgbClr val="4A4A4A"/>
                </a:solidFill>
                <a:latin typeface="Calibri"/>
              </a:defRPr>
            </a:pPr>
            <a:r>
              <a:t>Voted by The Prestige Thailand — Bangkok Post. Recognized as one of 300 young leaders driving innovation across industries in Thailand.</a:t>
            </a:r>
          </a:p>
        </p:txBody>
      </p:sp>
      <p:sp>
        <p:nvSpPr>
          <p:cNvPr id="8" name="Rectangle 7"/>
          <p:cNvSpPr/>
          <p:nvPr/>
        </p:nvSpPr>
        <p:spPr>
          <a:xfrm>
            <a:off x="731520" y="194767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11095"/>
            <a:ext cx="822960" cy="274320"/>
          </a:xfrm>
          <a:prstGeom prst="rect">
            <a:avLst/>
          </a:prstGeom>
          <a:noFill/>
        </p:spPr>
        <p:txBody>
          <a:bodyPr wrap="square"/>
          <a:lstStyle/>
          <a:p>
            <a:pPr algn="l">
              <a:defRPr sz="1100" b="1" i="0">
                <a:solidFill>
                  <a:srgbClr val="CC0011"/>
                </a:solidFill>
                <a:latin typeface="Calibri"/>
              </a:defRPr>
            </a:pPr>
            <a:r>
              <a:t>2024</a:t>
            </a:r>
          </a:p>
        </p:txBody>
      </p:sp>
      <p:sp>
        <p:nvSpPr>
          <p:cNvPr id="10" name="TextBox 9"/>
          <p:cNvSpPr txBox="1"/>
          <p:nvPr/>
        </p:nvSpPr>
        <p:spPr>
          <a:xfrm>
            <a:off x="1645920" y="1911095"/>
            <a:ext cx="3474720" cy="274320"/>
          </a:xfrm>
          <a:prstGeom prst="rect">
            <a:avLst/>
          </a:prstGeom>
          <a:noFill/>
        </p:spPr>
        <p:txBody>
          <a:bodyPr wrap="square"/>
          <a:lstStyle/>
          <a:p>
            <a:pPr algn="l">
              <a:defRPr sz="1200" b="1" i="0">
                <a:solidFill>
                  <a:srgbClr val="1A1A1A"/>
                </a:solidFill>
                <a:latin typeface="Calibri"/>
              </a:defRPr>
            </a:pPr>
            <a:r>
              <a:t>"Visionary, Augmented City"</a:t>
            </a:r>
          </a:p>
        </p:txBody>
      </p:sp>
      <p:sp>
        <p:nvSpPr>
          <p:cNvPr id="11" name="TextBox 10"/>
          <p:cNvSpPr txBox="1"/>
          <p:nvPr/>
        </p:nvSpPr>
        <p:spPr>
          <a:xfrm>
            <a:off x="5486400" y="1911095"/>
            <a:ext cx="6217920" cy="411480"/>
          </a:xfrm>
          <a:prstGeom prst="rect">
            <a:avLst/>
          </a:prstGeom>
          <a:noFill/>
        </p:spPr>
        <p:txBody>
          <a:bodyPr wrap="square"/>
          <a:lstStyle/>
          <a:p>
            <a:pPr algn="l">
              <a:lnSpc>
                <a:spcPts val="1400"/>
              </a:lnSpc>
              <a:defRPr sz="1000" b="0" i="0">
                <a:solidFill>
                  <a:srgbClr val="4A4A4A"/>
                </a:solidFill>
                <a:latin typeface="Calibri"/>
              </a:defRPr>
            </a:pPr>
            <a:r>
              <a:t>Full feature in Prestige Thailand Innovator Issue, May 2024 — profiling the vision of building an augmented playground in Bangkok using XR technology.</a:t>
            </a:r>
          </a:p>
        </p:txBody>
      </p:sp>
      <p:sp>
        <p:nvSpPr>
          <p:cNvPr id="12" name="Rectangle 11"/>
          <p:cNvSpPr/>
          <p:nvPr/>
        </p:nvSpPr>
        <p:spPr>
          <a:xfrm>
            <a:off x="731520" y="2350008"/>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313432"/>
            <a:ext cx="822960" cy="274320"/>
          </a:xfrm>
          <a:prstGeom prst="rect">
            <a:avLst/>
          </a:prstGeom>
          <a:noFill/>
        </p:spPr>
        <p:txBody>
          <a:bodyPr wrap="square"/>
          <a:lstStyle/>
          <a:p>
            <a:pPr algn="l">
              <a:defRPr sz="1100" b="1" i="0">
                <a:solidFill>
                  <a:srgbClr val="CC0011"/>
                </a:solidFill>
                <a:latin typeface="Calibri"/>
              </a:defRPr>
            </a:pPr>
            <a:r>
              <a:t>2023</a:t>
            </a:r>
          </a:p>
        </p:txBody>
      </p:sp>
      <p:sp>
        <p:nvSpPr>
          <p:cNvPr id="14" name="TextBox 13"/>
          <p:cNvSpPr txBox="1"/>
          <p:nvPr/>
        </p:nvSpPr>
        <p:spPr>
          <a:xfrm>
            <a:off x="1645920" y="2313432"/>
            <a:ext cx="3474720" cy="274320"/>
          </a:xfrm>
          <a:prstGeom prst="rect">
            <a:avLst/>
          </a:prstGeom>
          <a:noFill/>
        </p:spPr>
        <p:txBody>
          <a:bodyPr wrap="square"/>
          <a:lstStyle/>
          <a:p>
            <a:pPr algn="l">
              <a:defRPr sz="1200" b="1" i="0">
                <a:solidFill>
                  <a:srgbClr val="1A1A1A"/>
                </a:solidFill>
                <a:latin typeface="Calibri"/>
              </a:defRPr>
            </a:pPr>
            <a:r>
              <a:t>Baan ARVR Education Award</a:t>
            </a:r>
          </a:p>
        </p:txBody>
      </p:sp>
      <p:sp>
        <p:nvSpPr>
          <p:cNvPr id="15" name="TextBox 14"/>
          <p:cNvSpPr txBox="1"/>
          <p:nvPr/>
        </p:nvSpPr>
        <p:spPr>
          <a:xfrm>
            <a:off x="5486400" y="2313432"/>
            <a:ext cx="6217920" cy="411480"/>
          </a:xfrm>
          <a:prstGeom prst="rect">
            <a:avLst/>
          </a:prstGeom>
          <a:noFill/>
        </p:spPr>
        <p:txBody>
          <a:bodyPr wrap="square"/>
          <a:lstStyle/>
          <a:p>
            <a:pPr algn="l">
              <a:lnSpc>
                <a:spcPts val="1400"/>
              </a:lnSpc>
              <a:defRPr sz="1000" b="0" i="0">
                <a:solidFill>
                  <a:srgbClr val="4A4A4A"/>
                </a:solidFill>
                <a:latin typeface="Calibri"/>
              </a:defRPr>
            </a:pPr>
            <a:r>
              <a:t>Awarded by Nakorn Nayok Local Education Authorities for outstanding contribution to XR education across 4 schools. 200+ students certified. Local media coverage.</a:t>
            </a:r>
          </a:p>
        </p:txBody>
      </p:sp>
      <p:sp>
        <p:nvSpPr>
          <p:cNvPr id="16" name="Rectangle 15"/>
          <p:cNvSpPr/>
          <p:nvPr/>
        </p:nvSpPr>
        <p:spPr>
          <a:xfrm>
            <a:off x="731520" y="2752344"/>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715768"/>
            <a:ext cx="822960" cy="274320"/>
          </a:xfrm>
          <a:prstGeom prst="rect">
            <a:avLst/>
          </a:prstGeom>
          <a:noFill/>
        </p:spPr>
        <p:txBody>
          <a:bodyPr wrap="square"/>
          <a:lstStyle/>
          <a:p>
            <a:pPr algn="l">
              <a:defRPr sz="1100" b="1" i="0">
                <a:solidFill>
                  <a:srgbClr val="CC0011"/>
                </a:solidFill>
                <a:latin typeface="Calibri"/>
              </a:defRPr>
            </a:pPr>
            <a:r>
              <a:t>2021</a:t>
            </a:r>
          </a:p>
        </p:txBody>
      </p:sp>
      <p:sp>
        <p:nvSpPr>
          <p:cNvPr id="18" name="TextBox 17"/>
          <p:cNvSpPr txBox="1"/>
          <p:nvPr/>
        </p:nvSpPr>
        <p:spPr>
          <a:xfrm>
            <a:off x="1645920" y="2715768"/>
            <a:ext cx="3474720" cy="274320"/>
          </a:xfrm>
          <a:prstGeom prst="rect">
            <a:avLst/>
          </a:prstGeom>
          <a:noFill/>
        </p:spPr>
        <p:txBody>
          <a:bodyPr wrap="square"/>
          <a:lstStyle/>
          <a:p>
            <a:pPr algn="l">
              <a:defRPr sz="1200" b="1" i="0">
                <a:solidFill>
                  <a:srgbClr val="1A1A1A"/>
                </a:solidFill>
                <a:latin typeface="Calibri"/>
              </a:defRPr>
            </a:pPr>
            <a:r>
              <a:t>Cryptocurrency Panel Speaker</a:t>
            </a:r>
          </a:p>
        </p:txBody>
      </p:sp>
      <p:sp>
        <p:nvSpPr>
          <p:cNvPr id="19" name="TextBox 18"/>
          <p:cNvSpPr txBox="1"/>
          <p:nvPr/>
        </p:nvSpPr>
        <p:spPr>
          <a:xfrm>
            <a:off x="5486400" y="2715768"/>
            <a:ext cx="6217920" cy="411480"/>
          </a:xfrm>
          <a:prstGeom prst="rect">
            <a:avLst/>
          </a:prstGeom>
          <a:noFill/>
        </p:spPr>
        <p:txBody>
          <a:bodyPr wrap="square"/>
          <a:lstStyle/>
          <a:p>
            <a:pPr algn="l">
              <a:lnSpc>
                <a:spcPts val="1400"/>
              </a:lnSpc>
              <a:defRPr sz="1000" b="0" i="0">
                <a:solidFill>
                  <a:srgbClr val="4A4A4A"/>
                </a:solidFill>
                <a:latin typeface="Calibri"/>
              </a:defRPr>
            </a:pPr>
            <a:r>
              <a:t>Invited as a panelist at the Bangkok Post Cryptocurrency Forum as Project Director for THG Medical Utility Token — discussing blockchain in healthcare.</a:t>
            </a:r>
          </a:p>
        </p:txBody>
      </p:sp>
      <p:sp>
        <p:nvSpPr>
          <p:cNvPr id="20" name="Rectangle 19"/>
          <p:cNvSpPr/>
          <p:nvPr/>
        </p:nvSpPr>
        <p:spPr>
          <a:xfrm>
            <a:off x="731520" y="3154679"/>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18104"/>
            <a:ext cx="822960" cy="274320"/>
          </a:xfrm>
          <a:prstGeom prst="rect">
            <a:avLst/>
          </a:prstGeom>
          <a:noFill/>
        </p:spPr>
        <p:txBody>
          <a:bodyPr wrap="square"/>
          <a:lstStyle/>
          <a:p>
            <a:pPr algn="l">
              <a:defRPr sz="1100" b="1" i="0">
                <a:solidFill>
                  <a:srgbClr val="CC0011"/>
                </a:solidFill>
                <a:latin typeface="Calibri"/>
              </a:defRPr>
            </a:pPr>
            <a:r>
              <a:t>2021</a:t>
            </a:r>
          </a:p>
        </p:txBody>
      </p:sp>
      <p:sp>
        <p:nvSpPr>
          <p:cNvPr id="22" name="TextBox 21"/>
          <p:cNvSpPr txBox="1"/>
          <p:nvPr/>
        </p:nvSpPr>
        <p:spPr>
          <a:xfrm>
            <a:off x="1645920" y="3118104"/>
            <a:ext cx="3474720" cy="274320"/>
          </a:xfrm>
          <a:prstGeom prst="rect">
            <a:avLst/>
          </a:prstGeom>
          <a:noFill/>
        </p:spPr>
        <p:txBody>
          <a:bodyPr wrap="square"/>
          <a:lstStyle/>
          <a:p>
            <a:pPr algn="l">
              <a:defRPr sz="1200" b="1" i="0">
                <a:solidFill>
                  <a:srgbClr val="1A1A1A"/>
                </a:solidFill>
                <a:latin typeface="Calibri"/>
              </a:defRPr>
            </a:pPr>
            <a:r>
              <a:t>Finalist 12 — Startup</a:t>
            </a:r>
          </a:p>
        </p:txBody>
      </p:sp>
      <p:sp>
        <p:nvSpPr>
          <p:cNvPr id="23" name="TextBox 22"/>
          <p:cNvSpPr txBox="1"/>
          <p:nvPr/>
        </p:nvSpPr>
        <p:spPr>
          <a:xfrm>
            <a:off x="5486400" y="3118104"/>
            <a:ext cx="6217920" cy="411480"/>
          </a:xfrm>
          <a:prstGeom prst="rect">
            <a:avLst/>
          </a:prstGeom>
          <a:noFill/>
        </p:spPr>
        <p:txBody>
          <a:bodyPr wrap="square"/>
          <a:lstStyle/>
          <a:p>
            <a:pPr algn="l">
              <a:lnSpc>
                <a:spcPts val="1400"/>
              </a:lnSpc>
              <a:defRPr sz="1000" b="0" i="0">
                <a:solidFill>
                  <a:srgbClr val="4A4A4A"/>
                </a:solidFill>
                <a:latin typeface="Calibri"/>
              </a:defRPr>
            </a:pPr>
            <a:r>
              <a:t>Selected among the top 12 startups in the AIS Intouch InVent Builder Program for the Motiwatt fitness platform pitch.</a:t>
            </a:r>
          </a:p>
        </p:txBody>
      </p:sp>
      <p:sp>
        <p:nvSpPr>
          <p:cNvPr id="24" name="Rectangle 23"/>
          <p:cNvSpPr/>
          <p:nvPr/>
        </p:nvSpPr>
        <p:spPr>
          <a:xfrm>
            <a:off x="731520" y="3557016"/>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520440"/>
            <a:ext cx="822960" cy="274320"/>
          </a:xfrm>
          <a:prstGeom prst="rect">
            <a:avLst/>
          </a:prstGeom>
          <a:noFill/>
        </p:spPr>
        <p:txBody>
          <a:bodyPr wrap="square"/>
          <a:lstStyle/>
          <a:p>
            <a:pPr algn="l">
              <a:defRPr sz="1100" b="1" i="0">
                <a:solidFill>
                  <a:srgbClr val="CC0011"/>
                </a:solidFill>
                <a:latin typeface="Calibri"/>
              </a:defRPr>
            </a:pPr>
            <a:r>
              <a:t>2017</a:t>
            </a:r>
          </a:p>
        </p:txBody>
      </p:sp>
      <p:sp>
        <p:nvSpPr>
          <p:cNvPr id="26" name="TextBox 25"/>
          <p:cNvSpPr txBox="1"/>
          <p:nvPr/>
        </p:nvSpPr>
        <p:spPr>
          <a:xfrm>
            <a:off x="1645920" y="3520440"/>
            <a:ext cx="3474720" cy="274320"/>
          </a:xfrm>
          <a:prstGeom prst="rect">
            <a:avLst/>
          </a:prstGeom>
          <a:noFill/>
        </p:spPr>
        <p:txBody>
          <a:bodyPr wrap="square"/>
          <a:lstStyle/>
          <a:p>
            <a:pPr algn="l">
              <a:defRPr sz="1200" b="1" i="0">
                <a:solidFill>
                  <a:srgbClr val="1A1A1A"/>
                </a:solidFill>
                <a:latin typeface="Calibri"/>
              </a:defRPr>
            </a:pPr>
            <a:r>
              <a:t>"Gaga for Gadgets"</a:t>
            </a:r>
          </a:p>
        </p:txBody>
      </p:sp>
      <p:sp>
        <p:nvSpPr>
          <p:cNvPr id="27" name="TextBox 26"/>
          <p:cNvSpPr txBox="1"/>
          <p:nvPr/>
        </p:nvSpPr>
        <p:spPr>
          <a:xfrm>
            <a:off x="5486400" y="3520440"/>
            <a:ext cx="6217920" cy="411480"/>
          </a:xfrm>
          <a:prstGeom prst="rect">
            <a:avLst/>
          </a:prstGeom>
          <a:noFill/>
        </p:spPr>
        <p:txBody>
          <a:bodyPr wrap="square"/>
          <a:lstStyle/>
          <a:p>
            <a:pPr algn="l">
              <a:lnSpc>
                <a:spcPts val="1400"/>
              </a:lnSpc>
              <a:defRPr sz="1000" b="0" i="0">
                <a:solidFill>
                  <a:srgbClr val="4A4A4A"/>
                </a:solidFill>
                <a:latin typeface="Calibri"/>
              </a:defRPr>
            </a:pPr>
            <a:r>
              <a:t>Featured in Thailand Tatler Magazine, April 2017, as a tech-dedicated early adopter exploring drones, AI, smart home IoT, and robotics.</a:t>
            </a:r>
          </a:p>
        </p:txBody>
      </p:sp>
      <p:sp>
        <p:nvSpPr>
          <p:cNvPr id="28" name="Rectangle 27"/>
          <p:cNvSpPr/>
          <p:nvPr/>
        </p:nvSpPr>
        <p:spPr>
          <a:xfrm>
            <a:off x="731520" y="395935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922776"/>
            <a:ext cx="822960" cy="274320"/>
          </a:xfrm>
          <a:prstGeom prst="rect">
            <a:avLst/>
          </a:prstGeom>
          <a:noFill/>
        </p:spPr>
        <p:txBody>
          <a:bodyPr wrap="square"/>
          <a:lstStyle/>
          <a:p>
            <a:pPr algn="l">
              <a:defRPr sz="1100" b="1" i="0">
                <a:solidFill>
                  <a:srgbClr val="CC0011"/>
                </a:solidFill>
                <a:latin typeface="Calibri"/>
              </a:defRPr>
            </a:pPr>
            <a:r>
              <a:t>2017</a:t>
            </a:r>
          </a:p>
        </p:txBody>
      </p:sp>
      <p:sp>
        <p:nvSpPr>
          <p:cNvPr id="30" name="TextBox 29"/>
          <p:cNvSpPr txBox="1"/>
          <p:nvPr/>
        </p:nvSpPr>
        <p:spPr>
          <a:xfrm>
            <a:off x="1645920" y="3922776"/>
            <a:ext cx="3474720" cy="274320"/>
          </a:xfrm>
          <a:prstGeom prst="rect">
            <a:avLst/>
          </a:prstGeom>
          <a:noFill/>
        </p:spPr>
        <p:txBody>
          <a:bodyPr wrap="square"/>
          <a:lstStyle/>
          <a:p>
            <a:pPr algn="l">
              <a:defRPr sz="1200" b="1" i="0">
                <a:solidFill>
                  <a:srgbClr val="1A1A1A"/>
                </a:solidFill>
                <a:latin typeface="Calibri"/>
              </a:defRPr>
            </a:pPr>
            <a:r>
              <a:t>Hyperloop for Thailand</a:t>
            </a:r>
          </a:p>
        </p:txBody>
      </p:sp>
      <p:sp>
        <p:nvSpPr>
          <p:cNvPr id="31" name="TextBox 30"/>
          <p:cNvSpPr txBox="1"/>
          <p:nvPr/>
        </p:nvSpPr>
        <p:spPr>
          <a:xfrm>
            <a:off x="5486400" y="3922776"/>
            <a:ext cx="6217920" cy="411480"/>
          </a:xfrm>
          <a:prstGeom prst="rect">
            <a:avLst/>
          </a:prstGeom>
          <a:noFill/>
        </p:spPr>
        <p:txBody>
          <a:bodyPr wrap="square"/>
          <a:lstStyle/>
          <a:p>
            <a:pPr algn="l">
              <a:lnSpc>
                <a:spcPts val="1400"/>
              </a:lnSpc>
              <a:defRPr sz="1000" b="0" i="0">
                <a:solidFill>
                  <a:srgbClr val="4A4A4A"/>
                </a:solidFill>
                <a:latin typeface="Calibri"/>
              </a:defRPr>
            </a:pPr>
            <a:r>
              <a:t>Bachelor's project — Bangkok to Phuket in 40 mins to decentralise development. Innovation Award at Imperial College London, 100+ audience.</a:t>
            </a:r>
          </a:p>
        </p:txBody>
      </p:sp>
      <p:sp>
        <p:nvSpPr>
          <p:cNvPr id="32" name="Rectangle 31"/>
          <p:cNvSpPr/>
          <p:nvPr/>
        </p:nvSpPr>
        <p:spPr>
          <a:xfrm>
            <a:off x="731520" y="4361688"/>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325112"/>
            <a:ext cx="822960" cy="274320"/>
          </a:xfrm>
          <a:prstGeom prst="rect">
            <a:avLst/>
          </a:prstGeom>
          <a:noFill/>
        </p:spPr>
        <p:txBody>
          <a:bodyPr wrap="square"/>
          <a:lstStyle/>
          <a:p>
            <a:pPr algn="l">
              <a:defRPr sz="1100" b="1" i="0">
                <a:solidFill>
                  <a:srgbClr val="CC0011"/>
                </a:solidFill>
                <a:latin typeface="Calibri"/>
              </a:defRPr>
            </a:pPr>
            <a:r>
              <a:t>2014</a:t>
            </a:r>
          </a:p>
        </p:txBody>
      </p:sp>
      <p:sp>
        <p:nvSpPr>
          <p:cNvPr id="34" name="TextBox 33"/>
          <p:cNvSpPr txBox="1"/>
          <p:nvPr/>
        </p:nvSpPr>
        <p:spPr>
          <a:xfrm>
            <a:off x="1645920" y="4325112"/>
            <a:ext cx="3474720" cy="274320"/>
          </a:xfrm>
          <a:prstGeom prst="rect">
            <a:avLst/>
          </a:prstGeom>
          <a:noFill/>
        </p:spPr>
        <p:txBody>
          <a:bodyPr wrap="square"/>
          <a:lstStyle/>
          <a:p>
            <a:pPr algn="l">
              <a:defRPr sz="1200" b="1" i="0">
                <a:solidFill>
                  <a:srgbClr val="1A1A1A"/>
                </a:solidFill>
                <a:latin typeface="Calibri"/>
              </a:defRPr>
            </a:pPr>
            <a:r>
              <a:t>Queen Mary Excellence Scholarship</a:t>
            </a:r>
          </a:p>
        </p:txBody>
      </p:sp>
      <p:sp>
        <p:nvSpPr>
          <p:cNvPr id="35" name="TextBox 34"/>
          <p:cNvSpPr txBox="1"/>
          <p:nvPr/>
        </p:nvSpPr>
        <p:spPr>
          <a:xfrm>
            <a:off x="5486400" y="4325112"/>
            <a:ext cx="6217920" cy="411480"/>
          </a:xfrm>
          <a:prstGeom prst="rect">
            <a:avLst/>
          </a:prstGeom>
          <a:noFill/>
        </p:spPr>
        <p:txBody>
          <a:bodyPr wrap="square"/>
          <a:lstStyle/>
          <a:p>
            <a:pPr algn="l">
              <a:lnSpc>
                <a:spcPts val="1400"/>
              </a:lnSpc>
              <a:defRPr sz="1000" b="0" i="0">
                <a:solidFill>
                  <a:srgbClr val="4A4A4A"/>
                </a:solidFill>
                <a:latin typeface="Calibri"/>
              </a:defRPr>
            </a:pPr>
            <a:r>
              <a:t>Awarded the Higher International Science &amp; Engineering Excellence Award Scholarship at Queen Mary, University of London.</a:t>
            </a:r>
          </a:p>
        </p:txBody>
      </p:sp>
      <p:sp>
        <p:nvSpPr>
          <p:cNvPr id="36" name="Rectangle 35"/>
          <p:cNvSpPr/>
          <p:nvPr/>
        </p:nvSpPr>
        <p:spPr>
          <a:xfrm>
            <a:off x="731520" y="4764024"/>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4727448"/>
            <a:ext cx="822960" cy="274320"/>
          </a:xfrm>
          <a:prstGeom prst="rect">
            <a:avLst/>
          </a:prstGeom>
          <a:noFill/>
        </p:spPr>
        <p:txBody>
          <a:bodyPr wrap="square"/>
          <a:lstStyle/>
          <a:p>
            <a:pPr algn="l">
              <a:defRPr sz="1100" b="1" i="0">
                <a:solidFill>
                  <a:srgbClr val="CC0011"/>
                </a:solidFill>
                <a:latin typeface="Calibri"/>
              </a:defRPr>
            </a:pPr>
            <a:r>
              <a:t>2014</a:t>
            </a:r>
          </a:p>
        </p:txBody>
      </p:sp>
      <p:sp>
        <p:nvSpPr>
          <p:cNvPr id="38" name="TextBox 37"/>
          <p:cNvSpPr txBox="1"/>
          <p:nvPr/>
        </p:nvSpPr>
        <p:spPr>
          <a:xfrm>
            <a:off x="1645920" y="4727448"/>
            <a:ext cx="3474720" cy="274320"/>
          </a:xfrm>
          <a:prstGeom prst="rect">
            <a:avLst/>
          </a:prstGeom>
          <a:noFill/>
        </p:spPr>
        <p:txBody>
          <a:bodyPr wrap="square"/>
          <a:lstStyle/>
          <a:p>
            <a:pPr algn="l">
              <a:defRPr sz="1200" b="1" i="0">
                <a:solidFill>
                  <a:srgbClr val="1A1A1A"/>
                </a:solidFill>
                <a:latin typeface="Calibri"/>
              </a:defRPr>
            </a:pPr>
            <a:r>
              <a:t>Dean's List</a:t>
            </a:r>
          </a:p>
        </p:txBody>
      </p:sp>
      <p:sp>
        <p:nvSpPr>
          <p:cNvPr id="39" name="TextBox 38"/>
          <p:cNvSpPr txBox="1"/>
          <p:nvPr/>
        </p:nvSpPr>
        <p:spPr>
          <a:xfrm>
            <a:off x="5486400" y="4727448"/>
            <a:ext cx="6217920" cy="411480"/>
          </a:xfrm>
          <a:prstGeom prst="rect">
            <a:avLst/>
          </a:prstGeom>
          <a:noFill/>
        </p:spPr>
        <p:txBody>
          <a:bodyPr wrap="square"/>
          <a:lstStyle/>
          <a:p>
            <a:pPr algn="l">
              <a:lnSpc>
                <a:spcPts val="1400"/>
              </a:lnSpc>
              <a:defRPr sz="1000" b="0" i="0">
                <a:solidFill>
                  <a:srgbClr val="4A4A4A"/>
                </a:solidFill>
                <a:latin typeface="Calibri"/>
              </a:defRPr>
            </a:pPr>
            <a:r>
              <a:t>University of Westminster Foundational Studies — London, United Kingdom.</a:t>
            </a:r>
          </a:p>
        </p:txBody>
      </p:sp>
      <p:sp>
        <p:nvSpPr>
          <p:cNvPr id="40" name="Rectangle 39"/>
          <p:cNvSpPr/>
          <p:nvPr/>
        </p:nvSpPr>
        <p:spPr>
          <a:xfrm>
            <a:off x="731520" y="516636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129783"/>
            <a:ext cx="822960" cy="274320"/>
          </a:xfrm>
          <a:prstGeom prst="rect">
            <a:avLst/>
          </a:prstGeom>
          <a:noFill/>
        </p:spPr>
        <p:txBody>
          <a:bodyPr wrap="square"/>
          <a:lstStyle/>
          <a:p>
            <a:pPr algn="l">
              <a:defRPr sz="1100" b="1" i="0">
                <a:solidFill>
                  <a:srgbClr val="CC0011"/>
                </a:solidFill>
                <a:latin typeface="Calibri"/>
              </a:defRPr>
            </a:pPr>
            <a:r>
              <a:t>2016</a:t>
            </a:r>
          </a:p>
        </p:txBody>
      </p:sp>
      <p:sp>
        <p:nvSpPr>
          <p:cNvPr id="42" name="TextBox 41"/>
          <p:cNvSpPr txBox="1"/>
          <p:nvPr/>
        </p:nvSpPr>
        <p:spPr>
          <a:xfrm>
            <a:off x="1645920" y="5129783"/>
            <a:ext cx="3474720" cy="274320"/>
          </a:xfrm>
          <a:prstGeom prst="rect">
            <a:avLst/>
          </a:prstGeom>
          <a:noFill/>
        </p:spPr>
        <p:txBody>
          <a:bodyPr wrap="square"/>
          <a:lstStyle/>
          <a:p>
            <a:pPr algn="l">
              <a:defRPr sz="1200" b="1" i="0">
                <a:solidFill>
                  <a:srgbClr val="1A1A1A"/>
                </a:solidFill>
                <a:latin typeface="Calibri"/>
              </a:defRPr>
            </a:pPr>
            <a:r>
              <a:t>3 Day Startup — Wellness Wearable</a:t>
            </a:r>
          </a:p>
        </p:txBody>
      </p:sp>
      <p:sp>
        <p:nvSpPr>
          <p:cNvPr id="43" name="TextBox 42"/>
          <p:cNvSpPr txBox="1"/>
          <p:nvPr/>
        </p:nvSpPr>
        <p:spPr>
          <a:xfrm>
            <a:off x="5486400" y="5129783"/>
            <a:ext cx="6217920" cy="411480"/>
          </a:xfrm>
          <a:prstGeom prst="rect">
            <a:avLst/>
          </a:prstGeom>
          <a:noFill/>
        </p:spPr>
        <p:txBody>
          <a:bodyPr wrap="square"/>
          <a:lstStyle/>
          <a:p>
            <a:pPr algn="l">
              <a:lnSpc>
                <a:spcPts val="1400"/>
              </a:lnSpc>
              <a:defRPr sz="1000" b="0" i="0">
                <a:solidFill>
                  <a:srgbClr val="4A4A4A"/>
                </a:solidFill>
                <a:latin typeface="Calibri"/>
              </a:defRPr>
            </a:pPr>
            <a:r>
              <a:t>Led a team and presented a wellness wearable concept at the 3 Day Startup competition.</a:t>
            </a:r>
          </a:p>
        </p:txBody>
      </p:sp>
      <p:sp>
        <p:nvSpPr>
          <p:cNvPr id="44" name="Rectangle 43"/>
          <p:cNvSpPr/>
          <p:nvPr/>
        </p:nvSpPr>
        <p:spPr>
          <a:xfrm>
            <a:off x="731520" y="5568696"/>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532120"/>
            <a:ext cx="822960" cy="274320"/>
          </a:xfrm>
          <a:prstGeom prst="rect">
            <a:avLst/>
          </a:prstGeom>
          <a:noFill/>
        </p:spPr>
        <p:txBody>
          <a:bodyPr wrap="square"/>
          <a:lstStyle/>
          <a:p>
            <a:pPr algn="l">
              <a:defRPr sz="1100" b="1" i="0">
                <a:solidFill>
                  <a:srgbClr val="CC0011"/>
                </a:solidFill>
                <a:latin typeface="Calibri"/>
              </a:defRPr>
            </a:pPr>
            <a:r>
              <a:t>2013</a:t>
            </a:r>
          </a:p>
        </p:txBody>
      </p:sp>
      <p:sp>
        <p:nvSpPr>
          <p:cNvPr id="46" name="TextBox 45"/>
          <p:cNvSpPr txBox="1"/>
          <p:nvPr/>
        </p:nvSpPr>
        <p:spPr>
          <a:xfrm>
            <a:off x="1645920" y="5532120"/>
            <a:ext cx="3474720" cy="274320"/>
          </a:xfrm>
          <a:prstGeom prst="rect">
            <a:avLst/>
          </a:prstGeom>
          <a:noFill/>
        </p:spPr>
        <p:txBody>
          <a:bodyPr wrap="square"/>
          <a:lstStyle/>
          <a:p>
            <a:pPr algn="l">
              <a:defRPr sz="1200" b="1" i="0">
                <a:solidFill>
                  <a:srgbClr val="1A1A1A"/>
                </a:solidFill>
                <a:latin typeface="Calibri"/>
              </a:defRPr>
            </a:pPr>
            <a:r>
              <a:t>Student Lecturer — Robotics</a:t>
            </a:r>
          </a:p>
        </p:txBody>
      </p:sp>
      <p:sp>
        <p:nvSpPr>
          <p:cNvPr id="47" name="TextBox 46"/>
          <p:cNvSpPr txBox="1"/>
          <p:nvPr/>
        </p:nvSpPr>
        <p:spPr>
          <a:xfrm>
            <a:off x="5486400" y="5532120"/>
            <a:ext cx="6217920" cy="411480"/>
          </a:xfrm>
          <a:prstGeom prst="rect">
            <a:avLst/>
          </a:prstGeom>
          <a:noFill/>
        </p:spPr>
        <p:txBody>
          <a:bodyPr wrap="square"/>
          <a:lstStyle/>
          <a:p>
            <a:pPr algn="l">
              <a:lnSpc>
                <a:spcPts val="1400"/>
              </a:lnSpc>
              <a:defRPr sz="1000" b="0" i="0">
                <a:solidFill>
                  <a:srgbClr val="4A4A4A"/>
                </a:solidFill>
                <a:latin typeface="Calibri"/>
              </a:defRPr>
            </a:pPr>
            <a:r>
              <a:t>Delivered a student lecture on nano robotics and multi-agent robotic systems at Bangkok Patana School.</a:t>
            </a:r>
          </a:p>
        </p:txBody>
      </p:sp>
      <p:sp>
        <p:nvSpPr>
          <p:cNvPr id="48" name="Rectangle 47"/>
          <p:cNvSpPr/>
          <p:nvPr/>
        </p:nvSpPr>
        <p:spPr>
          <a:xfrm>
            <a:off x="731520" y="5971032"/>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5934456"/>
            <a:ext cx="822960" cy="274320"/>
          </a:xfrm>
          <a:prstGeom prst="rect">
            <a:avLst/>
          </a:prstGeom>
          <a:noFill/>
        </p:spPr>
        <p:txBody>
          <a:bodyPr wrap="square"/>
          <a:lstStyle/>
          <a:p>
            <a:pPr algn="l">
              <a:defRPr sz="1100" b="1" i="0">
                <a:solidFill>
                  <a:srgbClr val="CC0011"/>
                </a:solidFill>
                <a:latin typeface="Calibri"/>
              </a:defRPr>
            </a:pPr>
            <a:r>
              <a:t>2011</a:t>
            </a:r>
          </a:p>
        </p:txBody>
      </p:sp>
      <p:sp>
        <p:nvSpPr>
          <p:cNvPr id="50" name="TextBox 49"/>
          <p:cNvSpPr txBox="1"/>
          <p:nvPr/>
        </p:nvSpPr>
        <p:spPr>
          <a:xfrm>
            <a:off x="1645920" y="5934456"/>
            <a:ext cx="3474720" cy="274320"/>
          </a:xfrm>
          <a:prstGeom prst="rect">
            <a:avLst/>
          </a:prstGeom>
          <a:noFill/>
        </p:spPr>
        <p:txBody>
          <a:bodyPr wrap="square"/>
          <a:lstStyle/>
          <a:p>
            <a:pPr algn="l">
              <a:defRPr sz="1200" b="1" i="0">
                <a:solidFill>
                  <a:srgbClr val="1A1A1A"/>
                </a:solidFill>
                <a:latin typeface="Calibri"/>
              </a:defRPr>
            </a:pPr>
            <a:r>
              <a:t>Student Speaker — TechEx</a:t>
            </a:r>
          </a:p>
        </p:txBody>
      </p:sp>
      <p:sp>
        <p:nvSpPr>
          <p:cNvPr id="51" name="TextBox 50"/>
          <p:cNvSpPr txBox="1"/>
          <p:nvPr/>
        </p:nvSpPr>
        <p:spPr>
          <a:xfrm>
            <a:off x="5486400" y="5934456"/>
            <a:ext cx="6217920" cy="411480"/>
          </a:xfrm>
          <a:prstGeom prst="rect">
            <a:avLst/>
          </a:prstGeom>
          <a:noFill/>
        </p:spPr>
        <p:txBody>
          <a:bodyPr wrap="square"/>
          <a:lstStyle/>
          <a:p>
            <a:pPr algn="l">
              <a:lnSpc>
                <a:spcPts val="1400"/>
              </a:lnSpc>
              <a:defRPr sz="1000" b="0" i="0">
                <a:solidFill>
                  <a:srgbClr val="4A4A4A"/>
                </a:solidFill>
                <a:latin typeface="Calibri"/>
              </a:defRPr>
            </a:pPr>
            <a:r>
              <a:t>Presented "AR Enhanced Education" at Bangkok Patana School — an AR virtual classroom concept so students could attend remotely during the 2011 Bangkok floods.</a:t>
            </a:r>
          </a:p>
        </p:txBody>
      </p:sp>
      <p:sp>
        <p:nvSpPr>
          <p:cNvPr id="52" name="Rectangle 51"/>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55" name="TextBox 54"/>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06  —  MEDIA</a:t>
            </a:r>
          </a:p>
        </p:txBody>
      </p:sp>
      <p:sp>
        <p:nvSpPr>
          <p:cNvPr id="41" name="Rectangle 40"/>
          <p:cNvSpPr/>
          <p:nvPr/>
        </p:nvSpPr>
        <p:spPr>
          <a:xfrm>
            <a:off x="731520" y="685800"/>
            <a:ext cx="713232"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In The Press</a:t>
            </a:r>
          </a:p>
        </p:txBody>
      </p:sp>
      <p:sp>
        <p:nvSpPr>
          <p:cNvPr id="43" name="Rectangle 42"/>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868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2286000"/>
            <a:ext cx="3108960" cy="365760"/>
          </a:xfrm>
          <a:prstGeom prst="rect">
            <a:avLst/>
          </a:prstGeom>
          <a:noFill/>
        </p:spPr>
        <p:txBody>
          <a:bodyPr wrap="square"/>
          <a:lstStyle/>
          <a:p>
            <a:pPr algn="ctr">
              <a:defRPr sz="1000" b="0" i="0">
                <a:solidFill>
                  <a:srgbClr val="AAA7A2"/>
                </a:solidFill>
                <a:latin typeface="Calibri"/>
              </a:defRPr>
            </a:pPr>
            <a:r>
              <a:t>[ PRESS IMAGE ]</a:t>
            </a:r>
          </a:p>
        </p:txBody>
      </p:sp>
      <p:sp>
        <p:nvSpPr>
          <p:cNvPr id="47" name="TextBox 46"/>
          <p:cNvSpPr txBox="1"/>
          <p:nvPr/>
        </p:nvSpPr>
        <p:spPr>
          <a:xfrm>
            <a:off x="868680" y="3566160"/>
            <a:ext cx="3108960" cy="640080"/>
          </a:xfrm>
          <a:prstGeom prst="rect">
            <a:avLst/>
          </a:prstGeom>
          <a:noFill/>
        </p:spPr>
        <p:txBody>
          <a:bodyPr wrap="square"/>
          <a:lstStyle/>
          <a:p>
            <a:pPr algn="l">
              <a:defRPr sz="1500" b="1" i="0">
                <a:solidFill>
                  <a:srgbClr val="1A1A1A"/>
                </a:solidFill>
                <a:latin typeface="Arial Black"/>
              </a:defRPr>
            </a:pPr>
            <a:r>
              <a:t>"AUGMENTED CITY"</a:t>
            </a:r>
          </a:p>
        </p:txBody>
      </p:sp>
      <p:sp>
        <p:nvSpPr>
          <p:cNvPr id="48" name="TextBox 47"/>
          <p:cNvSpPr txBox="1"/>
          <p:nvPr/>
        </p:nvSpPr>
        <p:spPr>
          <a:xfrm>
            <a:off x="868680" y="4251960"/>
            <a:ext cx="3108960" cy="228600"/>
          </a:xfrm>
          <a:prstGeom prst="rect">
            <a:avLst/>
          </a:prstGeom>
          <a:noFill/>
        </p:spPr>
        <p:txBody>
          <a:bodyPr wrap="square"/>
          <a:lstStyle/>
          <a:p>
            <a:pPr algn="l">
              <a:defRPr sz="1000" b="1" i="0">
                <a:solidFill>
                  <a:srgbClr val="CC0011"/>
                </a:solidFill>
                <a:latin typeface="Calibri"/>
              </a:defRPr>
            </a:pPr>
            <a:r>
              <a:t>Prestige Thailand</a:t>
            </a:r>
          </a:p>
        </p:txBody>
      </p:sp>
      <p:sp>
        <p:nvSpPr>
          <p:cNvPr id="49" name="TextBox 48"/>
          <p:cNvSpPr txBox="1"/>
          <p:nvPr/>
        </p:nvSpPr>
        <p:spPr>
          <a:xfrm>
            <a:off x="868680" y="4462272"/>
            <a:ext cx="3108960" cy="228600"/>
          </a:xfrm>
          <a:prstGeom prst="rect">
            <a:avLst/>
          </a:prstGeom>
          <a:noFill/>
        </p:spPr>
        <p:txBody>
          <a:bodyPr wrap="square"/>
          <a:lstStyle/>
          <a:p>
            <a:pPr algn="l">
              <a:defRPr sz="900" b="0" i="0">
                <a:solidFill>
                  <a:srgbClr val="888580"/>
                </a:solidFill>
                <a:latin typeface="Calibri"/>
              </a:defRPr>
            </a:pPr>
            <a:r>
              <a:t>May 2024 — Innovator Issue</a:t>
            </a:r>
          </a:p>
        </p:txBody>
      </p:sp>
      <p:sp>
        <p:nvSpPr>
          <p:cNvPr id="50" name="TextBox 49"/>
          <p:cNvSpPr txBox="1"/>
          <p:nvPr/>
        </p:nvSpPr>
        <p:spPr>
          <a:xfrm>
            <a:off x="868680" y="4754880"/>
            <a:ext cx="3108960" cy="1371600"/>
          </a:xfrm>
          <a:prstGeom prst="rect">
            <a:avLst/>
          </a:prstGeom>
          <a:noFill/>
        </p:spPr>
        <p:txBody>
          <a:bodyPr wrap="square"/>
          <a:lstStyle/>
          <a:p>
            <a:pPr algn="l">
              <a:lnSpc>
                <a:spcPts val="1400"/>
              </a:lnSpc>
              <a:defRPr sz="900" b="0" i="0">
                <a:solidFill>
                  <a:srgbClr val="4A4A4A"/>
                </a:solidFill>
                <a:latin typeface="Calibri"/>
              </a:defRPr>
            </a:pPr>
            <a:r>
              <a:t>Full feature on building an augmented playground in Bangkok. The article explores how XR technology is being used to create location-based AR games, transform public parks into interactive digital arenas, and bridge the gap between sci-fi imagination and real-world community experiences.</a:t>
            </a:r>
          </a:p>
        </p:txBody>
      </p:sp>
      <p:sp>
        <p:nvSpPr>
          <p:cNvPr id="51" name="Rectangle 50"/>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43484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66344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63440" y="2286000"/>
            <a:ext cx="3108960" cy="365760"/>
          </a:xfrm>
          <a:prstGeom prst="rect">
            <a:avLst/>
          </a:prstGeom>
          <a:noFill/>
        </p:spPr>
        <p:txBody>
          <a:bodyPr wrap="square"/>
          <a:lstStyle/>
          <a:p>
            <a:pPr algn="ctr">
              <a:defRPr sz="1000" b="0" i="0">
                <a:solidFill>
                  <a:srgbClr val="AAA7A2"/>
                </a:solidFill>
                <a:latin typeface="Calibri"/>
              </a:defRPr>
            </a:pPr>
            <a:r>
              <a:t>[ PRESS IMAGE ]</a:t>
            </a:r>
          </a:p>
        </p:txBody>
      </p:sp>
      <p:sp>
        <p:nvSpPr>
          <p:cNvPr id="55" name="TextBox 54"/>
          <p:cNvSpPr txBox="1"/>
          <p:nvPr/>
        </p:nvSpPr>
        <p:spPr>
          <a:xfrm>
            <a:off x="4663440" y="3566160"/>
            <a:ext cx="3108960" cy="640080"/>
          </a:xfrm>
          <a:prstGeom prst="rect">
            <a:avLst/>
          </a:prstGeom>
          <a:noFill/>
        </p:spPr>
        <p:txBody>
          <a:bodyPr wrap="square"/>
          <a:lstStyle/>
          <a:p>
            <a:pPr algn="l">
              <a:defRPr sz="1500" b="1" i="0">
                <a:solidFill>
                  <a:srgbClr val="1A1A1A"/>
                </a:solidFill>
                <a:latin typeface="Arial Black"/>
              </a:defRPr>
            </a:pPr>
            <a:r>
              <a:t>PRESTIGE 300</a:t>
            </a:r>
            <a:br/>
            <a:r>
              <a:t>HIGH FLYERS</a:t>
            </a:r>
          </a:p>
        </p:txBody>
      </p:sp>
      <p:sp>
        <p:nvSpPr>
          <p:cNvPr id="56" name="TextBox 55"/>
          <p:cNvSpPr txBox="1"/>
          <p:nvPr/>
        </p:nvSpPr>
        <p:spPr>
          <a:xfrm>
            <a:off x="4663440" y="4251960"/>
            <a:ext cx="3108960" cy="228600"/>
          </a:xfrm>
          <a:prstGeom prst="rect">
            <a:avLst/>
          </a:prstGeom>
          <a:noFill/>
        </p:spPr>
        <p:txBody>
          <a:bodyPr wrap="square"/>
          <a:lstStyle/>
          <a:p>
            <a:pPr algn="l">
              <a:defRPr sz="1000" b="1" i="0">
                <a:solidFill>
                  <a:srgbClr val="CC0011"/>
                </a:solidFill>
                <a:latin typeface="Calibri"/>
              </a:defRPr>
            </a:pPr>
            <a:r>
              <a:t>Prestige Thailand</a:t>
            </a:r>
          </a:p>
        </p:txBody>
      </p:sp>
      <p:sp>
        <p:nvSpPr>
          <p:cNvPr id="57" name="TextBox 56"/>
          <p:cNvSpPr txBox="1"/>
          <p:nvPr/>
        </p:nvSpPr>
        <p:spPr>
          <a:xfrm>
            <a:off x="4663440" y="4462272"/>
            <a:ext cx="3108960" cy="228600"/>
          </a:xfrm>
          <a:prstGeom prst="rect">
            <a:avLst/>
          </a:prstGeom>
          <a:noFill/>
        </p:spPr>
        <p:txBody>
          <a:bodyPr wrap="square"/>
          <a:lstStyle/>
          <a:p>
            <a:pPr algn="l">
              <a:defRPr sz="900" b="0" i="0">
                <a:solidFill>
                  <a:srgbClr val="888580"/>
                </a:solidFill>
                <a:latin typeface="Calibri"/>
              </a:defRPr>
            </a:pPr>
            <a:r>
              <a:t>November 2024</a:t>
            </a:r>
          </a:p>
        </p:txBody>
      </p:sp>
      <p:sp>
        <p:nvSpPr>
          <p:cNvPr id="58" name="TextBox 57"/>
          <p:cNvSpPr txBox="1"/>
          <p:nvPr/>
        </p:nvSpPr>
        <p:spPr>
          <a:xfrm>
            <a:off x="4663440" y="4754880"/>
            <a:ext cx="3108960" cy="1371600"/>
          </a:xfrm>
          <a:prstGeom prst="rect">
            <a:avLst/>
          </a:prstGeom>
          <a:noFill/>
        </p:spPr>
        <p:txBody>
          <a:bodyPr wrap="square"/>
          <a:lstStyle/>
          <a:p>
            <a:pPr algn="l">
              <a:lnSpc>
                <a:spcPts val="1400"/>
              </a:lnSpc>
              <a:defRPr sz="900" b="0" i="0">
                <a:solidFill>
                  <a:srgbClr val="4A4A4A"/>
                </a:solidFill>
                <a:latin typeface="Calibri"/>
              </a:defRPr>
            </a:pPr>
            <a:r>
              <a:t>Selected among 300 young leaders and innovators driving change across Thailand. Recognized for pioneering XR innovation, founding multiple technology companies, and pushing the boundaries of augmented reality in Southeast Asia.</a:t>
            </a:r>
          </a:p>
        </p:txBody>
      </p:sp>
      <p:sp>
        <p:nvSpPr>
          <p:cNvPr id="59" name="Rectangle 58"/>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2960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45820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58200" y="2286000"/>
            <a:ext cx="3108960" cy="365760"/>
          </a:xfrm>
          <a:prstGeom prst="rect">
            <a:avLst/>
          </a:prstGeom>
          <a:noFill/>
        </p:spPr>
        <p:txBody>
          <a:bodyPr wrap="square"/>
          <a:lstStyle/>
          <a:p>
            <a:pPr algn="ctr">
              <a:defRPr sz="1000" b="0" i="0">
                <a:solidFill>
                  <a:srgbClr val="AAA7A2"/>
                </a:solidFill>
                <a:latin typeface="Calibri"/>
              </a:defRPr>
            </a:pPr>
            <a:r>
              <a:t>[ PRESS IMAGE ]</a:t>
            </a:r>
          </a:p>
        </p:txBody>
      </p:sp>
      <p:sp>
        <p:nvSpPr>
          <p:cNvPr id="63" name="TextBox 62"/>
          <p:cNvSpPr txBox="1"/>
          <p:nvPr/>
        </p:nvSpPr>
        <p:spPr>
          <a:xfrm>
            <a:off x="8458200" y="3566160"/>
            <a:ext cx="3108960" cy="640080"/>
          </a:xfrm>
          <a:prstGeom prst="rect">
            <a:avLst/>
          </a:prstGeom>
          <a:noFill/>
        </p:spPr>
        <p:txBody>
          <a:bodyPr wrap="square"/>
          <a:lstStyle/>
          <a:p>
            <a:pPr algn="l">
              <a:defRPr sz="1500" b="1" i="0">
                <a:solidFill>
                  <a:srgbClr val="1A1A1A"/>
                </a:solidFill>
                <a:latin typeface="Arial Black"/>
              </a:defRPr>
            </a:pPr>
            <a:r>
              <a:t>"GAGA FOR GADGETS"</a:t>
            </a:r>
          </a:p>
        </p:txBody>
      </p:sp>
      <p:sp>
        <p:nvSpPr>
          <p:cNvPr id="64" name="TextBox 63"/>
          <p:cNvSpPr txBox="1"/>
          <p:nvPr/>
        </p:nvSpPr>
        <p:spPr>
          <a:xfrm>
            <a:off x="8458200" y="4251960"/>
            <a:ext cx="3108960" cy="228600"/>
          </a:xfrm>
          <a:prstGeom prst="rect">
            <a:avLst/>
          </a:prstGeom>
          <a:noFill/>
        </p:spPr>
        <p:txBody>
          <a:bodyPr wrap="square"/>
          <a:lstStyle/>
          <a:p>
            <a:pPr algn="l">
              <a:defRPr sz="1000" b="1" i="0">
                <a:solidFill>
                  <a:srgbClr val="CC0011"/>
                </a:solidFill>
                <a:latin typeface="Calibri"/>
              </a:defRPr>
            </a:pPr>
            <a:r>
              <a:t>Thailand Tatler</a:t>
            </a:r>
          </a:p>
        </p:txBody>
      </p:sp>
      <p:sp>
        <p:nvSpPr>
          <p:cNvPr id="65" name="TextBox 64"/>
          <p:cNvSpPr txBox="1"/>
          <p:nvPr/>
        </p:nvSpPr>
        <p:spPr>
          <a:xfrm>
            <a:off x="8458200" y="4462272"/>
            <a:ext cx="3108960" cy="228600"/>
          </a:xfrm>
          <a:prstGeom prst="rect">
            <a:avLst/>
          </a:prstGeom>
          <a:noFill/>
        </p:spPr>
        <p:txBody>
          <a:bodyPr wrap="square"/>
          <a:lstStyle/>
          <a:p>
            <a:pPr algn="l">
              <a:defRPr sz="900" b="0" i="0">
                <a:solidFill>
                  <a:srgbClr val="888580"/>
                </a:solidFill>
                <a:latin typeface="Calibri"/>
              </a:defRPr>
            </a:pPr>
            <a:r>
              <a:t>April 2017</a:t>
            </a:r>
          </a:p>
        </p:txBody>
      </p:sp>
      <p:sp>
        <p:nvSpPr>
          <p:cNvPr id="66" name="TextBox 65"/>
          <p:cNvSpPr txBox="1"/>
          <p:nvPr/>
        </p:nvSpPr>
        <p:spPr>
          <a:xfrm>
            <a:off x="8458200" y="4754880"/>
            <a:ext cx="3108960" cy="1371600"/>
          </a:xfrm>
          <a:prstGeom prst="rect">
            <a:avLst/>
          </a:prstGeom>
          <a:noFill/>
        </p:spPr>
        <p:txBody>
          <a:bodyPr wrap="square"/>
          <a:lstStyle/>
          <a:p>
            <a:pPr algn="l">
              <a:lnSpc>
                <a:spcPts val="1400"/>
              </a:lnSpc>
              <a:defRPr sz="900" b="0" i="0">
                <a:solidFill>
                  <a:srgbClr val="4A4A4A"/>
                </a:solidFill>
                <a:latin typeface="Calibri"/>
              </a:defRPr>
            </a:pPr>
            <a:r>
              <a:t>Featured as one of Thailand's most tech-obsessed early adopters. The article covered a wide range of interests from custom-built drones and smart home IoT setups to AI experiments and Iron Man armour builds — all driven by a childhood obsession with sci-fi.</a:t>
            </a:r>
          </a:p>
        </p:txBody>
      </p:sp>
      <p:sp>
        <p:nvSpPr>
          <p:cNvPr id="67" name="Rectangle 66"/>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0" name="TextBox 69"/>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365760"/>
            <a:ext cx="7315200" cy="274320"/>
          </a:xfrm>
          <a:prstGeom prst="rect">
            <a:avLst/>
          </a:prstGeom>
          <a:noFill/>
        </p:spPr>
        <p:txBody>
          <a:bodyPr wrap="square"/>
          <a:lstStyle/>
          <a:p>
            <a:pPr algn="l">
              <a:defRPr sz="1000" b="1" i="0">
                <a:solidFill>
                  <a:srgbClr val="555555"/>
                </a:solidFill>
                <a:latin typeface="Calibri"/>
              </a:defRPr>
            </a:pPr>
            <a:r>
              <a:t>07  —  VIDEO EVIDENCE</a:t>
            </a:r>
          </a:p>
        </p:txBody>
      </p:sp>
      <p:sp>
        <p:nvSpPr>
          <p:cNvPr id="41" name="TextBox 40"/>
          <p:cNvSpPr txBox="1"/>
          <p:nvPr/>
        </p:nvSpPr>
        <p:spPr>
          <a:xfrm>
            <a:off x="731520" y="777240"/>
            <a:ext cx="9144000" cy="548640"/>
          </a:xfrm>
          <a:prstGeom prst="rect">
            <a:avLst/>
          </a:prstGeom>
          <a:noFill/>
        </p:spPr>
        <p:txBody>
          <a:bodyPr wrap="square"/>
          <a:lstStyle/>
          <a:p>
            <a:pPr algn="l">
              <a:defRPr sz="4200" b="1" i="0">
                <a:solidFill>
                  <a:srgbClr val="FFFFFF"/>
                </a:solidFill>
                <a:latin typeface="Arial Black"/>
              </a:defRPr>
            </a:pPr>
            <a:r>
              <a:t>Watch Me</a:t>
            </a:r>
          </a:p>
        </p:txBody>
      </p:sp>
      <p:sp>
        <p:nvSpPr>
          <p:cNvPr id="42" name="TextBox 41"/>
          <p:cNvSpPr txBox="1"/>
          <p:nvPr/>
        </p:nvSpPr>
        <p:spPr>
          <a:xfrm>
            <a:off x="731520" y="1371600"/>
            <a:ext cx="9144000" cy="457200"/>
          </a:xfrm>
          <a:prstGeom prst="rect">
            <a:avLst/>
          </a:prstGeom>
          <a:noFill/>
        </p:spPr>
        <p:txBody>
          <a:bodyPr wrap="square"/>
          <a:lstStyle/>
          <a:p>
            <a:pPr algn="l">
              <a:defRPr sz="4200" b="1" i="0">
                <a:solidFill>
                  <a:srgbClr val="CC0011"/>
                </a:solidFill>
                <a:latin typeface="Arial Black"/>
              </a:defRPr>
            </a:pPr>
            <a:r>
              <a:t>On Stage</a:t>
            </a:r>
          </a:p>
        </p:txBody>
      </p:sp>
      <p:sp>
        <p:nvSpPr>
          <p:cNvPr id="43" name="Rectangle 42"/>
          <p:cNvSpPr/>
          <p:nvPr/>
        </p:nvSpPr>
        <p:spPr>
          <a:xfrm>
            <a:off x="731520" y="201168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2959"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88719" y="3291840"/>
            <a:ext cx="2331720" cy="365760"/>
          </a:xfrm>
          <a:prstGeom prst="rect">
            <a:avLst/>
          </a:prstGeom>
          <a:noFill/>
        </p:spPr>
        <p:txBody>
          <a:bodyPr wrap="square"/>
          <a:lstStyle/>
          <a:p>
            <a:pPr algn="ctr">
              <a:defRPr sz="1000" b="0" i="0">
                <a:solidFill>
                  <a:srgbClr val="444444"/>
                </a:solidFill>
                <a:latin typeface="Calibri"/>
              </a:defRPr>
            </a:pPr>
            <a:r>
              <a:t>[ VIDEO THUMBNAIL ]</a:t>
            </a:r>
          </a:p>
        </p:txBody>
      </p:sp>
      <p:sp>
        <p:nvSpPr>
          <p:cNvPr id="48" name="TextBox 47"/>
          <p:cNvSpPr txBox="1"/>
          <p:nvPr/>
        </p:nvSpPr>
        <p:spPr>
          <a:xfrm>
            <a:off x="822959" y="4617720"/>
            <a:ext cx="3063240" cy="274320"/>
          </a:xfrm>
          <a:prstGeom prst="rect">
            <a:avLst/>
          </a:prstGeom>
          <a:noFill/>
        </p:spPr>
        <p:txBody>
          <a:bodyPr wrap="square"/>
          <a:lstStyle/>
          <a:p>
            <a:pPr algn="l">
              <a:defRPr sz="1200" b="1" i="0">
                <a:solidFill>
                  <a:srgbClr val="FFFFFF"/>
                </a:solidFill>
                <a:latin typeface="Calibri"/>
              </a:defRPr>
            </a:pPr>
            <a:r>
              <a:t>PostToday Crypto Forum 2021</a:t>
            </a:r>
          </a:p>
        </p:txBody>
      </p:sp>
      <p:sp>
        <p:nvSpPr>
          <p:cNvPr id="49" name="TextBox 48"/>
          <p:cNvSpPr txBox="1"/>
          <p:nvPr/>
        </p:nvSpPr>
        <p:spPr>
          <a:xfrm>
            <a:off x="822959" y="4892040"/>
            <a:ext cx="3063240" cy="182880"/>
          </a:xfrm>
          <a:prstGeom prst="rect">
            <a:avLst/>
          </a:prstGeom>
          <a:noFill/>
        </p:spPr>
        <p:txBody>
          <a:bodyPr wrap="square"/>
          <a:lstStyle/>
          <a:p>
            <a:pPr algn="l">
              <a:defRPr sz="700" b="1" i="0">
                <a:solidFill>
                  <a:srgbClr val="CC0011"/>
                </a:solidFill>
                <a:latin typeface="Calibri"/>
              </a:defRPr>
            </a:pPr>
            <a:r>
              <a:t>PANEL SPEAKER  ·  LIVE BROADCAST  ·  2,000-3,000 LIVE VIEWERS</a:t>
            </a:r>
          </a:p>
        </p:txBody>
      </p:sp>
      <p:sp>
        <p:nvSpPr>
          <p:cNvPr id="50" name="TextBox 49"/>
          <p:cNvSpPr txBox="1"/>
          <p:nvPr/>
        </p:nvSpPr>
        <p:spPr>
          <a:xfrm>
            <a:off x="822959" y="5074920"/>
            <a:ext cx="3063240" cy="228600"/>
          </a:xfrm>
          <a:prstGeom prst="rect">
            <a:avLst/>
          </a:prstGeom>
          <a:noFill/>
        </p:spPr>
        <p:txBody>
          <a:bodyPr wrap="square"/>
          <a:lstStyle/>
          <a:p>
            <a:pPr algn="l">
              <a:defRPr sz="900" b="0" i="0">
                <a:solidFill>
                  <a:srgbClr val="888888"/>
                </a:solidFill>
                <a:latin typeface="Calibri"/>
              </a:defRPr>
            </a:pPr>
            <a:r>
              <a:t>500+ views  ·  youtube.com/watch?v=Zdm3ES3LZi4</a:t>
            </a:r>
          </a:p>
        </p:txBody>
      </p:sp>
      <p:sp>
        <p:nvSpPr>
          <p:cNvPr id="51" name="Rectangle 50"/>
          <p:cNvSpPr/>
          <p:nvPr/>
        </p:nvSpPr>
        <p:spPr>
          <a:xfrm>
            <a:off x="434340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34340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26280"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892040" y="3291840"/>
            <a:ext cx="2331720" cy="365760"/>
          </a:xfrm>
          <a:prstGeom prst="rect">
            <a:avLst/>
          </a:prstGeom>
          <a:noFill/>
        </p:spPr>
        <p:txBody>
          <a:bodyPr wrap="square"/>
          <a:lstStyle/>
          <a:p>
            <a:pPr algn="ctr">
              <a:defRPr sz="1000" b="0" i="0">
                <a:solidFill>
                  <a:srgbClr val="444444"/>
                </a:solidFill>
                <a:latin typeface="Calibri"/>
              </a:defRPr>
            </a:pPr>
            <a:r>
              <a:t>[ VIDEO THUMBNAIL ]</a:t>
            </a:r>
          </a:p>
        </p:txBody>
      </p:sp>
      <p:sp>
        <p:nvSpPr>
          <p:cNvPr id="55" name="TextBox 54"/>
          <p:cNvSpPr txBox="1"/>
          <p:nvPr/>
        </p:nvSpPr>
        <p:spPr>
          <a:xfrm>
            <a:off x="4526280" y="4617720"/>
            <a:ext cx="3063240" cy="274320"/>
          </a:xfrm>
          <a:prstGeom prst="rect">
            <a:avLst/>
          </a:prstGeom>
          <a:noFill/>
        </p:spPr>
        <p:txBody>
          <a:bodyPr wrap="square"/>
          <a:lstStyle/>
          <a:p>
            <a:pPr algn="l">
              <a:defRPr sz="1200" b="1" i="0">
                <a:solidFill>
                  <a:srgbClr val="FFFFFF"/>
                </a:solidFill>
                <a:latin typeface="Calibri"/>
              </a:defRPr>
            </a:pPr>
            <a:r>
              <a:t>Comedy Stage Play</a:t>
            </a:r>
          </a:p>
        </p:txBody>
      </p:sp>
      <p:sp>
        <p:nvSpPr>
          <p:cNvPr id="56" name="TextBox 55"/>
          <p:cNvSpPr txBox="1"/>
          <p:nvPr/>
        </p:nvSpPr>
        <p:spPr>
          <a:xfrm>
            <a:off x="4526280" y="4892040"/>
            <a:ext cx="3063240" cy="182880"/>
          </a:xfrm>
          <a:prstGeom prst="rect">
            <a:avLst/>
          </a:prstGeom>
          <a:noFill/>
        </p:spPr>
        <p:txBody>
          <a:bodyPr wrap="square"/>
          <a:lstStyle/>
          <a:p>
            <a:pPr algn="l">
              <a:defRPr sz="800" b="1" i="0">
                <a:solidFill>
                  <a:srgbClr val="CC0011"/>
                </a:solidFill>
                <a:latin typeface="Calibri"/>
              </a:defRPr>
            </a:pPr>
            <a:r>
              <a:t>LEAD ROLE  ·  100+ AUDIENCE  ·  2.5 HRS</a:t>
            </a:r>
          </a:p>
        </p:txBody>
      </p:sp>
      <p:sp>
        <p:nvSpPr>
          <p:cNvPr id="57" name="TextBox 56"/>
          <p:cNvSpPr txBox="1"/>
          <p:nvPr/>
        </p:nvSpPr>
        <p:spPr>
          <a:xfrm>
            <a:off x="4526280" y="5074920"/>
            <a:ext cx="3063240" cy="228600"/>
          </a:xfrm>
          <a:prstGeom prst="rect">
            <a:avLst/>
          </a:prstGeom>
          <a:noFill/>
        </p:spPr>
        <p:txBody>
          <a:bodyPr wrap="square"/>
          <a:lstStyle/>
          <a:p>
            <a:pPr algn="l">
              <a:defRPr sz="900" b="0" i="0">
                <a:solidFill>
                  <a:srgbClr val="888888"/>
                </a:solidFill>
                <a:latin typeface="Calibri"/>
              </a:defRPr>
            </a:pPr>
            <a:r>
              <a:t>400+ views  ·  youtube.com/watch?v=T4SuexR4Sfs</a:t>
            </a:r>
          </a:p>
        </p:txBody>
      </p:sp>
      <p:sp>
        <p:nvSpPr>
          <p:cNvPr id="58" name="Rectangle 57"/>
          <p:cNvSpPr/>
          <p:nvPr/>
        </p:nvSpPr>
        <p:spPr>
          <a:xfrm>
            <a:off x="804672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04672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29600"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95360" y="3291840"/>
            <a:ext cx="2331720" cy="365760"/>
          </a:xfrm>
          <a:prstGeom prst="rect">
            <a:avLst/>
          </a:prstGeom>
          <a:noFill/>
        </p:spPr>
        <p:txBody>
          <a:bodyPr wrap="square"/>
          <a:lstStyle/>
          <a:p>
            <a:pPr algn="ctr">
              <a:defRPr sz="1000" b="0" i="0">
                <a:solidFill>
                  <a:srgbClr val="444444"/>
                </a:solidFill>
                <a:latin typeface="Calibri"/>
              </a:defRPr>
            </a:pPr>
            <a:r>
              <a:t>[ VIDEO THUMBNAIL ]</a:t>
            </a:r>
          </a:p>
        </p:txBody>
      </p:sp>
      <p:sp>
        <p:nvSpPr>
          <p:cNvPr id="62" name="TextBox 61"/>
          <p:cNvSpPr txBox="1"/>
          <p:nvPr/>
        </p:nvSpPr>
        <p:spPr>
          <a:xfrm>
            <a:off x="8229600" y="4617720"/>
            <a:ext cx="3063240" cy="274320"/>
          </a:xfrm>
          <a:prstGeom prst="rect">
            <a:avLst/>
          </a:prstGeom>
          <a:noFill/>
        </p:spPr>
        <p:txBody>
          <a:bodyPr wrap="square"/>
          <a:lstStyle/>
          <a:p>
            <a:pPr algn="l">
              <a:defRPr sz="1200" b="1" i="0">
                <a:solidFill>
                  <a:srgbClr val="FFFFFF"/>
                </a:solidFill>
                <a:latin typeface="Calibri"/>
              </a:defRPr>
            </a:pPr>
            <a:r>
              <a:t>Koh AR — Island Tour Demo</a:t>
            </a:r>
          </a:p>
        </p:txBody>
      </p:sp>
      <p:sp>
        <p:nvSpPr>
          <p:cNvPr id="63" name="TextBox 62"/>
          <p:cNvSpPr txBox="1"/>
          <p:nvPr/>
        </p:nvSpPr>
        <p:spPr>
          <a:xfrm>
            <a:off x="8229600" y="4892040"/>
            <a:ext cx="3063240" cy="182880"/>
          </a:xfrm>
          <a:prstGeom prst="rect">
            <a:avLst/>
          </a:prstGeom>
          <a:noFill/>
        </p:spPr>
        <p:txBody>
          <a:bodyPr wrap="square"/>
          <a:lstStyle/>
          <a:p>
            <a:pPr algn="l">
              <a:defRPr sz="800" b="1" i="0">
                <a:solidFill>
                  <a:srgbClr val="CC0011"/>
                </a:solidFill>
                <a:latin typeface="Calibri"/>
              </a:defRPr>
            </a:pPr>
            <a:r>
              <a:t>AR ISLAND EXPERIENCE  ·  NIANTIC LIGHTSHIP</a:t>
            </a:r>
          </a:p>
        </p:txBody>
      </p:sp>
      <p:sp>
        <p:nvSpPr>
          <p:cNvPr id="64" name="TextBox 63"/>
          <p:cNvSpPr txBox="1"/>
          <p:nvPr/>
        </p:nvSpPr>
        <p:spPr>
          <a:xfrm>
            <a:off x="8229600" y="5074920"/>
            <a:ext cx="3063240" cy="228600"/>
          </a:xfrm>
          <a:prstGeom prst="rect">
            <a:avLst/>
          </a:prstGeom>
          <a:noFill/>
        </p:spPr>
        <p:txBody>
          <a:bodyPr wrap="square"/>
          <a:lstStyle/>
          <a:p>
            <a:pPr algn="l">
              <a:defRPr sz="900" b="0" i="0">
                <a:solidFill>
                  <a:srgbClr val="888888"/>
                </a:solidFill>
                <a:latin typeface="Calibri"/>
              </a:defRPr>
            </a:pPr>
            <a:r>
              <a:t>300+ views  ·  facebook.com/BaanARVR/videos</a:t>
            </a:r>
          </a:p>
        </p:txBody>
      </p:sp>
      <p:sp>
        <p:nvSpPr>
          <p:cNvPr id="65" name="Rectangle 64"/>
          <p:cNvSpPr/>
          <p:nvPr/>
        </p:nvSpPr>
        <p:spPr>
          <a:xfrm>
            <a:off x="640080" y="6446520"/>
            <a:ext cx="365760" cy="1828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51560" y="6446520"/>
            <a:ext cx="1046988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6537959"/>
            <a:ext cx="4572000" cy="228600"/>
          </a:xfrm>
          <a:prstGeom prst="rect">
            <a:avLst/>
          </a:prstGeom>
          <a:noFill/>
        </p:spPr>
        <p:txBody>
          <a:bodyPr wrap="square"/>
          <a:lstStyle/>
          <a:p>
            <a:pPr algn="l">
              <a:defRPr sz="800" b="1" i="0">
                <a:solidFill>
                  <a:srgbClr val="555555"/>
                </a:solidFill>
                <a:latin typeface="Calibri"/>
              </a:defRPr>
            </a:pPr>
            <a:r>
              <a:t>AUGMA IMAGINARIUM  |  PRESS KIT 2026</a:t>
            </a:r>
          </a:p>
        </p:txBody>
      </p:sp>
      <p:sp>
        <p:nvSpPr>
          <p:cNvPr id="68" name="TextBox 67"/>
          <p:cNvSpPr txBox="1"/>
          <p:nvPr/>
        </p:nvSpPr>
        <p:spPr>
          <a:xfrm>
            <a:off x="8321040" y="6537959"/>
            <a:ext cx="3200400" cy="228600"/>
          </a:xfrm>
          <a:prstGeom prst="rect">
            <a:avLst/>
          </a:prstGeom>
          <a:noFill/>
        </p:spPr>
        <p:txBody>
          <a:bodyPr wrap="square"/>
          <a:lstStyle/>
          <a:p>
            <a:pPr algn="r">
              <a:defRPr sz="800" b="0" i="0">
                <a:solidFill>
                  <a:srgbClr val="555555"/>
                </a:solidFill>
                <a:latin typeface="Calibri"/>
              </a:defRPr>
            </a:pPr>
            <a:r>
              <a:t>mlhariras.tongyai@gmail.com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07  —  PHILOSOPHY</a:t>
            </a:r>
          </a:p>
        </p:txBody>
      </p:sp>
      <p:sp>
        <p:nvSpPr>
          <p:cNvPr id="3" name="Rectangle 2"/>
          <p:cNvSpPr/>
          <p:nvPr/>
        </p:nvSpPr>
        <p:spPr>
          <a:xfrm>
            <a:off x="731520" y="685800"/>
            <a:ext cx="1010412"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5486400" cy="548640"/>
          </a:xfrm>
          <a:prstGeom prst="rect">
            <a:avLst/>
          </a:prstGeom>
          <a:noFill/>
        </p:spPr>
        <p:txBody>
          <a:bodyPr wrap="square"/>
          <a:lstStyle/>
          <a:p>
            <a:pPr algn="l">
              <a:defRPr sz="4400" b="1" i="0">
                <a:solidFill>
                  <a:srgbClr val="1A1A1A"/>
                </a:solidFill>
                <a:latin typeface="Arial Black"/>
              </a:defRPr>
            </a:pPr>
            <a:r>
              <a:t>Digital Creator</a:t>
            </a:r>
          </a:p>
        </p:txBody>
      </p:sp>
      <p:sp>
        <p:nvSpPr>
          <p:cNvPr id="5" name="TextBox 4"/>
          <p:cNvSpPr txBox="1"/>
          <p:nvPr/>
        </p:nvSpPr>
        <p:spPr>
          <a:xfrm>
            <a:off x="731520" y="1645920"/>
            <a:ext cx="5029200" cy="2926080"/>
          </a:xfrm>
          <a:prstGeom prst="rect">
            <a:avLst/>
          </a:prstGeom>
          <a:noFill/>
        </p:spPr>
        <p:txBody>
          <a:bodyPr wrap="square"/>
          <a:lstStyle/>
          <a:p>
            <a:pPr algn="l">
              <a:lnSpc>
                <a:spcPts val="2000"/>
              </a:lnSpc>
              <a:defRPr sz="1200" b="0" i="0">
                <a:solidFill>
                  <a:srgbClr val="4A4A4A"/>
                </a:solidFill>
                <a:latin typeface="Calibri"/>
              </a:defRPr>
            </a:pPr>
            <a:r>
              <a:t>Iron Man was my identity crutch — it gave a 14-year-old kid purpose. The Extremis mindset — test-pilot the future — carried me through everything I built.</a:t>
            </a:r>
            <a:br/>
            <a:br/>
            <a:r>
              <a:t>It took burning out in both tech and climbing to finally see it. Neither was my true passion. My real passion is growing communities and helping others connect — giving people a place to belong, a space to be themselves. That's the thread running through every project I ever built. The tech and the climbing were just vehicles. Community was always the destination.</a:t>
            </a:r>
            <a:br/>
            <a:br/>
            <a:r>
              <a:t>In March 2026, I lost my mother. And every project I'd built suddenly made sense. Augma Imaginarium is my latest chapter — building spaces where people reconnect.</a:t>
            </a:r>
          </a:p>
        </p:txBody>
      </p:sp>
      <p:sp>
        <p:nvSpPr>
          <p:cNvPr id="6" name="Rectangle 5"/>
          <p:cNvSpPr/>
          <p:nvPr/>
        </p:nvSpPr>
        <p:spPr>
          <a:xfrm>
            <a:off x="731520" y="4709160"/>
            <a:ext cx="36576" cy="7315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4617720"/>
            <a:ext cx="4754880" cy="457200"/>
          </a:xfrm>
          <a:prstGeom prst="rect">
            <a:avLst/>
          </a:prstGeom>
          <a:noFill/>
        </p:spPr>
        <p:txBody>
          <a:bodyPr wrap="square"/>
          <a:lstStyle/>
          <a:p>
            <a:pPr algn="l">
              <a:defRPr sz="1800" b="1" i="1">
                <a:solidFill>
                  <a:srgbClr val="1A1A1A"/>
                </a:solidFill>
                <a:latin typeface="Calibri"/>
              </a:defRPr>
            </a:pPr>
            <a:r>
              <a:t>"Test-pilot the future."</a:t>
            </a:r>
          </a:p>
        </p:txBody>
      </p:sp>
      <p:sp>
        <p:nvSpPr>
          <p:cNvPr id="8" name="TextBox 7"/>
          <p:cNvSpPr txBox="1"/>
          <p:nvPr/>
        </p:nvSpPr>
        <p:spPr>
          <a:xfrm>
            <a:off x="1005840" y="4937760"/>
            <a:ext cx="4754880" cy="274320"/>
          </a:xfrm>
          <a:prstGeom prst="rect">
            <a:avLst/>
          </a:prstGeom>
          <a:noFill/>
        </p:spPr>
        <p:txBody>
          <a:bodyPr wrap="square"/>
          <a:lstStyle/>
          <a:p>
            <a:pPr algn="l">
              <a:defRPr sz="1000" b="0" i="1">
                <a:solidFill>
                  <a:srgbClr val="888580"/>
                </a:solidFill>
                <a:latin typeface="Calibri"/>
              </a:defRPr>
            </a:pPr>
            <a:r>
              <a:t>— Inspired by Iron Man: Extremis</a:t>
            </a:r>
          </a:p>
        </p:txBody>
      </p:sp>
      <p:sp>
        <p:nvSpPr>
          <p:cNvPr id="9" name="Rectangle 8"/>
          <p:cNvSpPr/>
          <p:nvPr/>
        </p:nvSpPr>
        <p:spPr>
          <a:xfrm>
            <a:off x="731520" y="5394960"/>
            <a:ext cx="36576" cy="7315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303520"/>
            <a:ext cx="4754880" cy="914400"/>
          </a:xfrm>
          <a:prstGeom prst="rect">
            <a:avLst/>
          </a:prstGeom>
          <a:noFill/>
        </p:spPr>
        <p:txBody>
          <a:bodyPr wrap="square"/>
          <a:lstStyle/>
          <a:p>
            <a:pPr algn="l">
              <a:lnSpc>
                <a:spcPts val="1800"/>
              </a:lnSpc>
              <a:defRPr sz="1100" b="1" i="1">
                <a:solidFill>
                  <a:srgbClr val="4A4A4A"/>
                </a:solidFill>
                <a:latin typeface="Calibri"/>
              </a:defRPr>
            </a:pPr>
            <a:r>
              <a:t>"XR allows us to build our wildest dreams digitally. Why adhere to reality</a:t>
            </a:r>
            <a:br/>
            <a:r>
              <a:t>when we can just create our own and share them with each other."</a:t>
            </a:r>
          </a:p>
        </p:txBody>
      </p:sp>
      <p:sp>
        <p:nvSpPr>
          <p:cNvPr id="11" name="Rectangle 10"/>
          <p:cNvSpPr/>
          <p:nvPr/>
        </p:nvSpPr>
        <p:spPr>
          <a:xfrm>
            <a:off x="6400800" y="731520"/>
            <a:ext cx="5303520" cy="52120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2926080"/>
            <a:ext cx="3474720" cy="365760"/>
          </a:xfrm>
          <a:prstGeom prst="rect">
            <a:avLst/>
          </a:prstGeom>
          <a:noFill/>
        </p:spPr>
        <p:txBody>
          <a:bodyPr wrap="square"/>
          <a:lstStyle/>
          <a:p>
            <a:pPr algn="ctr">
              <a:defRPr sz="1400" b="0" i="0">
                <a:solidFill>
                  <a:srgbClr val="AAA7A2"/>
                </a:solidFill>
                <a:latin typeface="Calibri"/>
              </a:defRPr>
            </a:pPr>
            <a:r>
              <a:t>[ CREATIVE PORTRAIT ]</a:t>
            </a:r>
          </a:p>
        </p:txBody>
      </p:sp>
      <p:sp>
        <p:nvSpPr>
          <p:cNvPr id="13" name="Rectangle 12"/>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16" name="TextBox 15"/>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09  —  VENTURES</a:t>
            </a:r>
          </a:p>
        </p:txBody>
      </p:sp>
      <p:sp>
        <p:nvSpPr>
          <p:cNvPr id="41" name="Rectangle 40"/>
          <p:cNvSpPr/>
          <p:nvPr/>
        </p:nvSpPr>
        <p:spPr>
          <a:xfrm>
            <a:off x="731520" y="685800"/>
            <a:ext cx="89154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48640"/>
          </a:xfrm>
          <a:prstGeom prst="rect">
            <a:avLst/>
          </a:prstGeom>
          <a:noFill/>
        </p:spPr>
        <p:txBody>
          <a:bodyPr wrap="square"/>
          <a:lstStyle/>
          <a:p>
            <a:pPr algn="l">
              <a:defRPr sz="3600" b="1" i="0">
                <a:solidFill>
                  <a:srgbClr val="1A1A1A"/>
                </a:solidFill>
                <a:latin typeface="Arial Black"/>
              </a:defRPr>
            </a:pPr>
            <a:r>
              <a:t>Founded Organisations</a:t>
            </a:r>
          </a:p>
        </p:txBody>
      </p:sp>
      <p:sp>
        <p:nvSpPr>
          <p:cNvPr id="43" name="Rectangle 42"/>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55448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554480" y="2103120"/>
            <a:ext cx="1737360" cy="274320"/>
          </a:xfrm>
          <a:prstGeom prst="rect">
            <a:avLst/>
          </a:prstGeom>
          <a:noFill/>
        </p:spPr>
        <p:txBody>
          <a:bodyPr wrap="square"/>
          <a:lstStyle/>
          <a:p>
            <a:pPr algn="ctr">
              <a:defRPr sz="900" b="0" i="0">
                <a:solidFill>
                  <a:srgbClr val="AAA7A2"/>
                </a:solidFill>
                <a:latin typeface="Calibri"/>
              </a:defRPr>
            </a:pPr>
            <a:r>
              <a:t>[ LOGO ]</a:t>
            </a:r>
          </a:p>
        </p:txBody>
      </p:sp>
      <p:sp>
        <p:nvSpPr>
          <p:cNvPr id="46" name="TextBox 45"/>
          <p:cNvSpPr txBox="1"/>
          <p:nvPr/>
        </p:nvSpPr>
        <p:spPr>
          <a:xfrm>
            <a:off x="868680" y="3063240"/>
            <a:ext cx="3108960" cy="320040"/>
          </a:xfrm>
          <a:prstGeom prst="rect">
            <a:avLst/>
          </a:prstGeom>
          <a:noFill/>
        </p:spPr>
        <p:txBody>
          <a:bodyPr wrap="square"/>
          <a:lstStyle/>
          <a:p>
            <a:pPr algn="l">
              <a:defRPr sz="1600" b="1" i="0">
                <a:solidFill>
                  <a:srgbClr val="1A1A1A"/>
                </a:solidFill>
                <a:latin typeface="Arial Black"/>
              </a:defRPr>
            </a:pPr>
            <a:r>
              <a:t>AUGMA IMAGINARIUM</a:t>
            </a:r>
          </a:p>
        </p:txBody>
      </p:sp>
      <p:sp>
        <p:nvSpPr>
          <p:cNvPr id="47" name="TextBox 46"/>
          <p:cNvSpPr txBox="1"/>
          <p:nvPr/>
        </p:nvSpPr>
        <p:spPr>
          <a:xfrm>
            <a:off x="868680" y="3401568"/>
            <a:ext cx="3108960" cy="228600"/>
          </a:xfrm>
          <a:prstGeom prst="rect">
            <a:avLst/>
          </a:prstGeom>
          <a:noFill/>
        </p:spPr>
        <p:txBody>
          <a:bodyPr wrap="square"/>
          <a:lstStyle/>
          <a:p>
            <a:pPr algn="l">
              <a:defRPr sz="900" b="1" i="0">
                <a:solidFill>
                  <a:srgbClr val="CC0011"/>
                </a:solidFill>
                <a:latin typeface="Calibri"/>
              </a:defRPr>
            </a:pPr>
            <a:r>
              <a:t>2024  —  XR DEVELOPER STUDIO</a:t>
            </a:r>
          </a:p>
        </p:txBody>
      </p:sp>
      <p:sp>
        <p:nvSpPr>
          <p:cNvPr id="48" name="TextBox 47"/>
          <p:cNvSpPr txBox="1"/>
          <p:nvPr/>
        </p:nvSpPr>
        <p:spPr>
          <a:xfrm>
            <a:off x="868680" y="3749039"/>
            <a:ext cx="3108960" cy="1828800"/>
          </a:xfrm>
          <a:prstGeom prst="rect">
            <a:avLst/>
          </a:prstGeom>
          <a:noFill/>
        </p:spPr>
        <p:txBody>
          <a:bodyPr wrap="square"/>
          <a:lstStyle/>
          <a:p>
            <a:pPr algn="l">
              <a:lnSpc>
                <a:spcPts val="1400"/>
              </a:lnSpc>
              <a:defRPr sz="900" b="0" i="0">
                <a:solidFill>
                  <a:srgbClr val="4A4A4A"/>
                </a:solidFill>
                <a:latin typeface="Calibri"/>
              </a:defRPr>
            </a:pPr>
            <a:r>
              <a:t>Bangkok-based XR developer studio specialising in augmented reality, virtual reality, spatial computing, and gamification experiences. We build for brands, events, tourism, retail, healthcare, and enterprise — wherever an immersive layer can transform the way people engage. Our work spans Koh AR, Augmented BKK, and commercial AR activations.</a:t>
            </a:r>
          </a:p>
        </p:txBody>
      </p:sp>
      <p:sp>
        <p:nvSpPr>
          <p:cNvPr id="49" name="Rectangle 48"/>
          <p:cNvSpPr/>
          <p:nvPr/>
        </p:nvSpPr>
        <p:spPr>
          <a:xfrm>
            <a:off x="868680" y="5349240"/>
            <a:ext cx="31089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8680" y="5440680"/>
            <a:ext cx="1005840" cy="164592"/>
          </a:xfrm>
          <a:prstGeom prst="rect">
            <a:avLst/>
          </a:prstGeom>
          <a:noFill/>
        </p:spPr>
        <p:txBody>
          <a:bodyPr wrap="square"/>
          <a:lstStyle/>
          <a:p>
            <a:pPr algn="l">
              <a:defRPr sz="700" b="1" i="0">
                <a:solidFill>
                  <a:srgbClr val="888580"/>
                </a:solidFill>
                <a:latin typeface="Calibri"/>
              </a:defRPr>
            </a:pPr>
            <a:r>
              <a:t>FOCUS</a:t>
            </a:r>
          </a:p>
        </p:txBody>
      </p:sp>
      <p:sp>
        <p:nvSpPr>
          <p:cNvPr id="51" name="TextBox 50"/>
          <p:cNvSpPr txBox="1"/>
          <p:nvPr/>
        </p:nvSpPr>
        <p:spPr>
          <a:xfrm>
            <a:off x="868680" y="5605272"/>
            <a:ext cx="1097280" cy="228600"/>
          </a:xfrm>
          <a:prstGeom prst="rect">
            <a:avLst/>
          </a:prstGeom>
          <a:noFill/>
        </p:spPr>
        <p:txBody>
          <a:bodyPr wrap="square"/>
          <a:lstStyle/>
          <a:p>
            <a:pPr algn="l">
              <a:defRPr sz="700" b="1" i="0">
                <a:solidFill>
                  <a:srgbClr val="1A1A1A"/>
                </a:solidFill>
                <a:latin typeface="Calibri"/>
              </a:defRPr>
            </a:pPr>
            <a:r>
              <a:t>AR  ·  VR  ·  MR</a:t>
            </a:r>
          </a:p>
        </p:txBody>
      </p:sp>
      <p:sp>
        <p:nvSpPr>
          <p:cNvPr id="52" name="TextBox 51"/>
          <p:cNvSpPr txBox="1"/>
          <p:nvPr/>
        </p:nvSpPr>
        <p:spPr>
          <a:xfrm>
            <a:off x="1920239" y="5440680"/>
            <a:ext cx="1005840" cy="164592"/>
          </a:xfrm>
          <a:prstGeom prst="rect">
            <a:avLst/>
          </a:prstGeom>
          <a:noFill/>
        </p:spPr>
        <p:txBody>
          <a:bodyPr wrap="square"/>
          <a:lstStyle/>
          <a:p>
            <a:pPr algn="l">
              <a:defRPr sz="700" b="1" i="0">
                <a:solidFill>
                  <a:srgbClr val="888580"/>
                </a:solidFill>
                <a:latin typeface="Calibri"/>
              </a:defRPr>
            </a:pPr>
            <a:r>
              <a:t>TECH</a:t>
            </a:r>
          </a:p>
        </p:txBody>
      </p:sp>
      <p:sp>
        <p:nvSpPr>
          <p:cNvPr id="53" name="TextBox 52"/>
          <p:cNvSpPr txBox="1"/>
          <p:nvPr/>
        </p:nvSpPr>
        <p:spPr>
          <a:xfrm>
            <a:off x="1920239" y="5605272"/>
            <a:ext cx="1097280" cy="228600"/>
          </a:xfrm>
          <a:prstGeom prst="rect">
            <a:avLst/>
          </a:prstGeom>
          <a:noFill/>
        </p:spPr>
        <p:txBody>
          <a:bodyPr wrap="square"/>
          <a:lstStyle/>
          <a:p>
            <a:pPr algn="l">
              <a:defRPr sz="700" b="1" i="0">
                <a:solidFill>
                  <a:srgbClr val="1A1A1A"/>
                </a:solidFill>
                <a:latin typeface="Calibri"/>
              </a:defRPr>
            </a:pPr>
            <a:r>
              <a:t>LIGHTSHIP  ·  UNITY</a:t>
            </a:r>
          </a:p>
        </p:txBody>
      </p:sp>
      <p:sp>
        <p:nvSpPr>
          <p:cNvPr id="54" name="TextBox 53"/>
          <p:cNvSpPr txBox="1"/>
          <p:nvPr/>
        </p:nvSpPr>
        <p:spPr>
          <a:xfrm>
            <a:off x="2971800" y="5440680"/>
            <a:ext cx="1005840" cy="164592"/>
          </a:xfrm>
          <a:prstGeom prst="rect">
            <a:avLst/>
          </a:prstGeom>
          <a:noFill/>
        </p:spPr>
        <p:txBody>
          <a:bodyPr wrap="square"/>
          <a:lstStyle/>
          <a:p>
            <a:pPr algn="l">
              <a:defRPr sz="700" b="1" i="0">
                <a:solidFill>
                  <a:srgbClr val="888580"/>
                </a:solidFill>
                <a:latin typeface="Calibri"/>
              </a:defRPr>
            </a:pPr>
            <a:r>
              <a:t>REACH</a:t>
            </a:r>
          </a:p>
        </p:txBody>
      </p:sp>
      <p:sp>
        <p:nvSpPr>
          <p:cNvPr id="55" name="TextBox 54"/>
          <p:cNvSpPr txBox="1"/>
          <p:nvPr/>
        </p:nvSpPr>
        <p:spPr>
          <a:xfrm>
            <a:off x="2971800" y="5605272"/>
            <a:ext cx="1097280" cy="228600"/>
          </a:xfrm>
          <a:prstGeom prst="rect">
            <a:avLst/>
          </a:prstGeom>
          <a:noFill/>
        </p:spPr>
        <p:txBody>
          <a:bodyPr wrap="square"/>
          <a:lstStyle/>
          <a:p>
            <a:pPr algn="l">
              <a:defRPr sz="700" b="1" i="0">
                <a:solidFill>
                  <a:srgbClr val="1A1A1A"/>
                </a:solidFill>
                <a:latin typeface="Calibri"/>
              </a:defRPr>
            </a:pPr>
            <a:r>
              <a:t>SOUTHEAST ASIA</a:t>
            </a:r>
          </a:p>
        </p:txBody>
      </p:sp>
      <p:sp>
        <p:nvSpPr>
          <p:cNvPr id="56" name="Rectangle 55"/>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34924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49240" y="2103120"/>
            <a:ext cx="1737360" cy="274320"/>
          </a:xfrm>
          <a:prstGeom prst="rect">
            <a:avLst/>
          </a:prstGeom>
          <a:noFill/>
        </p:spPr>
        <p:txBody>
          <a:bodyPr wrap="square"/>
          <a:lstStyle/>
          <a:p>
            <a:pPr algn="ctr">
              <a:defRPr sz="900" b="0" i="0">
                <a:solidFill>
                  <a:srgbClr val="AAA7A2"/>
                </a:solidFill>
                <a:latin typeface="Calibri"/>
              </a:defRPr>
            </a:pPr>
            <a:r>
              <a:t>[ LOGO ]</a:t>
            </a:r>
          </a:p>
        </p:txBody>
      </p:sp>
      <p:sp>
        <p:nvSpPr>
          <p:cNvPr id="59" name="TextBox 58"/>
          <p:cNvSpPr txBox="1"/>
          <p:nvPr/>
        </p:nvSpPr>
        <p:spPr>
          <a:xfrm>
            <a:off x="4663440" y="3063240"/>
            <a:ext cx="3108960" cy="320040"/>
          </a:xfrm>
          <a:prstGeom prst="rect">
            <a:avLst/>
          </a:prstGeom>
          <a:noFill/>
        </p:spPr>
        <p:txBody>
          <a:bodyPr wrap="square"/>
          <a:lstStyle/>
          <a:p>
            <a:pPr algn="l">
              <a:defRPr sz="1600" b="1" i="0">
                <a:solidFill>
                  <a:srgbClr val="1A1A1A"/>
                </a:solidFill>
                <a:latin typeface="Arial Black"/>
              </a:defRPr>
            </a:pPr>
            <a:r>
              <a:t>BAAN ARVR</a:t>
            </a:r>
          </a:p>
        </p:txBody>
      </p:sp>
      <p:sp>
        <p:nvSpPr>
          <p:cNvPr id="60" name="TextBox 59"/>
          <p:cNvSpPr txBox="1"/>
          <p:nvPr/>
        </p:nvSpPr>
        <p:spPr>
          <a:xfrm>
            <a:off x="4663440" y="3401568"/>
            <a:ext cx="3108960" cy="228600"/>
          </a:xfrm>
          <a:prstGeom prst="rect">
            <a:avLst/>
          </a:prstGeom>
          <a:noFill/>
        </p:spPr>
        <p:txBody>
          <a:bodyPr wrap="square"/>
          <a:lstStyle/>
          <a:p>
            <a:pPr algn="l">
              <a:defRPr sz="900" b="1" i="0">
                <a:solidFill>
                  <a:srgbClr val="CC0011"/>
                </a:solidFill>
                <a:latin typeface="Calibri"/>
              </a:defRPr>
            </a:pPr>
            <a:r>
              <a:t>2023  —  XR EDUCATION &amp; COMMUNITY</a:t>
            </a:r>
          </a:p>
        </p:txBody>
      </p:sp>
      <p:sp>
        <p:nvSpPr>
          <p:cNvPr id="61" name="TextBox 60"/>
          <p:cNvSpPr txBox="1"/>
          <p:nvPr/>
        </p:nvSpPr>
        <p:spPr>
          <a:xfrm>
            <a:off x="4663440" y="3749039"/>
            <a:ext cx="3108960" cy="1828800"/>
          </a:xfrm>
          <a:prstGeom prst="rect">
            <a:avLst/>
          </a:prstGeom>
          <a:noFill/>
        </p:spPr>
        <p:txBody>
          <a:bodyPr wrap="square"/>
          <a:lstStyle/>
          <a:p>
            <a:pPr algn="l">
              <a:lnSpc>
                <a:spcPts val="1400"/>
              </a:lnSpc>
              <a:defRPr sz="900" b="0" i="0">
                <a:solidFill>
                  <a:srgbClr val="4A4A4A"/>
                </a:solidFill>
                <a:latin typeface="Calibri"/>
              </a:defRPr>
            </a:pPr>
            <a:r>
              <a:t>XR education initiative across 4 schools, retelling Thai traditions with immersive experiences. Conducts roadshows and workshops bringing VR/AR headsets to rural communities. 200+ students certified. Open house events in Nakorn Nayok give kids hands-on experience with cutting-edge tech they might never otherwise encounter.</a:t>
            </a:r>
          </a:p>
        </p:txBody>
      </p:sp>
      <p:sp>
        <p:nvSpPr>
          <p:cNvPr id="62" name="Rectangle 61"/>
          <p:cNvSpPr/>
          <p:nvPr/>
        </p:nvSpPr>
        <p:spPr>
          <a:xfrm>
            <a:off x="4663440" y="5349240"/>
            <a:ext cx="31089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663440" y="5440680"/>
            <a:ext cx="1005840" cy="164592"/>
          </a:xfrm>
          <a:prstGeom prst="rect">
            <a:avLst/>
          </a:prstGeom>
          <a:noFill/>
        </p:spPr>
        <p:txBody>
          <a:bodyPr wrap="square"/>
          <a:lstStyle/>
          <a:p>
            <a:pPr algn="l">
              <a:defRPr sz="700" b="1" i="0">
                <a:solidFill>
                  <a:srgbClr val="888580"/>
                </a:solidFill>
                <a:latin typeface="Calibri"/>
              </a:defRPr>
            </a:pPr>
            <a:r>
              <a:t>EVENTS</a:t>
            </a:r>
          </a:p>
        </p:txBody>
      </p:sp>
      <p:sp>
        <p:nvSpPr>
          <p:cNvPr id="64" name="TextBox 63"/>
          <p:cNvSpPr txBox="1"/>
          <p:nvPr/>
        </p:nvSpPr>
        <p:spPr>
          <a:xfrm>
            <a:off x="4663440" y="5605272"/>
            <a:ext cx="1097280" cy="228600"/>
          </a:xfrm>
          <a:prstGeom prst="rect">
            <a:avLst/>
          </a:prstGeom>
          <a:noFill/>
        </p:spPr>
        <p:txBody>
          <a:bodyPr wrap="square"/>
          <a:lstStyle/>
          <a:p>
            <a:pPr algn="l">
              <a:defRPr sz="700" b="1" i="0">
                <a:solidFill>
                  <a:srgbClr val="1A1A1A"/>
                </a:solidFill>
                <a:latin typeface="Calibri"/>
              </a:defRPr>
            </a:pPr>
            <a:r>
              <a:t>ROADSHOWS  ·  WORKSHOPS</a:t>
            </a:r>
          </a:p>
        </p:txBody>
      </p:sp>
      <p:sp>
        <p:nvSpPr>
          <p:cNvPr id="65" name="TextBox 64"/>
          <p:cNvSpPr txBox="1"/>
          <p:nvPr/>
        </p:nvSpPr>
        <p:spPr>
          <a:xfrm>
            <a:off x="5715000" y="5440680"/>
            <a:ext cx="1005840" cy="164592"/>
          </a:xfrm>
          <a:prstGeom prst="rect">
            <a:avLst/>
          </a:prstGeom>
          <a:noFill/>
        </p:spPr>
        <p:txBody>
          <a:bodyPr wrap="square"/>
          <a:lstStyle/>
          <a:p>
            <a:pPr algn="l">
              <a:defRPr sz="700" b="1" i="0">
                <a:solidFill>
                  <a:srgbClr val="888580"/>
                </a:solidFill>
                <a:latin typeface="Calibri"/>
              </a:defRPr>
            </a:pPr>
            <a:r>
              <a:t>AUDIENCE</a:t>
            </a:r>
          </a:p>
        </p:txBody>
      </p:sp>
      <p:sp>
        <p:nvSpPr>
          <p:cNvPr id="66" name="TextBox 65"/>
          <p:cNvSpPr txBox="1"/>
          <p:nvPr/>
        </p:nvSpPr>
        <p:spPr>
          <a:xfrm>
            <a:off x="5715000" y="5605272"/>
            <a:ext cx="1097280" cy="228600"/>
          </a:xfrm>
          <a:prstGeom prst="rect">
            <a:avLst/>
          </a:prstGeom>
          <a:noFill/>
        </p:spPr>
        <p:txBody>
          <a:bodyPr wrap="square"/>
          <a:lstStyle/>
          <a:p>
            <a:pPr algn="l">
              <a:defRPr sz="700" b="1" i="0">
                <a:solidFill>
                  <a:srgbClr val="1A1A1A"/>
                </a:solidFill>
                <a:latin typeface="Calibri"/>
              </a:defRPr>
            </a:pPr>
            <a:r>
              <a:t>STUDENTS  ·  COMMUNITIES</a:t>
            </a:r>
          </a:p>
        </p:txBody>
      </p:sp>
      <p:sp>
        <p:nvSpPr>
          <p:cNvPr id="67" name="TextBox 66"/>
          <p:cNvSpPr txBox="1"/>
          <p:nvPr/>
        </p:nvSpPr>
        <p:spPr>
          <a:xfrm>
            <a:off x="6766560" y="5440680"/>
            <a:ext cx="1005840" cy="164592"/>
          </a:xfrm>
          <a:prstGeom prst="rect">
            <a:avLst/>
          </a:prstGeom>
          <a:noFill/>
        </p:spPr>
        <p:txBody>
          <a:bodyPr wrap="square"/>
          <a:lstStyle/>
          <a:p>
            <a:pPr algn="l">
              <a:defRPr sz="700" b="1" i="0">
                <a:solidFill>
                  <a:srgbClr val="888580"/>
                </a:solidFill>
                <a:latin typeface="Calibri"/>
              </a:defRPr>
            </a:pPr>
            <a:r>
              <a:t>REGION</a:t>
            </a:r>
          </a:p>
        </p:txBody>
      </p:sp>
      <p:sp>
        <p:nvSpPr>
          <p:cNvPr id="68" name="TextBox 67"/>
          <p:cNvSpPr txBox="1"/>
          <p:nvPr/>
        </p:nvSpPr>
        <p:spPr>
          <a:xfrm>
            <a:off x="6766560" y="5605272"/>
            <a:ext cx="1097280" cy="228600"/>
          </a:xfrm>
          <a:prstGeom prst="rect">
            <a:avLst/>
          </a:prstGeom>
          <a:noFill/>
        </p:spPr>
        <p:txBody>
          <a:bodyPr wrap="square"/>
          <a:lstStyle/>
          <a:p>
            <a:pPr algn="l">
              <a:defRPr sz="700" b="1" i="0">
                <a:solidFill>
                  <a:srgbClr val="1A1A1A"/>
                </a:solidFill>
                <a:latin typeface="Calibri"/>
              </a:defRPr>
            </a:pPr>
            <a:r>
              <a:t>RURAL THAILAND</a:t>
            </a:r>
          </a:p>
        </p:txBody>
      </p:sp>
      <p:sp>
        <p:nvSpPr>
          <p:cNvPr id="69" name="Rectangle 68"/>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14400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0" y="2103120"/>
            <a:ext cx="1737360" cy="274320"/>
          </a:xfrm>
          <a:prstGeom prst="rect">
            <a:avLst/>
          </a:prstGeom>
          <a:noFill/>
        </p:spPr>
        <p:txBody>
          <a:bodyPr wrap="square"/>
          <a:lstStyle/>
          <a:p>
            <a:pPr algn="ctr">
              <a:defRPr sz="900" b="0" i="0">
                <a:solidFill>
                  <a:srgbClr val="AAA7A2"/>
                </a:solidFill>
                <a:latin typeface="Calibri"/>
              </a:defRPr>
            </a:pPr>
            <a:r>
              <a:t>[ LOGO ]</a:t>
            </a:r>
          </a:p>
        </p:txBody>
      </p:sp>
      <p:sp>
        <p:nvSpPr>
          <p:cNvPr id="72" name="TextBox 71"/>
          <p:cNvSpPr txBox="1"/>
          <p:nvPr/>
        </p:nvSpPr>
        <p:spPr>
          <a:xfrm>
            <a:off x="8458200" y="3063240"/>
            <a:ext cx="3108960" cy="320040"/>
          </a:xfrm>
          <a:prstGeom prst="rect">
            <a:avLst/>
          </a:prstGeom>
          <a:noFill/>
        </p:spPr>
        <p:txBody>
          <a:bodyPr wrap="square"/>
          <a:lstStyle/>
          <a:p>
            <a:pPr algn="l">
              <a:defRPr sz="1600" b="1" i="0">
                <a:solidFill>
                  <a:srgbClr val="1A1A1A"/>
                </a:solidFill>
                <a:latin typeface="Arial Black"/>
              </a:defRPr>
            </a:pPr>
            <a:r>
              <a:t>MOTIWATT</a:t>
            </a:r>
          </a:p>
        </p:txBody>
      </p:sp>
      <p:sp>
        <p:nvSpPr>
          <p:cNvPr id="73" name="TextBox 72"/>
          <p:cNvSpPr txBox="1"/>
          <p:nvPr/>
        </p:nvSpPr>
        <p:spPr>
          <a:xfrm>
            <a:off x="8458200" y="3401568"/>
            <a:ext cx="3108960" cy="228600"/>
          </a:xfrm>
          <a:prstGeom prst="rect">
            <a:avLst/>
          </a:prstGeom>
          <a:noFill/>
        </p:spPr>
        <p:txBody>
          <a:bodyPr wrap="square"/>
          <a:lstStyle/>
          <a:p>
            <a:pPr algn="l">
              <a:defRPr sz="900" b="1" i="0">
                <a:solidFill>
                  <a:srgbClr val="CC0011"/>
                </a:solidFill>
                <a:latin typeface="Calibri"/>
              </a:defRPr>
            </a:pPr>
            <a:r>
              <a:t>2021  —  GAMIFIED FITNESS PLATFORM</a:t>
            </a:r>
          </a:p>
        </p:txBody>
      </p:sp>
      <p:sp>
        <p:nvSpPr>
          <p:cNvPr id="74" name="TextBox 73"/>
          <p:cNvSpPr txBox="1"/>
          <p:nvPr/>
        </p:nvSpPr>
        <p:spPr>
          <a:xfrm>
            <a:off x="8458200" y="3749039"/>
            <a:ext cx="3108960" cy="1828800"/>
          </a:xfrm>
          <a:prstGeom prst="rect">
            <a:avLst/>
          </a:prstGeom>
          <a:noFill/>
        </p:spPr>
        <p:txBody>
          <a:bodyPr wrap="square"/>
          <a:lstStyle/>
          <a:p>
            <a:pPr algn="l">
              <a:lnSpc>
                <a:spcPts val="1400"/>
              </a:lnSpc>
              <a:defRPr sz="900" b="0" i="0">
                <a:solidFill>
                  <a:srgbClr val="4A4A4A"/>
                </a:solidFill>
                <a:latin typeface="Calibri"/>
              </a:defRPr>
            </a:pPr>
            <a:r>
              <a:t>Health and fitness lifestyle startup using technology to enhance health-conscious habits. Features an AI chatbot (BUNN-E) that analyses mood and lifestyle to suggest exercises. Cross-platform app built in Flutter with coach marketplace, credit-based payment system, and social community features. Finalist at AIS InVent Builder.</a:t>
            </a:r>
          </a:p>
        </p:txBody>
      </p:sp>
      <p:sp>
        <p:nvSpPr>
          <p:cNvPr id="75" name="Rectangle 74"/>
          <p:cNvSpPr/>
          <p:nvPr/>
        </p:nvSpPr>
        <p:spPr>
          <a:xfrm>
            <a:off x="8458200" y="5349240"/>
            <a:ext cx="31089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58200" y="5440680"/>
            <a:ext cx="1005840" cy="164592"/>
          </a:xfrm>
          <a:prstGeom prst="rect">
            <a:avLst/>
          </a:prstGeom>
          <a:noFill/>
        </p:spPr>
        <p:txBody>
          <a:bodyPr wrap="square"/>
          <a:lstStyle/>
          <a:p>
            <a:pPr algn="l">
              <a:defRPr sz="700" b="1" i="0">
                <a:solidFill>
                  <a:srgbClr val="888580"/>
                </a:solidFill>
                <a:latin typeface="Calibri"/>
              </a:defRPr>
            </a:pPr>
            <a:r>
              <a:t>STACK</a:t>
            </a:r>
          </a:p>
        </p:txBody>
      </p:sp>
      <p:sp>
        <p:nvSpPr>
          <p:cNvPr id="77" name="TextBox 76"/>
          <p:cNvSpPr txBox="1"/>
          <p:nvPr/>
        </p:nvSpPr>
        <p:spPr>
          <a:xfrm>
            <a:off x="8458200" y="5605272"/>
            <a:ext cx="1097280" cy="228600"/>
          </a:xfrm>
          <a:prstGeom prst="rect">
            <a:avLst/>
          </a:prstGeom>
          <a:noFill/>
        </p:spPr>
        <p:txBody>
          <a:bodyPr wrap="square"/>
          <a:lstStyle/>
          <a:p>
            <a:pPr algn="l">
              <a:defRPr sz="700" b="1" i="0">
                <a:solidFill>
                  <a:srgbClr val="1A1A1A"/>
                </a:solidFill>
                <a:latin typeface="Calibri"/>
              </a:defRPr>
            </a:pPr>
            <a:r>
              <a:t>FLUTTER  ·  FIREBASE</a:t>
            </a:r>
          </a:p>
        </p:txBody>
      </p:sp>
      <p:sp>
        <p:nvSpPr>
          <p:cNvPr id="78" name="TextBox 77"/>
          <p:cNvSpPr txBox="1"/>
          <p:nvPr/>
        </p:nvSpPr>
        <p:spPr>
          <a:xfrm>
            <a:off x="9509760" y="5440680"/>
            <a:ext cx="1005840" cy="164592"/>
          </a:xfrm>
          <a:prstGeom prst="rect">
            <a:avLst/>
          </a:prstGeom>
          <a:noFill/>
        </p:spPr>
        <p:txBody>
          <a:bodyPr wrap="square"/>
          <a:lstStyle/>
          <a:p>
            <a:pPr algn="l">
              <a:defRPr sz="700" b="1" i="0">
                <a:solidFill>
                  <a:srgbClr val="888580"/>
                </a:solidFill>
                <a:latin typeface="Calibri"/>
              </a:defRPr>
            </a:pPr>
            <a:r>
              <a:t>AI</a:t>
            </a:r>
          </a:p>
        </p:txBody>
      </p:sp>
      <p:sp>
        <p:nvSpPr>
          <p:cNvPr id="79" name="TextBox 78"/>
          <p:cNvSpPr txBox="1"/>
          <p:nvPr/>
        </p:nvSpPr>
        <p:spPr>
          <a:xfrm>
            <a:off x="9509760" y="5605272"/>
            <a:ext cx="1097280" cy="228600"/>
          </a:xfrm>
          <a:prstGeom prst="rect">
            <a:avLst/>
          </a:prstGeom>
          <a:noFill/>
        </p:spPr>
        <p:txBody>
          <a:bodyPr wrap="square"/>
          <a:lstStyle/>
          <a:p>
            <a:pPr algn="l">
              <a:defRPr sz="700" b="1" i="0">
                <a:solidFill>
                  <a:srgbClr val="1A1A1A"/>
                </a:solidFill>
                <a:latin typeface="Calibri"/>
              </a:defRPr>
            </a:pPr>
            <a:r>
              <a:t>NLP  ·  SENTIMENT</a:t>
            </a:r>
          </a:p>
        </p:txBody>
      </p:sp>
      <p:sp>
        <p:nvSpPr>
          <p:cNvPr id="80" name="TextBox 79"/>
          <p:cNvSpPr txBox="1"/>
          <p:nvPr/>
        </p:nvSpPr>
        <p:spPr>
          <a:xfrm>
            <a:off x="10561320" y="5440680"/>
            <a:ext cx="1005840" cy="164592"/>
          </a:xfrm>
          <a:prstGeom prst="rect">
            <a:avLst/>
          </a:prstGeom>
          <a:noFill/>
        </p:spPr>
        <p:txBody>
          <a:bodyPr wrap="square"/>
          <a:lstStyle/>
          <a:p>
            <a:pPr algn="l">
              <a:defRPr sz="700" b="1" i="0">
                <a:solidFill>
                  <a:srgbClr val="888580"/>
                </a:solidFill>
                <a:latin typeface="Calibri"/>
              </a:defRPr>
            </a:pPr>
            <a:r>
              <a:t>STATUS</a:t>
            </a:r>
          </a:p>
        </p:txBody>
      </p:sp>
      <p:sp>
        <p:nvSpPr>
          <p:cNvPr id="81" name="TextBox 80"/>
          <p:cNvSpPr txBox="1"/>
          <p:nvPr/>
        </p:nvSpPr>
        <p:spPr>
          <a:xfrm>
            <a:off x="10561320" y="5605272"/>
            <a:ext cx="1097280" cy="228600"/>
          </a:xfrm>
          <a:prstGeom prst="rect">
            <a:avLst/>
          </a:prstGeom>
          <a:noFill/>
        </p:spPr>
        <p:txBody>
          <a:bodyPr wrap="square"/>
          <a:lstStyle/>
          <a:p>
            <a:pPr algn="l">
              <a:defRPr sz="700" b="1" i="0">
                <a:solidFill>
                  <a:srgbClr val="1A1A1A"/>
                </a:solidFill>
                <a:latin typeface="Calibri"/>
              </a:defRPr>
            </a:pPr>
            <a:r>
              <a:t>FINALIST — AIS</a:t>
            </a:r>
          </a:p>
        </p:txBody>
      </p:sp>
      <p:sp>
        <p:nvSpPr>
          <p:cNvPr id="82" name="Rectangle 81"/>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85" name="TextBox 84"/>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10  —  LIFE MISSION</a:t>
            </a:r>
          </a:p>
        </p:txBody>
      </p:sp>
      <p:sp>
        <p:nvSpPr>
          <p:cNvPr id="41" name="Rectangle 40"/>
          <p:cNvSpPr/>
          <p:nvPr/>
        </p:nvSpPr>
        <p:spPr>
          <a:xfrm>
            <a:off x="731520" y="685800"/>
            <a:ext cx="1129284"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914400"/>
            <a:ext cx="4572000" cy="548640"/>
          </a:xfrm>
          <a:prstGeom prst="rect">
            <a:avLst/>
          </a:prstGeom>
          <a:noFill/>
        </p:spPr>
        <p:txBody>
          <a:bodyPr wrap="square"/>
          <a:lstStyle/>
          <a:p>
            <a:pPr algn="l">
              <a:defRPr sz="4200" b="1" i="0">
                <a:solidFill>
                  <a:srgbClr val="1A1A1A"/>
                </a:solidFill>
                <a:latin typeface="Arial Black"/>
              </a:defRPr>
            </a:pPr>
            <a:r>
              <a:t>Augma</a:t>
            </a:r>
          </a:p>
        </p:txBody>
      </p:sp>
      <p:sp>
        <p:nvSpPr>
          <p:cNvPr id="43" name="TextBox 42"/>
          <p:cNvSpPr txBox="1"/>
          <p:nvPr/>
        </p:nvSpPr>
        <p:spPr>
          <a:xfrm>
            <a:off x="731520" y="1463040"/>
            <a:ext cx="5486400" cy="548640"/>
          </a:xfrm>
          <a:prstGeom prst="rect">
            <a:avLst/>
          </a:prstGeom>
          <a:noFill/>
        </p:spPr>
        <p:txBody>
          <a:bodyPr wrap="square"/>
          <a:lstStyle/>
          <a:p>
            <a:pPr algn="l">
              <a:defRPr sz="4200" b="1" i="0">
                <a:solidFill>
                  <a:srgbClr val="CC0011"/>
                </a:solidFill>
                <a:latin typeface="Arial Black"/>
              </a:defRPr>
            </a:pPr>
            <a:r>
              <a:t>Imaginarium</a:t>
            </a:r>
          </a:p>
        </p:txBody>
      </p:sp>
      <p:sp>
        <p:nvSpPr>
          <p:cNvPr id="44" name="Rectangle 43"/>
          <p:cNvSpPr/>
          <p:nvPr/>
        </p:nvSpPr>
        <p:spPr>
          <a:xfrm>
            <a:off x="731520" y="2057400"/>
            <a:ext cx="1828800" cy="228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606040" y="2057400"/>
            <a:ext cx="548640" cy="2286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 y="2377440"/>
            <a:ext cx="5303520" cy="128016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080" y="2377440"/>
            <a:ext cx="45720" cy="12801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2514600"/>
            <a:ext cx="4572000" cy="228600"/>
          </a:xfrm>
          <a:prstGeom prst="rect">
            <a:avLst/>
          </a:prstGeom>
          <a:noFill/>
        </p:spPr>
        <p:txBody>
          <a:bodyPr wrap="square"/>
          <a:lstStyle/>
          <a:p>
            <a:pPr algn="l">
              <a:defRPr sz="1200" b="1" i="0">
                <a:solidFill>
                  <a:srgbClr val="CC0011"/>
                </a:solidFill>
                <a:latin typeface="Calibri"/>
              </a:defRPr>
            </a:pPr>
            <a:r>
              <a:t>AUGMA  (n.)</a:t>
            </a:r>
          </a:p>
        </p:txBody>
      </p:sp>
      <p:sp>
        <p:nvSpPr>
          <p:cNvPr id="49" name="TextBox 48"/>
          <p:cNvSpPr txBox="1"/>
          <p:nvPr/>
        </p:nvSpPr>
        <p:spPr>
          <a:xfrm>
            <a:off x="1005840" y="2788920"/>
            <a:ext cx="4663440" cy="731520"/>
          </a:xfrm>
          <a:prstGeom prst="rect">
            <a:avLst/>
          </a:prstGeom>
          <a:noFill/>
        </p:spPr>
        <p:txBody>
          <a:bodyPr wrap="square"/>
          <a:lstStyle/>
          <a:p>
            <a:pPr algn="l">
              <a:lnSpc>
                <a:spcPts val="1600"/>
              </a:lnSpc>
              <a:defRPr sz="1100" b="0" i="0">
                <a:solidFill>
                  <a:srgbClr val="4A4A4A"/>
                </a:solidFill>
                <a:latin typeface="Calibri"/>
              </a:defRPr>
            </a:pPr>
            <a:r>
              <a:t>From Latin "augmentare" — to increase, to enhance. The root of Augmented Reality. To augment our reality with our imaginations and bring it into the world.</a:t>
            </a:r>
          </a:p>
        </p:txBody>
      </p:sp>
      <p:sp>
        <p:nvSpPr>
          <p:cNvPr id="50" name="Rectangle 49"/>
          <p:cNvSpPr/>
          <p:nvPr/>
        </p:nvSpPr>
        <p:spPr>
          <a:xfrm>
            <a:off x="640080" y="3794760"/>
            <a:ext cx="5303520" cy="128016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0080" y="3794760"/>
            <a:ext cx="45720" cy="12801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5840" y="3931920"/>
            <a:ext cx="4572000" cy="228600"/>
          </a:xfrm>
          <a:prstGeom prst="rect">
            <a:avLst/>
          </a:prstGeom>
          <a:noFill/>
        </p:spPr>
        <p:txBody>
          <a:bodyPr wrap="square"/>
          <a:lstStyle/>
          <a:p>
            <a:pPr algn="l">
              <a:defRPr sz="1200" b="1" i="0">
                <a:solidFill>
                  <a:srgbClr val="CC0011"/>
                </a:solidFill>
                <a:latin typeface="Calibri"/>
              </a:defRPr>
            </a:pPr>
            <a:r>
              <a:t>IMAGINARIUM  (n.)</a:t>
            </a:r>
          </a:p>
        </p:txBody>
      </p:sp>
      <p:sp>
        <p:nvSpPr>
          <p:cNvPr id="53" name="TextBox 52"/>
          <p:cNvSpPr txBox="1"/>
          <p:nvPr/>
        </p:nvSpPr>
        <p:spPr>
          <a:xfrm>
            <a:off x="1005840" y="4206240"/>
            <a:ext cx="4663440" cy="731520"/>
          </a:xfrm>
          <a:prstGeom prst="rect">
            <a:avLst/>
          </a:prstGeom>
          <a:noFill/>
        </p:spPr>
        <p:txBody>
          <a:bodyPr wrap="square"/>
          <a:lstStyle/>
          <a:p>
            <a:pPr algn="l">
              <a:lnSpc>
                <a:spcPts val="1600"/>
              </a:lnSpc>
              <a:defRPr sz="1100" b="0" i="0">
                <a:solidFill>
                  <a:srgbClr val="4A4A4A"/>
                </a:solidFill>
                <a:latin typeface="Calibri"/>
              </a:defRPr>
            </a:pPr>
            <a:r>
              <a:t>A place devoted to the imagination — a space where dreams are constructed, stories are authored, and impossible worlds are brought to life. Part laboratory, part playground.</a:t>
            </a:r>
          </a:p>
        </p:txBody>
      </p:sp>
      <p:sp>
        <p:nvSpPr>
          <p:cNvPr id="54" name="Rectangle 53"/>
          <p:cNvSpPr/>
          <p:nvPr/>
        </p:nvSpPr>
        <p:spPr>
          <a:xfrm>
            <a:off x="6217920" y="914400"/>
            <a:ext cx="5303520" cy="228600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914400"/>
            <a:ext cx="45720" cy="2286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0" y="1051560"/>
            <a:ext cx="4572000" cy="228600"/>
          </a:xfrm>
          <a:prstGeom prst="rect">
            <a:avLst/>
          </a:prstGeom>
          <a:noFill/>
        </p:spPr>
        <p:txBody>
          <a:bodyPr wrap="square"/>
          <a:lstStyle/>
          <a:p>
            <a:pPr algn="l">
              <a:defRPr sz="1200" b="1" i="0">
                <a:solidFill>
                  <a:srgbClr val="1A1A1A"/>
                </a:solidFill>
                <a:latin typeface="Calibri"/>
              </a:defRPr>
            </a:pPr>
            <a:r>
              <a:t>THE MISSION</a:t>
            </a:r>
          </a:p>
        </p:txBody>
      </p:sp>
      <p:sp>
        <p:nvSpPr>
          <p:cNvPr id="57" name="TextBox 56"/>
          <p:cNvSpPr txBox="1"/>
          <p:nvPr/>
        </p:nvSpPr>
        <p:spPr>
          <a:xfrm>
            <a:off x="6583680" y="1371600"/>
            <a:ext cx="4663440" cy="1371600"/>
          </a:xfrm>
          <a:prstGeom prst="rect">
            <a:avLst/>
          </a:prstGeom>
          <a:noFill/>
        </p:spPr>
        <p:txBody>
          <a:bodyPr wrap="square"/>
          <a:lstStyle/>
          <a:p>
            <a:pPr algn="l">
              <a:lnSpc>
                <a:spcPts val="1600"/>
              </a:lnSpc>
              <a:defRPr sz="1100" b="0" i="0">
                <a:solidFill>
                  <a:srgbClr val="4A4A4A"/>
                </a:solidFill>
                <a:latin typeface="Calibri"/>
              </a:defRPr>
            </a:pPr>
            <a:r>
              <a:t>To augment our reality with our imaginations and bring it to the world. Creating experiences that inspire children, relieve the elderly of isolation and rekindle their joy of life, and give everyone in between a reason to look up from their screens and connect with the world around them.</a:t>
            </a:r>
          </a:p>
        </p:txBody>
      </p:sp>
      <p:sp>
        <p:nvSpPr>
          <p:cNvPr id="58" name="Rectangle 57"/>
          <p:cNvSpPr/>
          <p:nvPr/>
        </p:nvSpPr>
        <p:spPr>
          <a:xfrm>
            <a:off x="6217920" y="3383280"/>
            <a:ext cx="5303520" cy="265176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17920" y="3383280"/>
            <a:ext cx="45720" cy="26517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83680" y="3520440"/>
            <a:ext cx="4572000" cy="228600"/>
          </a:xfrm>
          <a:prstGeom prst="rect">
            <a:avLst/>
          </a:prstGeom>
          <a:noFill/>
        </p:spPr>
        <p:txBody>
          <a:bodyPr wrap="square"/>
          <a:lstStyle/>
          <a:p>
            <a:pPr algn="l">
              <a:defRPr sz="1200" b="1" i="0">
                <a:solidFill>
                  <a:srgbClr val="1A1A1A"/>
                </a:solidFill>
                <a:latin typeface="Calibri"/>
              </a:defRPr>
            </a:pPr>
            <a:r>
              <a:t>WHY THIS IS MY LIFE MISSION</a:t>
            </a:r>
          </a:p>
        </p:txBody>
      </p:sp>
      <p:sp>
        <p:nvSpPr>
          <p:cNvPr id="61" name="TextBox 60"/>
          <p:cNvSpPr txBox="1"/>
          <p:nvPr/>
        </p:nvSpPr>
        <p:spPr>
          <a:xfrm>
            <a:off x="6583680" y="3840480"/>
            <a:ext cx="4663440" cy="1828800"/>
          </a:xfrm>
          <a:prstGeom prst="rect">
            <a:avLst/>
          </a:prstGeom>
          <a:noFill/>
        </p:spPr>
        <p:txBody>
          <a:bodyPr wrap="square"/>
          <a:lstStyle/>
          <a:p>
            <a:pPr algn="l">
              <a:lnSpc>
                <a:spcPts val="1600"/>
              </a:lnSpc>
              <a:defRPr sz="1100" b="0" i="0">
                <a:solidFill>
                  <a:srgbClr val="4A4A4A"/>
                </a:solidFill>
                <a:latin typeface="Calibri"/>
              </a:defRPr>
            </a:pPr>
            <a:r>
              <a:t>In March 2026, I lost my mother. Everything I had been building — the XR workshops, the VR exhibits, the climbing communities — suddenly made sense in a way it hadn't before. I'd already witnessed kids being inspired by technology they'd never seen, elderly visitors relieving the joy of life. Seeing the spark return to people's eyes had already been filling me with purpose.</a:t>
            </a:r>
            <a:br/>
            <a:br/>
            <a:r>
              <a:t>Augma Imaginarium is my latest chapter — and my most personal. It's not just a company. It's my way of giving back the connection I now understand I was building toward all along.</a:t>
            </a:r>
          </a:p>
        </p:txBody>
      </p:sp>
      <p:sp>
        <p:nvSpPr>
          <p:cNvPr id="62" name="Rectangle 61"/>
          <p:cNvSpPr/>
          <p:nvPr/>
        </p:nvSpPr>
        <p:spPr>
          <a:xfrm>
            <a:off x="640080" y="530352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0080" y="5349240"/>
            <a:ext cx="36576" cy="6858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5840" y="5349240"/>
            <a:ext cx="4663440" cy="731520"/>
          </a:xfrm>
          <a:prstGeom prst="rect">
            <a:avLst/>
          </a:prstGeom>
          <a:noFill/>
        </p:spPr>
        <p:txBody>
          <a:bodyPr wrap="square"/>
          <a:lstStyle/>
          <a:p>
            <a:pPr algn="l">
              <a:lnSpc>
                <a:spcPts val="1600"/>
              </a:lnSpc>
              <a:defRPr sz="1100" b="0" i="1">
                <a:solidFill>
                  <a:srgbClr val="888580"/>
                </a:solidFill>
                <a:latin typeface="Calibri"/>
              </a:defRPr>
            </a:pPr>
            <a:r>
              <a:t>"Seeing the spark in their eyes again filled me with so much purpose and joy — and I knew this is what I needed to do."</a:t>
            </a:r>
          </a:p>
        </p:txBody>
      </p:sp>
      <p:sp>
        <p:nvSpPr>
          <p:cNvPr id="65" name="Rectangle 64"/>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68" name="TextBox 67"/>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669280" cy="6858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4572000" cy="640080"/>
          </a:xfrm>
          <a:prstGeom prst="rect">
            <a:avLst/>
          </a:prstGeom>
          <a:noFill/>
        </p:spPr>
        <p:txBody>
          <a:bodyPr wrap="square"/>
          <a:lstStyle/>
          <a:p>
            <a:pPr algn="l">
              <a:defRPr sz="5200" b="1" i="0">
                <a:solidFill>
                  <a:srgbClr val="FFFFFF"/>
                </a:solidFill>
                <a:latin typeface="Arial Black"/>
              </a:defRPr>
            </a:pPr>
            <a:r>
              <a:t>AUGMA</a:t>
            </a:r>
          </a:p>
        </p:txBody>
      </p:sp>
      <p:sp>
        <p:nvSpPr>
          <p:cNvPr id="4" name="TextBox 3"/>
          <p:cNvSpPr txBox="1"/>
          <p:nvPr/>
        </p:nvSpPr>
        <p:spPr>
          <a:xfrm>
            <a:off x="731520" y="1188720"/>
            <a:ext cx="4572000" cy="640080"/>
          </a:xfrm>
          <a:prstGeom prst="rect">
            <a:avLst/>
          </a:prstGeom>
          <a:noFill/>
        </p:spPr>
        <p:txBody>
          <a:bodyPr wrap="square"/>
          <a:lstStyle/>
          <a:p>
            <a:pPr algn="l">
              <a:defRPr sz="5200" b="1" i="0">
                <a:solidFill>
                  <a:srgbClr val="FFCCCC"/>
                </a:solidFill>
                <a:latin typeface="Arial Black"/>
              </a:defRPr>
            </a:pPr>
            <a:r>
              <a:t>BKK</a:t>
            </a:r>
          </a:p>
        </p:txBody>
      </p:sp>
      <p:sp>
        <p:nvSpPr>
          <p:cNvPr id="5" name="TextBox 4"/>
          <p:cNvSpPr txBox="1"/>
          <p:nvPr/>
        </p:nvSpPr>
        <p:spPr>
          <a:xfrm>
            <a:off x="731520" y="2103120"/>
            <a:ext cx="4206240" cy="3200400"/>
          </a:xfrm>
          <a:prstGeom prst="rect">
            <a:avLst/>
          </a:prstGeom>
          <a:noFill/>
        </p:spPr>
        <p:txBody>
          <a:bodyPr wrap="square"/>
          <a:lstStyle/>
          <a:p>
            <a:pPr algn="l">
              <a:lnSpc>
                <a:spcPts val="1900"/>
              </a:lnSpc>
              <a:defRPr sz="1200" b="0" i="0">
                <a:solidFill>
                  <a:srgbClr val="FFFFFF"/>
                </a:solidFill>
                <a:latin typeface="Calibri"/>
              </a:defRPr>
            </a:pPr>
            <a:r>
              <a:t>A groundbreaking AR mobile game in the heart of Bangkok's parks. Leveraging Niantic's cutting-edge Lightship ARDK, VPS System, and Co-location technologies, this game transforms the city's green spaces into a captivating digital playground.</a:t>
            </a:r>
            <a:br/>
            <a:br/>
            <a:r>
              <a:t>Players explore parks alongside their trusty robotic companion BUNN-E, uncovering hidden missions, solving challenges, and unlocking an overlapping sci-fi world crafted by Augma Imaginarium.</a:t>
            </a:r>
            <a:br/>
            <a:br/>
            <a:r>
              <a:t>The game's immersive experience promotes physical activity, fosters community, and transforms Bangkok's parks into dynamic AR gaming arenas — a testament to what happens when technology, fitness, and storytelling converge.</a:t>
            </a:r>
          </a:p>
        </p:txBody>
      </p:sp>
      <p:sp>
        <p:nvSpPr>
          <p:cNvPr id="6" name="TextBox 5"/>
          <p:cNvSpPr txBox="1"/>
          <p:nvPr/>
        </p:nvSpPr>
        <p:spPr>
          <a:xfrm>
            <a:off x="731520" y="5394960"/>
            <a:ext cx="1828800" cy="182880"/>
          </a:xfrm>
          <a:prstGeom prst="rect">
            <a:avLst/>
          </a:prstGeom>
          <a:noFill/>
        </p:spPr>
        <p:txBody>
          <a:bodyPr wrap="square"/>
          <a:lstStyle/>
          <a:p>
            <a:pPr algn="l">
              <a:defRPr sz="800" b="1" i="0">
                <a:solidFill>
                  <a:srgbClr val="FF9999"/>
                </a:solidFill>
                <a:latin typeface="Calibri"/>
              </a:defRPr>
            </a:pPr>
            <a:r>
              <a:t>BUILT WITH</a:t>
            </a:r>
          </a:p>
        </p:txBody>
      </p:sp>
      <p:sp>
        <p:nvSpPr>
          <p:cNvPr id="7" name="TextBox 6"/>
          <p:cNvSpPr txBox="1"/>
          <p:nvPr/>
        </p:nvSpPr>
        <p:spPr>
          <a:xfrm>
            <a:off x="731520" y="5623560"/>
            <a:ext cx="4572000" cy="228600"/>
          </a:xfrm>
          <a:prstGeom prst="rect">
            <a:avLst/>
          </a:prstGeom>
          <a:noFill/>
        </p:spPr>
        <p:txBody>
          <a:bodyPr wrap="square"/>
          <a:lstStyle/>
          <a:p>
            <a:pPr algn="l">
              <a:defRPr sz="900" b="1" i="0">
                <a:solidFill>
                  <a:srgbClr val="FFCCCC"/>
                </a:solidFill>
                <a:latin typeface="Calibri"/>
              </a:defRPr>
            </a:pPr>
            <a:r>
              <a:t>NIANTIC LIGHTSHIP  ·  ARDK  ·  VPS  ·  UNITY  ·  CO-LOCATION</a:t>
            </a:r>
          </a:p>
        </p:txBody>
      </p:sp>
      <p:sp>
        <p:nvSpPr>
          <p:cNvPr id="8" name="Rectangle 7"/>
          <p:cNvSpPr/>
          <p:nvPr/>
        </p:nvSpPr>
        <p:spPr>
          <a:xfrm>
            <a:off x="6126480" y="27432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371600"/>
            <a:ext cx="4114800" cy="365760"/>
          </a:xfrm>
          <a:prstGeom prst="rect">
            <a:avLst/>
          </a:prstGeom>
          <a:noFill/>
        </p:spPr>
        <p:txBody>
          <a:bodyPr wrap="square"/>
          <a:lstStyle/>
          <a:p>
            <a:pPr algn="ctr">
              <a:defRPr sz="1300" b="0" i="0">
                <a:solidFill>
                  <a:srgbClr val="555555"/>
                </a:solidFill>
                <a:latin typeface="Calibri"/>
              </a:defRPr>
            </a:pPr>
            <a:r>
              <a:t>[ GAMEPLAY SCREENSHOTS ]</a:t>
            </a:r>
          </a:p>
        </p:txBody>
      </p:sp>
      <p:sp>
        <p:nvSpPr>
          <p:cNvPr id="10" name="Rectangle 9"/>
          <p:cNvSpPr/>
          <p:nvPr/>
        </p:nvSpPr>
        <p:spPr>
          <a:xfrm>
            <a:off x="6126480" y="356616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4663440"/>
            <a:ext cx="4114800" cy="365760"/>
          </a:xfrm>
          <a:prstGeom prst="rect">
            <a:avLst/>
          </a:prstGeom>
          <a:noFill/>
        </p:spPr>
        <p:txBody>
          <a:bodyPr wrap="square"/>
          <a:lstStyle/>
          <a:p>
            <a:pPr algn="ctr">
              <a:defRPr sz="1300" b="0" i="0">
                <a:solidFill>
                  <a:srgbClr val="555555"/>
                </a:solidFill>
                <a:latin typeface="Calibri"/>
              </a:defRPr>
            </a:pPr>
            <a:r>
              <a:t>[ AR EXPERIENCE PHOTO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10  —  SPATIAL AR</a:t>
            </a:r>
          </a:p>
        </p:txBody>
      </p:sp>
      <p:sp>
        <p:nvSpPr>
          <p:cNvPr id="41" name="Rectangle 40"/>
          <p:cNvSpPr/>
          <p:nvPr/>
        </p:nvSpPr>
        <p:spPr>
          <a:xfrm>
            <a:off x="731520" y="685800"/>
            <a:ext cx="1010412"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02920"/>
          </a:xfrm>
          <a:prstGeom prst="rect">
            <a:avLst/>
          </a:prstGeom>
          <a:noFill/>
        </p:spPr>
        <p:txBody>
          <a:bodyPr wrap="square"/>
          <a:lstStyle/>
          <a:p>
            <a:pPr algn="l">
              <a:defRPr sz="3600" b="1" i="0">
                <a:solidFill>
                  <a:srgbClr val="1A1A1A"/>
                </a:solidFill>
                <a:latin typeface="Arial Black"/>
              </a:defRPr>
            </a:pPr>
            <a:r>
              <a:t>Location-Based</a:t>
            </a:r>
          </a:p>
        </p:txBody>
      </p:sp>
      <p:sp>
        <p:nvSpPr>
          <p:cNvPr id="43" name="TextBox 42"/>
          <p:cNvSpPr txBox="1"/>
          <p:nvPr/>
        </p:nvSpPr>
        <p:spPr>
          <a:xfrm>
            <a:off x="731520" y="1280160"/>
            <a:ext cx="7315200" cy="411480"/>
          </a:xfrm>
          <a:prstGeom prst="rect">
            <a:avLst/>
          </a:prstGeom>
          <a:noFill/>
        </p:spPr>
        <p:txBody>
          <a:bodyPr wrap="square"/>
          <a:lstStyle/>
          <a:p>
            <a:pPr algn="l">
              <a:defRPr sz="2400" b="0" i="0">
                <a:solidFill>
                  <a:srgbClr val="888580"/>
                </a:solidFill>
                <a:latin typeface="Calibri"/>
              </a:defRPr>
            </a:pPr>
            <a:r>
              <a:t>AR Gameplay Experience</a:t>
            </a:r>
          </a:p>
        </p:txBody>
      </p:sp>
      <p:sp>
        <p:nvSpPr>
          <p:cNvPr id="44" name="TextBox 43"/>
          <p:cNvSpPr txBox="1"/>
          <p:nvPr/>
        </p:nvSpPr>
        <p:spPr>
          <a:xfrm>
            <a:off x="731520" y="1920240"/>
            <a:ext cx="5029200" cy="3200400"/>
          </a:xfrm>
          <a:prstGeom prst="rect">
            <a:avLst/>
          </a:prstGeom>
          <a:noFill/>
        </p:spPr>
        <p:txBody>
          <a:bodyPr wrap="square"/>
          <a:lstStyle/>
          <a:p>
            <a:pPr algn="l">
              <a:lnSpc>
                <a:spcPts val="1900"/>
              </a:lnSpc>
              <a:defRPr sz="1200" b="0" i="0">
                <a:solidFill>
                  <a:srgbClr val="4A4A4A"/>
                </a:solidFill>
                <a:latin typeface="Calibri"/>
              </a:defRPr>
            </a:pPr>
            <a:r>
              <a:t>It is simply not enough to overlay a layer on top of our reality. We would be merely painting the world with digital objects. Lightship's VPS system allows us to scale real world locations and author stories, world elements and gameplay at specific locations and landmarks.</a:t>
            </a:r>
            <a:br/>
            <a:br/>
            <a:r>
              <a:t>Benjakiti Park is a new and vibrant park filled with visually distinctive locations. We have authored AR narratives, quests and gameplay around a walkable path, allowing players to utilise the whole park as an Augmented Reality playground — transforming their world with various types of mini-games.</a:t>
            </a:r>
            <a:br/>
            <a:br/>
            <a:r>
              <a:t>With Multiplayer planned, players will get an opportunity to explore and interact with the world in ways never seen before. An Augma World.</a:t>
            </a:r>
          </a:p>
        </p:txBody>
      </p:sp>
      <p:sp>
        <p:nvSpPr>
          <p:cNvPr id="45" name="Rectangle 44"/>
          <p:cNvSpPr/>
          <p:nvPr/>
        </p:nvSpPr>
        <p:spPr>
          <a:xfrm>
            <a:off x="731520" y="5212080"/>
            <a:ext cx="5029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349240"/>
            <a:ext cx="1188720" cy="164592"/>
          </a:xfrm>
          <a:prstGeom prst="rect">
            <a:avLst/>
          </a:prstGeom>
          <a:noFill/>
        </p:spPr>
        <p:txBody>
          <a:bodyPr wrap="square"/>
          <a:lstStyle/>
          <a:p>
            <a:pPr algn="l">
              <a:defRPr sz="800" b="1" i="0">
                <a:solidFill>
                  <a:srgbClr val="888580"/>
                </a:solidFill>
                <a:latin typeface="Calibri"/>
              </a:defRPr>
            </a:pPr>
            <a:r>
              <a:t>SCALE</a:t>
            </a:r>
          </a:p>
        </p:txBody>
      </p:sp>
      <p:sp>
        <p:nvSpPr>
          <p:cNvPr id="47" name="TextBox 46"/>
          <p:cNvSpPr txBox="1"/>
          <p:nvPr/>
        </p:nvSpPr>
        <p:spPr>
          <a:xfrm>
            <a:off x="731520" y="5532120"/>
            <a:ext cx="1188720" cy="228600"/>
          </a:xfrm>
          <a:prstGeom prst="rect">
            <a:avLst/>
          </a:prstGeom>
          <a:noFill/>
        </p:spPr>
        <p:txBody>
          <a:bodyPr wrap="square"/>
          <a:lstStyle/>
          <a:p>
            <a:pPr algn="l">
              <a:defRPr sz="900" b="1" i="0">
                <a:solidFill>
                  <a:srgbClr val="1A1A1A"/>
                </a:solidFill>
                <a:latin typeface="Calibri"/>
              </a:defRPr>
            </a:pPr>
            <a:r>
              <a:t>CITY-WIDE</a:t>
            </a:r>
          </a:p>
        </p:txBody>
      </p:sp>
      <p:sp>
        <p:nvSpPr>
          <p:cNvPr id="48" name="TextBox 47"/>
          <p:cNvSpPr txBox="1"/>
          <p:nvPr/>
        </p:nvSpPr>
        <p:spPr>
          <a:xfrm>
            <a:off x="2011680" y="5349240"/>
            <a:ext cx="1188720" cy="164592"/>
          </a:xfrm>
          <a:prstGeom prst="rect">
            <a:avLst/>
          </a:prstGeom>
          <a:noFill/>
        </p:spPr>
        <p:txBody>
          <a:bodyPr wrap="square"/>
          <a:lstStyle/>
          <a:p>
            <a:pPr algn="l">
              <a:defRPr sz="800" b="1" i="0">
                <a:solidFill>
                  <a:srgbClr val="888580"/>
                </a:solidFill>
                <a:latin typeface="Calibri"/>
              </a:defRPr>
            </a:pPr>
            <a:r>
              <a:t>ANCHORS</a:t>
            </a:r>
          </a:p>
        </p:txBody>
      </p:sp>
      <p:sp>
        <p:nvSpPr>
          <p:cNvPr id="49" name="TextBox 48"/>
          <p:cNvSpPr txBox="1"/>
          <p:nvPr/>
        </p:nvSpPr>
        <p:spPr>
          <a:xfrm>
            <a:off x="2011680" y="5532120"/>
            <a:ext cx="1188720" cy="228600"/>
          </a:xfrm>
          <a:prstGeom prst="rect">
            <a:avLst/>
          </a:prstGeom>
          <a:noFill/>
        </p:spPr>
        <p:txBody>
          <a:bodyPr wrap="square"/>
          <a:lstStyle/>
          <a:p>
            <a:pPr algn="l">
              <a:defRPr sz="900" b="1" i="0">
                <a:solidFill>
                  <a:srgbClr val="1A1A1A"/>
                </a:solidFill>
                <a:latin typeface="Calibri"/>
              </a:defRPr>
            </a:pPr>
            <a:r>
              <a:t>VPS  ·  GPS</a:t>
            </a:r>
          </a:p>
        </p:txBody>
      </p:sp>
      <p:sp>
        <p:nvSpPr>
          <p:cNvPr id="50" name="TextBox 49"/>
          <p:cNvSpPr txBox="1"/>
          <p:nvPr/>
        </p:nvSpPr>
        <p:spPr>
          <a:xfrm>
            <a:off x="3291839" y="5349240"/>
            <a:ext cx="1188720" cy="164592"/>
          </a:xfrm>
          <a:prstGeom prst="rect">
            <a:avLst/>
          </a:prstGeom>
          <a:noFill/>
        </p:spPr>
        <p:txBody>
          <a:bodyPr wrap="square"/>
          <a:lstStyle/>
          <a:p>
            <a:pPr algn="l">
              <a:defRPr sz="800" b="1" i="0">
                <a:solidFill>
                  <a:srgbClr val="888580"/>
                </a:solidFill>
                <a:latin typeface="Calibri"/>
              </a:defRPr>
            </a:pPr>
            <a:r>
              <a:t>MULTIPLAYER</a:t>
            </a:r>
          </a:p>
        </p:txBody>
      </p:sp>
      <p:sp>
        <p:nvSpPr>
          <p:cNvPr id="51" name="TextBox 50"/>
          <p:cNvSpPr txBox="1"/>
          <p:nvPr/>
        </p:nvSpPr>
        <p:spPr>
          <a:xfrm>
            <a:off x="3291839" y="5532120"/>
            <a:ext cx="1188720" cy="228600"/>
          </a:xfrm>
          <a:prstGeom prst="rect">
            <a:avLst/>
          </a:prstGeom>
          <a:noFill/>
        </p:spPr>
        <p:txBody>
          <a:bodyPr wrap="square"/>
          <a:lstStyle/>
          <a:p>
            <a:pPr algn="l">
              <a:defRPr sz="900" b="1" i="0">
                <a:solidFill>
                  <a:srgbClr val="1A1A1A"/>
                </a:solidFill>
                <a:latin typeface="Calibri"/>
              </a:defRPr>
            </a:pPr>
            <a:r>
              <a:t>REAL-TIME</a:t>
            </a:r>
          </a:p>
        </p:txBody>
      </p:sp>
      <p:sp>
        <p:nvSpPr>
          <p:cNvPr id="52" name="TextBox 51"/>
          <p:cNvSpPr txBox="1"/>
          <p:nvPr/>
        </p:nvSpPr>
        <p:spPr>
          <a:xfrm>
            <a:off x="4571999" y="5349240"/>
            <a:ext cx="1188720" cy="164592"/>
          </a:xfrm>
          <a:prstGeom prst="rect">
            <a:avLst/>
          </a:prstGeom>
          <a:noFill/>
        </p:spPr>
        <p:txBody>
          <a:bodyPr wrap="square"/>
          <a:lstStyle/>
          <a:p>
            <a:pPr algn="l">
              <a:defRPr sz="800" b="1" i="0">
                <a:solidFill>
                  <a:srgbClr val="888580"/>
                </a:solidFill>
                <a:latin typeface="Calibri"/>
              </a:defRPr>
            </a:pPr>
            <a:r>
              <a:t>ENGINE</a:t>
            </a:r>
          </a:p>
        </p:txBody>
      </p:sp>
      <p:sp>
        <p:nvSpPr>
          <p:cNvPr id="53" name="TextBox 52"/>
          <p:cNvSpPr txBox="1"/>
          <p:nvPr/>
        </p:nvSpPr>
        <p:spPr>
          <a:xfrm>
            <a:off x="4571999" y="5532120"/>
            <a:ext cx="1188720" cy="228600"/>
          </a:xfrm>
          <a:prstGeom prst="rect">
            <a:avLst/>
          </a:prstGeom>
          <a:noFill/>
        </p:spPr>
        <p:txBody>
          <a:bodyPr wrap="square"/>
          <a:lstStyle/>
          <a:p>
            <a:pPr algn="l">
              <a:defRPr sz="900" b="1" i="0">
                <a:solidFill>
                  <a:srgbClr val="1A1A1A"/>
                </a:solidFill>
                <a:latin typeface="Calibri"/>
              </a:defRPr>
            </a:pPr>
            <a:r>
              <a:t>UNITY</a:t>
            </a:r>
          </a:p>
        </p:txBody>
      </p:sp>
      <p:sp>
        <p:nvSpPr>
          <p:cNvPr id="54" name="Rectangle 53"/>
          <p:cNvSpPr/>
          <p:nvPr/>
        </p:nvSpPr>
        <p:spPr>
          <a:xfrm>
            <a:off x="6400800" y="731520"/>
            <a:ext cx="5303520" cy="53035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0" y="3017520"/>
            <a:ext cx="3474720" cy="365760"/>
          </a:xfrm>
          <a:prstGeom prst="rect">
            <a:avLst/>
          </a:prstGeom>
          <a:noFill/>
        </p:spPr>
        <p:txBody>
          <a:bodyPr wrap="square"/>
          <a:lstStyle/>
          <a:p>
            <a:pPr algn="ctr">
              <a:defRPr sz="1300" b="0" i="0">
                <a:solidFill>
                  <a:srgbClr val="AAA7A2"/>
                </a:solidFill>
                <a:latin typeface="Calibri"/>
              </a:defRPr>
            </a:pPr>
            <a:r>
              <a:t>[ BENJAKITI PARK AR MAP ]</a:t>
            </a:r>
          </a:p>
        </p:txBody>
      </p:sp>
      <p:sp>
        <p:nvSpPr>
          <p:cNvPr id="56" name="Rectangle 55"/>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59" name="TextBox 58"/>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11  —  PORTFOLIO</a:t>
            </a:r>
          </a:p>
        </p:txBody>
      </p:sp>
      <p:sp>
        <p:nvSpPr>
          <p:cNvPr id="41" name="Rectangle 40"/>
          <p:cNvSpPr/>
          <p:nvPr/>
        </p:nvSpPr>
        <p:spPr>
          <a:xfrm>
            <a:off x="731520" y="685800"/>
            <a:ext cx="950976"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XR Projects</a:t>
            </a:r>
          </a:p>
        </p:txBody>
      </p:sp>
      <p:sp>
        <p:nvSpPr>
          <p:cNvPr id="43" name="Rectangle 42"/>
          <p:cNvSpPr/>
          <p:nvPr/>
        </p:nvSpPr>
        <p:spPr>
          <a:xfrm>
            <a:off x="64008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2194560"/>
            <a:ext cx="3017520" cy="365760"/>
          </a:xfrm>
          <a:prstGeom prst="rect">
            <a:avLst/>
          </a:prstGeom>
          <a:noFill/>
        </p:spPr>
        <p:txBody>
          <a:bodyPr wrap="square"/>
          <a:lstStyle/>
          <a:p>
            <a:pPr algn="ctr">
              <a:defRPr sz="1000" b="0" i="0">
                <a:solidFill>
                  <a:srgbClr val="AAA7A2"/>
                </a:solidFill>
                <a:latin typeface="Calibri"/>
              </a:defRPr>
            </a:pPr>
            <a:r>
              <a:t>[ KOH AR SCREENSHOT ]</a:t>
            </a:r>
          </a:p>
        </p:txBody>
      </p:sp>
      <p:sp>
        <p:nvSpPr>
          <p:cNvPr id="45" name="Rectangle 44"/>
          <p:cNvSpPr/>
          <p:nvPr/>
        </p:nvSpPr>
        <p:spPr>
          <a:xfrm>
            <a:off x="640080" y="338328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59" y="3520440"/>
            <a:ext cx="3200400" cy="182880"/>
          </a:xfrm>
          <a:prstGeom prst="rect">
            <a:avLst/>
          </a:prstGeom>
          <a:noFill/>
        </p:spPr>
        <p:txBody>
          <a:bodyPr wrap="square"/>
          <a:lstStyle/>
          <a:p>
            <a:pPr algn="l">
              <a:defRPr sz="800" b="1" i="0">
                <a:solidFill>
                  <a:srgbClr val="CC0011"/>
                </a:solidFill>
                <a:latin typeface="Calibri"/>
              </a:defRPr>
            </a:pPr>
            <a:r>
              <a:t>NIANTIC LIGHTSHIP</a:t>
            </a:r>
          </a:p>
        </p:txBody>
      </p:sp>
      <p:sp>
        <p:nvSpPr>
          <p:cNvPr id="47" name="TextBox 46"/>
          <p:cNvSpPr txBox="1"/>
          <p:nvPr/>
        </p:nvSpPr>
        <p:spPr>
          <a:xfrm>
            <a:off x="822959" y="3749039"/>
            <a:ext cx="3200400" cy="274320"/>
          </a:xfrm>
          <a:prstGeom prst="rect">
            <a:avLst/>
          </a:prstGeom>
          <a:noFill/>
        </p:spPr>
        <p:txBody>
          <a:bodyPr wrap="square"/>
          <a:lstStyle/>
          <a:p>
            <a:pPr algn="l">
              <a:defRPr sz="1600" b="1" i="0">
                <a:solidFill>
                  <a:srgbClr val="1A1A1A"/>
                </a:solidFill>
                <a:latin typeface="Calibri"/>
              </a:defRPr>
            </a:pPr>
            <a:r>
              <a:t>Koh AR</a:t>
            </a:r>
          </a:p>
        </p:txBody>
      </p:sp>
      <p:sp>
        <p:nvSpPr>
          <p:cNvPr id="48" name="TextBox 47"/>
          <p:cNvSpPr txBox="1"/>
          <p:nvPr/>
        </p:nvSpPr>
        <p:spPr>
          <a:xfrm>
            <a:off x="822959" y="4114800"/>
            <a:ext cx="3200400" cy="1097280"/>
          </a:xfrm>
          <a:prstGeom prst="rect">
            <a:avLst/>
          </a:prstGeom>
          <a:noFill/>
        </p:spPr>
        <p:txBody>
          <a:bodyPr wrap="square"/>
          <a:lstStyle/>
          <a:p>
            <a:pPr algn="l">
              <a:lnSpc>
                <a:spcPts val="1500"/>
              </a:lnSpc>
              <a:defRPr sz="1000" b="0" i="0">
                <a:solidFill>
                  <a:srgbClr val="4A4A4A"/>
                </a:solidFill>
                <a:latin typeface="Calibri"/>
              </a:defRPr>
            </a:pPr>
            <a:r>
              <a:t>Location-based AR game transforming an enchanted island into a digital playground. Developed with Niantic ARDK and VPS — featuring treasure hunts, puzzles, and real-world reward vouchers.</a:t>
            </a:r>
          </a:p>
        </p:txBody>
      </p:sp>
      <p:sp>
        <p:nvSpPr>
          <p:cNvPr id="49" name="Rectangle 48"/>
          <p:cNvSpPr/>
          <p:nvPr/>
        </p:nvSpPr>
        <p:spPr>
          <a:xfrm>
            <a:off x="822959" y="525780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59" y="5349240"/>
            <a:ext cx="1280160" cy="164592"/>
          </a:xfrm>
          <a:prstGeom prst="rect">
            <a:avLst/>
          </a:prstGeom>
          <a:noFill/>
        </p:spPr>
        <p:txBody>
          <a:bodyPr wrap="square"/>
          <a:lstStyle/>
          <a:p>
            <a:pPr algn="l">
              <a:defRPr sz="700" b="1" i="0">
                <a:solidFill>
                  <a:srgbClr val="888580"/>
                </a:solidFill>
                <a:latin typeface="Calibri"/>
              </a:defRPr>
            </a:pPr>
            <a:r>
              <a:t>TECH</a:t>
            </a:r>
          </a:p>
        </p:txBody>
      </p:sp>
      <p:sp>
        <p:nvSpPr>
          <p:cNvPr id="51" name="TextBox 50"/>
          <p:cNvSpPr txBox="1"/>
          <p:nvPr/>
        </p:nvSpPr>
        <p:spPr>
          <a:xfrm>
            <a:off x="822959" y="5504688"/>
            <a:ext cx="1371600" cy="201168"/>
          </a:xfrm>
          <a:prstGeom prst="rect">
            <a:avLst/>
          </a:prstGeom>
          <a:noFill/>
        </p:spPr>
        <p:txBody>
          <a:bodyPr wrap="square"/>
          <a:lstStyle/>
          <a:p>
            <a:pPr algn="l">
              <a:defRPr sz="800" b="1" i="0">
                <a:solidFill>
                  <a:srgbClr val="1A1A1A"/>
                </a:solidFill>
                <a:latin typeface="Calibri"/>
              </a:defRPr>
            </a:pPr>
            <a:r>
              <a:t>ARDK  ·  VPS</a:t>
            </a:r>
          </a:p>
        </p:txBody>
      </p:sp>
      <p:sp>
        <p:nvSpPr>
          <p:cNvPr id="52" name="TextBox 51"/>
          <p:cNvSpPr txBox="1"/>
          <p:nvPr/>
        </p:nvSpPr>
        <p:spPr>
          <a:xfrm>
            <a:off x="2286000" y="5349240"/>
            <a:ext cx="1280160" cy="164592"/>
          </a:xfrm>
          <a:prstGeom prst="rect">
            <a:avLst/>
          </a:prstGeom>
          <a:noFill/>
        </p:spPr>
        <p:txBody>
          <a:bodyPr wrap="square"/>
          <a:lstStyle/>
          <a:p>
            <a:pPr algn="l">
              <a:defRPr sz="700" b="1" i="0">
                <a:solidFill>
                  <a:srgbClr val="888580"/>
                </a:solidFill>
                <a:latin typeface="Calibri"/>
              </a:defRPr>
            </a:pPr>
            <a:r>
              <a:t>REWARD</a:t>
            </a:r>
          </a:p>
        </p:txBody>
      </p:sp>
      <p:sp>
        <p:nvSpPr>
          <p:cNvPr id="53" name="TextBox 52"/>
          <p:cNvSpPr txBox="1"/>
          <p:nvPr/>
        </p:nvSpPr>
        <p:spPr>
          <a:xfrm>
            <a:off x="2286000" y="5504688"/>
            <a:ext cx="1371600" cy="201168"/>
          </a:xfrm>
          <a:prstGeom prst="rect">
            <a:avLst/>
          </a:prstGeom>
          <a:noFill/>
        </p:spPr>
        <p:txBody>
          <a:bodyPr wrap="square"/>
          <a:lstStyle/>
          <a:p>
            <a:pPr algn="l">
              <a:defRPr sz="800" b="1" i="0">
                <a:solidFill>
                  <a:srgbClr val="1A1A1A"/>
                </a:solidFill>
                <a:latin typeface="Calibri"/>
              </a:defRPr>
            </a:pPr>
            <a:r>
              <a:t>VOUCHERS</a:t>
            </a:r>
          </a:p>
        </p:txBody>
      </p:sp>
      <p:sp>
        <p:nvSpPr>
          <p:cNvPr id="54" name="Rectangle 53"/>
          <p:cNvSpPr/>
          <p:nvPr/>
        </p:nvSpPr>
        <p:spPr>
          <a:xfrm>
            <a:off x="443484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09160" y="2194560"/>
            <a:ext cx="3017520" cy="365760"/>
          </a:xfrm>
          <a:prstGeom prst="rect">
            <a:avLst/>
          </a:prstGeom>
          <a:noFill/>
        </p:spPr>
        <p:txBody>
          <a:bodyPr wrap="square"/>
          <a:lstStyle/>
          <a:p>
            <a:pPr algn="ctr">
              <a:defRPr sz="1000" b="0" i="0">
                <a:solidFill>
                  <a:srgbClr val="AAA7A2"/>
                </a:solidFill>
                <a:latin typeface="Calibri"/>
              </a:defRPr>
            </a:pPr>
            <a:r>
              <a:t>[ BEAUTY &amp; COSMETIC FILTER SCREENSHOT ]</a:t>
            </a:r>
          </a:p>
        </p:txBody>
      </p:sp>
      <p:sp>
        <p:nvSpPr>
          <p:cNvPr id="56" name="Rectangle 55"/>
          <p:cNvSpPr/>
          <p:nvPr/>
        </p:nvSpPr>
        <p:spPr>
          <a:xfrm>
            <a:off x="4434840" y="338328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17720" y="3520440"/>
            <a:ext cx="3200400" cy="182880"/>
          </a:xfrm>
          <a:prstGeom prst="rect">
            <a:avLst/>
          </a:prstGeom>
          <a:noFill/>
        </p:spPr>
        <p:txBody>
          <a:bodyPr wrap="square"/>
          <a:lstStyle/>
          <a:p>
            <a:pPr algn="l">
              <a:defRPr sz="800" b="1" i="0">
                <a:solidFill>
                  <a:srgbClr val="CC0011"/>
                </a:solidFill>
                <a:latin typeface="Calibri"/>
              </a:defRPr>
            </a:pPr>
            <a:r>
              <a:t>SPARK AR</a:t>
            </a:r>
          </a:p>
        </p:txBody>
      </p:sp>
      <p:sp>
        <p:nvSpPr>
          <p:cNvPr id="58" name="TextBox 57"/>
          <p:cNvSpPr txBox="1"/>
          <p:nvPr/>
        </p:nvSpPr>
        <p:spPr>
          <a:xfrm>
            <a:off x="4617720" y="3749039"/>
            <a:ext cx="3200400" cy="274320"/>
          </a:xfrm>
          <a:prstGeom prst="rect">
            <a:avLst/>
          </a:prstGeom>
          <a:noFill/>
        </p:spPr>
        <p:txBody>
          <a:bodyPr wrap="square"/>
          <a:lstStyle/>
          <a:p>
            <a:pPr algn="l">
              <a:defRPr sz="1600" b="1" i="0">
                <a:solidFill>
                  <a:srgbClr val="1A1A1A"/>
                </a:solidFill>
                <a:latin typeface="Calibri"/>
              </a:defRPr>
            </a:pPr>
            <a:r>
              <a:t>Beauty &amp; Cosmetic Filter</a:t>
            </a:r>
          </a:p>
        </p:txBody>
      </p:sp>
      <p:sp>
        <p:nvSpPr>
          <p:cNvPr id="59" name="TextBox 58"/>
          <p:cNvSpPr txBox="1"/>
          <p:nvPr/>
        </p:nvSpPr>
        <p:spPr>
          <a:xfrm>
            <a:off x="4617720" y="4114800"/>
            <a:ext cx="3200400" cy="1097280"/>
          </a:xfrm>
          <a:prstGeom prst="rect">
            <a:avLst/>
          </a:prstGeom>
          <a:noFill/>
        </p:spPr>
        <p:txBody>
          <a:bodyPr wrap="square"/>
          <a:lstStyle/>
          <a:p>
            <a:pPr algn="l">
              <a:lnSpc>
                <a:spcPts val="1500"/>
              </a:lnSpc>
              <a:defRPr sz="1000" b="0" i="0">
                <a:solidFill>
                  <a:srgbClr val="4A4A4A"/>
                </a:solidFill>
                <a:latin typeface="Calibri"/>
              </a:defRPr>
            </a:pPr>
            <a:r>
              <a:t>Instagram AR filter promoting Valani skincare's new product launch. Creates buzz and customer awareness by letting users virtually try products.</a:t>
            </a:r>
          </a:p>
        </p:txBody>
      </p:sp>
      <p:sp>
        <p:nvSpPr>
          <p:cNvPr id="60" name="Rectangle 59"/>
          <p:cNvSpPr/>
          <p:nvPr/>
        </p:nvSpPr>
        <p:spPr>
          <a:xfrm>
            <a:off x="4617720" y="525780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17720" y="5349240"/>
            <a:ext cx="1280160" cy="164592"/>
          </a:xfrm>
          <a:prstGeom prst="rect">
            <a:avLst/>
          </a:prstGeom>
          <a:noFill/>
        </p:spPr>
        <p:txBody>
          <a:bodyPr wrap="square"/>
          <a:lstStyle/>
          <a:p>
            <a:pPr algn="l">
              <a:defRPr sz="700" b="1" i="0">
                <a:solidFill>
                  <a:srgbClr val="888580"/>
                </a:solidFill>
                <a:latin typeface="Calibri"/>
              </a:defRPr>
            </a:pPr>
            <a:r>
              <a:t>PLATFORM</a:t>
            </a:r>
          </a:p>
        </p:txBody>
      </p:sp>
      <p:sp>
        <p:nvSpPr>
          <p:cNvPr id="62" name="TextBox 61"/>
          <p:cNvSpPr txBox="1"/>
          <p:nvPr/>
        </p:nvSpPr>
        <p:spPr>
          <a:xfrm>
            <a:off x="4617720" y="5504688"/>
            <a:ext cx="1371600" cy="201168"/>
          </a:xfrm>
          <a:prstGeom prst="rect">
            <a:avLst/>
          </a:prstGeom>
          <a:noFill/>
        </p:spPr>
        <p:txBody>
          <a:bodyPr wrap="square"/>
          <a:lstStyle/>
          <a:p>
            <a:pPr algn="l">
              <a:defRPr sz="800" b="1" i="0">
                <a:solidFill>
                  <a:srgbClr val="1A1A1A"/>
                </a:solidFill>
                <a:latin typeface="Calibri"/>
              </a:defRPr>
            </a:pPr>
            <a:r>
              <a:t>INSTAGRAM</a:t>
            </a:r>
          </a:p>
        </p:txBody>
      </p:sp>
      <p:sp>
        <p:nvSpPr>
          <p:cNvPr id="63" name="TextBox 62"/>
          <p:cNvSpPr txBox="1"/>
          <p:nvPr/>
        </p:nvSpPr>
        <p:spPr>
          <a:xfrm>
            <a:off x="6080760" y="5349240"/>
            <a:ext cx="1280160" cy="164592"/>
          </a:xfrm>
          <a:prstGeom prst="rect">
            <a:avLst/>
          </a:prstGeom>
          <a:noFill/>
        </p:spPr>
        <p:txBody>
          <a:bodyPr wrap="square"/>
          <a:lstStyle/>
          <a:p>
            <a:pPr algn="l">
              <a:defRPr sz="700" b="1" i="0">
                <a:solidFill>
                  <a:srgbClr val="888580"/>
                </a:solidFill>
                <a:latin typeface="Calibri"/>
              </a:defRPr>
            </a:pPr>
            <a:r>
              <a:t>TARGET</a:t>
            </a:r>
          </a:p>
        </p:txBody>
      </p:sp>
      <p:sp>
        <p:nvSpPr>
          <p:cNvPr id="64" name="TextBox 63"/>
          <p:cNvSpPr txBox="1"/>
          <p:nvPr/>
        </p:nvSpPr>
        <p:spPr>
          <a:xfrm>
            <a:off x="6080760" y="5504688"/>
            <a:ext cx="1371600" cy="201168"/>
          </a:xfrm>
          <a:prstGeom prst="rect">
            <a:avLst/>
          </a:prstGeom>
          <a:noFill/>
        </p:spPr>
        <p:txBody>
          <a:bodyPr wrap="square"/>
          <a:lstStyle/>
          <a:p>
            <a:pPr algn="l">
              <a:defRPr sz="800" b="1" i="0">
                <a:solidFill>
                  <a:srgbClr val="1A1A1A"/>
                </a:solidFill>
                <a:latin typeface="Calibri"/>
              </a:defRPr>
            </a:pPr>
            <a:r>
              <a:t>25-40 F</a:t>
            </a:r>
          </a:p>
        </p:txBody>
      </p:sp>
      <p:sp>
        <p:nvSpPr>
          <p:cNvPr id="65" name="Rectangle 64"/>
          <p:cNvSpPr/>
          <p:nvPr/>
        </p:nvSpPr>
        <p:spPr>
          <a:xfrm>
            <a:off x="822960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03920" y="2194560"/>
            <a:ext cx="3017520" cy="365760"/>
          </a:xfrm>
          <a:prstGeom prst="rect">
            <a:avLst/>
          </a:prstGeom>
          <a:noFill/>
        </p:spPr>
        <p:txBody>
          <a:bodyPr wrap="square"/>
          <a:lstStyle/>
          <a:p>
            <a:pPr algn="ctr">
              <a:defRPr sz="1000" b="0" i="0">
                <a:solidFill>
                  <a:srgbClr val="AAA7A2"/>
                </a:solidFill>
                <a:latin typeface="Calibri"/>
              </a:defRPr>
            </a:pPr>
            <a:r>
              <a:t>[ GAMIFIED TOURISM FILTER SCREENSHOT ]</a:t>
            </a:r>
          </a:p>
        </p:txBody>
      </p:sp>
      <p:sp>
        <p:nvSpPr>
          <p:cNvPr id="67" name="Rectangle 66"/>
          <p:cNvSpPr/>
          <p:nvPr/>
        </p:nvSpPr>
        <p:spPr>
          <a:xfrm>
            <a:off x="8229600" y="338328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12480" y="3520440"/>
            <a:ext cx="3200400" cy="182880"/>
          </a:xfrm>
          <a:prstGeom prst="rect">
            <a:avLst/>
          </a:prstGeom>
          <a:noFill/>
        </p:spPr>
        <p:txBody>
          <a:bodyPr wrap="square"/>
          <a:lstStyle/>
          <a:p>
            <a:pPr algn="l">
              <a:defRPr sz="800" b="1" i="0">
                <a:solidFill>
                  <a:srgbClr val="CC0011"/>
                </a:solidFill>
                <a:latin typeface="Calibri"/>
              </a:defRPr>
            </a:pPr>
            <a:r>
              <a:t>SPARK AR</a:t>
            </a:r>
          </a:p>
        </p:txBody>
      </p:sp>
      <p:sp>
        <p:nvSpPr>
          <p:cNvPr id="69" name="TextBox 68"/>
          <p:cNvSpPr txBox="1"/>
          <p:nvPr/>
        </p:nvSpPr>
        <p:spPr>
          <a:xfrm>
            <a:off x="8412480" y="3749039"/>
            <a:ext cx="3200400" cy="274320"/>
          </a:xfrm>
          <a:prstGeom prst="rect">
            <a:avLst/>
          </a:prstGeom>
          <a:noFill/>
        </p:spPr>
        <p:txBody>
          <a:bodyPr wrap="square"/>
          <a:lstStyle/>
          <a:p>
            <a:pPr algn="l">
              <a:defRPr sz="1600" b="1" i="0">
                <a:solidFill>
                  <a:srgbClr val="1A1A1A"/>
                </a:solidFill>
                <a:latin typeface="Calibri"/>
              </a:defRPr>
            </a:pPr>
            <a:r>
              <a:t>Gamified Tourism Filter</a:t>
            </a:r>
          </a:p>
        </p:txBody>
      </p:sp>
      <p:sp>
        <p:nvSpPr>
          <p:cNvPr id="70" name="TextBox 69"/>
          <p:cNvSpPr txBox="1"/>
          <p:nvPr/>
        </p:nvSpPr>
        <p:spPr>
          <a:xfrm>
            <a:off x="8412480" y="4114800"/>
            <a:ext cx="3200400" cy="1097280"/>
          </a:xfrm>
          <a:prstGeom prst="rect">
            <a:avLst/>
          </a:prstGeom>
          <a:noFill/>
        </p:spPr>
        <p:txBody>
          <a:bodyPr wrap="square"/>
          <a:lstStyle/>
          <a:p>
            <a:pPr algn="l">
              <a:lnSpc>
                <a:spcPts val="1500"/>
              </a:lnSpc>
              <a:defRPr sz="1000" b="0" i="0">
                <a:solidFill>
                  <a:srgbClr val="4A4A4A"/>
                </a:solidFill>
                <a:latin typeface="Calibri"/>
              </a:defRPr>
            </a:pPr>
            <a:r>
              <a:t>Interactive Instagram game filter promoting tourism in Nakhon Nayok province. Players catch falling local fruits — growing tourism awareness.</a:t>
            </a:r>
          </a:p>
        </p:txBody>
      </p:sp>
      <p:sp>
        <p:nvSpPr>
          <p:cNvPr id="71" name="Rectangle 70"/>
          <p:cNvSpPr/>
          <p:nvPr/>
        </p:nvSpPr>
        <p:spPr>
          <a:xfrm>
            <a:off x="8412480" y="525780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12480" y="5349240"/>
            <a:ext cx="1280160" cy="164592"/>
          </a:xfrm>
          <a:prstGeom prst="rect">
            <a:avLst/>
          </a:prstGeom>
          <a:noFill/>
        </p:spPr>
        <p:txBody>
          <a:bodyPr wrap="square"/>
          <a:lstStyle/>
          <a:p>
            <a:pPr algn="l">
              <a:defRPr sz="700" b="1" i="0">
                <a:solidFill>
                  <a:srgbClr val="888580"/>
                </a:solidFill>
                <a:latin typeface="Calibri"/>
              </a:defRPr>
            </a:pPr>
            <a:r>
              <a:t>GOAL</a:t>
            </a:r>
          </a:p>
        </p:txBody>
      </p:sp>
      <p:sp>
        <p:nvSpPr>
          <p:cNvPr id="73" name="TextBox 72"/>
          <p:cNvSpPr txBox="1"/>
          <p:nvPr/>
        </p:nvSpPr>
        <p:spPr>
          <a:xfrm>
            <a:off x="8412480" y="5504688"/>
            <a:ext cx="1371600" cy="201168"/>
          </a:xfrm>
          <a:prstGeom prst="rect">
            <a:avLst/>
          </a:prstGeom>
          <a:noFill/>
        </p:spPr>
        <p:txBody>
          <a:bodyPr wrap="square"/>
          <a:lstStyle/>
          <a:p>
            <a:pPr algn="l">
              <a:defRPr sz="800" b="1" i="0">
                <a:solidFill>
                  <a:srgbClr val="1A1A1A"/>
                </a:solidFill>
                <a:latin typeface="Calibri"/>
              </a:defRPr>
            </a:pPr>
            <a:r>
              <a:t>TOURISM</a:t>
            </a:r>
          </a:p>
        </p:txBody>
      </p:sp>
      <p:sp>
        <p:nvSpPr>
          <p:cNvPr id="74" name="TextBox 73"/>
          <p:cNvSpPr txBox="1"/>
          <p:nvPr/>
        </p:nvSpPr>
        <p:spPr>
          <a:xfrm>
            <a:off x="9875519" y="5349240"/>
            <a:ext cx="1280160" cy="164592"/>
          </a:xfrm>
          <a:prstGeom prst="rect">
            <a:avLst/>
          </a:prstGeom>
          <a:noFill/>
        </p:spPr>
        <p:txBody>
          <a:bodyPr wrap="square"/>
          <a:lstStyle/>
          <a:p>
            <a:pPr algn="l">
              <a:defRPr sz="700" b="1" i="0">
                <a:solidFill>
                  <a:srgbClr val="888580"/>
                </a:solidFill>
                <a:latin typeface="Calibri"/>
              </a:defRPr>
            </a:pPr>
            <a:r>
              <a:t>AGE</a:t>
            </a:r>
          </a:p>
        </p:txBody>
      </p:sp>
      <p:sp>
        <p:nvSpPr>
          <p:cNvPr id="75" name="TextBox 74"/>
          <p:cNvSpPr txBox="1"/>
          <p:nvPr/>
        </p:nvSpPr>
        <p:spPr>
          <a:xfrm>
            <a:off x="9875519" y="5504688"/>
            <a:ext cx="1371600" cy="201168"/>
          </a:xfrm>
          <a:prstGeom prst="rect">
            <a:avLst/>
          </a:prstGeom>
          <a:noFill/>
        </p:spPr>
        <p:txBody>
          <a:bodyPr wrap="square"/>
          <a:lstStyle/>
          <a:p>
            <a:pPr algn="l">
              <a:defRPr sz="800" b="1" i="0">
                <a:solidFill>
                  <a:srgbClr val="1A1A1A"/>
                </a:solidFill>
                <a:latin typeface="Calibri"/>
              </a:defRPr>
            </a:pPr>
            <a:r>
              <a:t>20-40</a:t>
            </a:r>
          </a:p>
        </p:txBody>
      </p:sp>
      <p:sp>
        <p:nvSpPr>
          <p:cNvPr id="76" name="Rectangle 75"/>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9" name="TextBox 78"/>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11  —  PORTFOLIO — CONTINUED</a:t>
            </a:r>
          </a:p>
        </p:txBody>
      </p:sp>
      <p:sp>
        <p:nvSpPr>
          <p:cNvPr id="41" name="Rectangle 40"/>
          <p:cNvSpPr/>
          <p:nvPr/>
        </p:nvSpPr>
        <p:spPr>
          <a:xfrm>
            <a:off x="731520" y="685800"/>
            <a:ext cx="1664208"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XR Projects</a:t>
            </a:r>
          </a:p>
        </p:txBody>
      </p:sp>
      <p:sp>
        <p:nvSpPr>
          <p:cNvPr id="43" name="TextBox 42"/>
          <p:cNvSpPr txBox="1"/>
          <p:nvPr/>
        </p:nvSpPr>
        <p:spPr>
          <a:xfrm>
            <a:off x="4572000" y="1005840"/>
            <a:ext cx="3657600" cy="365760"/>
          </a:xfrm>
          <a:prstGeom prst="rect">
            <a:avLst/>
          </a:prstGeom>
          <a:noFill/>
        </p:spPr>
        <p:txBody>
          <a:bodyPr wrap="square"/>
          <a:lstStyle/>
          <a:p>
            <a:pPr algn="l">
              <a:defRPr sz="1800" b="0" i="1">
                <a:solidFill>
                  <a:srgbClr val="888580"/>
                </a:solidFill>
                <a:latin typeface="Calibri"/>
              </a:defRPr>
            </a:pPr>
            <a:r>
              <a:t>(continued)</a:t>
            </a:r>
          </a:p>
        </p:txBody>
      </p:sp>
      <p:sp>
        <p:nvSpPr>
          <p:cNvPr id="44" name="Rectangle 43"/>
          <p:cNvSpPr/>
          <p:nvPr/>
        </p:nvSpPr>
        <p:spPr>
          <a:xfrm>
            <a:off x="64008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2194560"/>
            <a:ext cx="3017520" cy="365760"/>
          </a:xfrm>
          <a:prstGeom prst="rect">
            <a:avLst/>
          </a:prstGeom>
          <a:noFill/>
        </p:spPr>
        <p:txBody>
          <a:bodyPr wrap="square"/>
          <a:lstStyle/>
          <a:p>
            <a:pPr algn="ctr">
              <a:defRPr sz="1000" b="0" i="0">
                <a:solidFill>
                  <a:srgbClr val="AAA7A2"/>
                </a:solidFill>
                <a:latin typeface="Calibri"/>
              </a:defRPr>
            </a:pPr>
            <a:r>
              <a:t>[ MENU / BROCHURE FILTER SCREENSHOT ]</a:t>
            </a:r>
          </a:p>
        </p:txBody>
      </p:sp>
      <p:sp>
        <p:nvSpPr>
          <p:cNvPr id="46" name="Rectangle 45"/>
          <p:cNvSpPr/>
          <p:nvPr/>
        </p:nvSpPr>
        <p:spPr>
          <a:xfrm>
            <a:off x="640080" y="338328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59" y="3520440"/>
            <a:ext cx="3200400" cy="182880"/>
          </a:xfrm>
          <a:prstGeom prst="rect">
            <a:avLst/>
          </a:prstGeom>
          <a:noFill/>
        </p:spPr>
        <p:txBody>
          <a:bodyPr wrap="square"/>
          <a:lstStyle/>
          <a:p>
            <a:pPr algn="l">
              <a:defRPr sz="800" b="1" i="0">
                <a:solidFill>
                  <a:srgbClr val="CC0011"/>
                </a:solidFill>
                <a:latin typeface="Calibri"/>
              </a:defRPr>
            </a:pPr>
            <a:r>
              <a:t>SPARK AR</a:t>
            </a:r>
          </a:p>
        </p:txBody>
      </p:sp>
      <p:sp>
        <p:nvSpPr>
          <p:cNvPr id="48" name="TextBox 47"/>
          <p:cNvSpPr txBox="1"/>
          <p:nvPr/>
        </p:nvSpPr>
        <p:spPr>
          <a:xfrm>
            <a:off x="822959" y="3749039"/>
            <a:ext cx="3200400" cy="274320"/>
          </a:xfrm>
          <a:prstGeom prst="rect">
            <a:avLst/>
          </a:prstGeom>
          <a:noFill/>
        </p:spPr>
        <p:txBody>
          <a:bodyPr wrap="square"/>
          <a:lstStyle/>
          <a:p>
            <a:pPr algn="l">
              <a:defRPr sz="1600" b="1" i="0">
                <a:solidFill>
                  <a:srgbClr val="1A1A1A"/>
                </a:solidFill>
                <a:latin typeface="Calibri"/>
              </a:defRPr>
            </a:pPr>
            <a:r>
              <a:t>Menu / Brochure Filter</a:t>
            </a:r>
          </a:p>
        </p:txBody>
      </p:sp>
      <p:sp>
        <p:nvSpPr>
          <p:cNvPr id="49" name="TextBox 48"/>
          <p:cNvSpPr txBox="1"/>
          <p:nvPr/>
        </p:nvSpPr>
        <p:spPr>
          <a:xfrm>
            <a:off x="822959" y="4114800"/>
            <a:ext cx="3200400" cy="1097280"/>
          </a:xfrm>
          <a:prstGeom prst="rect">
            <a:avLst/>
          </a:prstGeom>
          <a:noFill/>
        </p:spPr>
        <p:txBody>
          <a:bodyPr wrap="square"/>
          <a:lstStyle/>
          <a:p>
            <a:pPr algn="l">
              <a:lnSpc>
                <a:spcPts val="1500"/>
              </a:lnSpc>
              <a:defRPr sz="1000" b="0" i="0">
                <a:solidFill>
                  <a:srgbClr val="4A4A4A"/>
                </a:solidFill>
                <a:latin typeface="Calibri"/>
              </a:defRPr>
            </a:pPr>
            <a:r>
              <a:t>AR-enhanced café menu for drin'c coffee shop. Scanning the physical menu with a smartphone reveals 3D coffee visualizations — adding interactivity to the product.</a:t>
            </a:r>
          </a:p>
        </p:txBody>
      </p:sp>
      <p:sp>
        <p:nvSpPr>
          <p:cNvPr id="50" name="Rectangle 49"/>
          <p:cNvSpPr/>
          <p:nvPr/>
        </p:nvSpPr>
        <p:spPr>
          <a:xfrm>
            <a:off x="822959" y="525780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59" y="5349240"/>
            <a:ext cx="1280160" cy="164592"/>
          </a:xfrm>
          <a:prstGeom prst="rect">
            <a:avLst/>
          </a:prstGeom>
          <a:noFill/>
        </p:spPr>
        <p:txBody>
          <a:bodyPr wrap="square"/>
          <a:lstStyle/>
          <a:p>
            <a:pPr algn="l">
              <a:defRPr sz="700" b="1" i="0">
                <a:solidFill>
                  <a:srgbClr val="888580"/>
                </a:solidFill>
                <a:latin typeface="Calibri"/>
              </a:defRPr>
            </a:pPr>
            <a:r>
              <a:t>TRIGGER</a:t>
            </a:r>
          </a:p>
        </p:txBody>
      </p:sp>
      <p:sp>
        <p:nvSpPr>
          <p:cNvPr id="52" name="TextBox 51"/>
          <p:cNvSpPr txBox="1"/>
          <p:nvPr/>
        </p:nvSpPr>
        <p:spPr>
          <a:xfrm>
            <a:off x="822959" y="5504688"/>
            <a:ext cx="1371600" cy="201168"/>
          </a:xfrm>
          <a:prstGeom prst="rect">
            <a:avLst/>
          </a:prstGeom>
          <a:noFill/>
        </p:spPr>
        <p:txBody>
          <a:bodyPr wrap="square"/>
          <a:lstStyle/>
          <a:p>
            <a:pPr algn="l">
              <a:defRPr sz="800" b="1" i="0">
                <a:solidFill>
                  <a:srgbClr val="1A1A1A"/>
                </a:solidFill>
                <a:latin typeface="Calibri"/>
              </a:defRPr>
            </a:pPr>
            <a:r>
              <a:t>IMAGE TARGET</a:t>
            </a:r>
          </a:p>
        </p:txBody>
      </p:sp>
      <p:sp>
        <p:nvSpPr>
          <p:cNvPr id="53" name="TextBox 52"/>
          <p:cNvSpPr txBox="1"/>
          <p:nvPr/>
        </p:nvSpPr>
        <p:spPr>
          <a:xfrm>
            <a:off x="2286000" y="5349240"/>
            <a:ext cx="1280160" cy="164592"/>
          </a:xfrm>
          <a:prstGeom prst="rect">
            <a:avLst/>
          </a:prstGeom>
          <a:noFill/>
        </p:spPr>
        <p:txBody>
          <a:bodyPr wrap="square"/>
          <a:lstStyle/>
          <a:p>
            <a:pPr algn="l">
              <a:defRPr sz="700" b="1" i="0">
                <a:solidFill>
                  <a:srgbClr val="888580"/>
                </a:solidFill>
                <a:latin typeface="Calibri"/>
              </a:defRPr>
            </a:pPr>
            <a:r>
              <a:t>OUTPUT</a:t>
            </a:r>
          </a:p>
        </p:txBody>
      </p:sp>
      <p:sp>
        <p:nvSpPr>
          <p:cNvPr id="54" name="TextBox 53"/>
          <p:cNvSpPr txBox="1"/>
          <p:nvPr/>
        </p:nvSpPr>
        <p:spPr>
          <a:xfrm>
            <a:off x="2286000" y="5504688"/>
            <a:ext cx="1371600" cy="201168"/>
          </a:xfrm>
          <a:prstGeom prst="rect">
            <a:avLst/>
          </a:prstGeom>
          <a:noFill/>
        </p:spPr>
        <p:txBody>
          <a:bodyPr wrap="square"/>
          <a:lstStyle/>
          <a:p>
            <a:pPr algn="l">
              <a:defRPr sz="800" b="1" i="0">
                <a:solidFill>
                  <a:srgbClr val="1A1A1A"/>
                </a:solidFill>
                <a:latin typeface="Calibri"/>
              </a:defRPr>
            </a:pPr>
            <a:r>
              <a:t>3D PRODUCT</a:t>
            </a:r>
          </a:p>
        </p:txBody>
      </p:sp>
      <p:sp>
        <p:nvSpPr>
          <p:cNvPr id="55" name="Rectangle 54"/>
          <p:cNvSpPr/>
          <p:nvPr/>
        </p:nvSpPr>
        <p:spPr>
          <a:xfrm>
            <a:off x="443484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709160" y="2194560"/>
            <a:ext cx="3017520" cy="365760"/>
          </a:xfrm>
          <a:prstGeom prst="rect">
            <a:avLst/>
          </a:prstGeom>
          <a:noFill/>
        </p:spPr>
        <p:txBody>
          <a:bodyPr wrap="square"/>
          <a:lstStyle/>
          <a:p>
            <a:pPr algn="ctr">
              <a:defRPr sz="1000" b="0" i="0">
                <a:solidFill>
                  <a:srgbClr val="AAA7A2"/>
                </a:solidFill>
                <a:latin typeface="Calibri"/>
              </a:defRPr>
            </a:pPr>
            <a:r>
              <a:t>[ AUGMA BKK GAMEPLAY SCREENSHOT ]</a:t>
            </a:r>
          </a:p>
        </p:txBody>
      </p:sp>
      <p:sp>
        <p:nvSpPr>
          <p:cNvPr id="57" name="Rectangle 56"/>
          <p:cNvSpPr/>
          <p:nvPr/>
        </p:nvSpPr>
        <p:spPr>
          <a:xfrm>
            <a:off x="4434840" y="338328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17720" y="3520440"/>
            <a:ext cx="3200400" cy="182880"/>
          </a:xfrm>
          <a:prstGeom prst="rect">
            <a:avLst/>
          </a:prstGeom>
          <a:noFill/>
        </p:spPr>
        <p:txBody>
          <a:bodyPr wrap="square"/>
          <a:lstStyle/>
          <a:p>
            <a:pPr algn="l">
              <a:defRPr sz="800" b="1" i="0">
                <a:solidFill>
                  <a:srgbClr val="CC0011"/>
                </a:solidFill>
                <a:latin typeface="Calibri"/>
              </a:defRPr>
            </a:pPr>
            <a:r>
              <a:t>LIGHTSHIP ARDK</a:t>
            </a:r>
          </a:p>
        </p:txBody>
      </p:sp>
      <p:sp>
        <p:nvSpPr>
          <p:cNvPr id="59" name="TextBox 58"/>
          <p:cNvSpPr txBox="1"/>
          <p:nvPr/>
        </p:nvSpPr>
        <p:spPr>
          <a:xfrm>
            <a:off x="4617720" y="3749039"/>
            <a:ext cx="3200400" cy="274320"/>
          </a:xfrm>
          <a:prstGeom prst="rect">
            <a:avLst/>
          </a:prstGeom>
          <a:noFill/>
        </p:spPr>
        <p:txBody>
          <a:bodyPr wrap="square"/>
          <a:lstStyle/>
          <a:p>
            <a:pPr algn="l">
              <a:defRPr sz="1600" b="1" i="0">
                <a:solidFill>
                  <a:srgbClr val="1A1A1A"/>
                </a:solidFill>
                <a:latin typeface="Calibri"/>
              </a:defRPr>
            </a:pPr>
            <a:r>
              <a:t>Augma BKK Gameplay</a:t>
            </a:r>
          </a:p>
        </p:txBody>
      </p:sp>
      <p:sp>
        <p:nvSpPr>
          <p:cNvPr id="60" name="TextBox 59"/>
          <p:cNvSpPr txBox="1"/>
          <p:nvPr/>
        </p:nvSpPr>
        <p:spPr>
          <a:xfrm>
            <a:off x="4617720" y="4114800"/>
            <a:ext cx="3200400" cy="1097280"/>
          </a:xfrm>
          <a:prstGeom prst="rect">
            <a:avLst/>
          </a:prstGeom>
          <a:noFill/>
        </p:spPr>
        <p:txBody>
          <a:bodyPr wrap="square"/>
          <a:lstStyle/>
          <a:p>
            <a:pPr algn="l">
              <a:lnSpc>
                <a:spcPts val="1500"/>
              </a:lnSpc>
              <a:defRPr sz="1000" b="0" i="0">
                <a:solidFill>
                  <a:srgbClr val="4A4A4A"/>
                </a:solidFill>
                <a:latin typeface="Calibri"/>
              </a:defRPr>
            </a:pPr>
            <a:r>
              <a:t>Close the "AR" Rabbit hole around Augmented Bangkok. City-scale park gamification with BUNN-E companions — battles, collectibles, and location-anchored quests.</a:t>
            </a:r>
          </a:p>
        </p:txBody>
      </p:sp>
      <p:sp>
        <p:nvSpPr>
          <p:cNvPr id="61" name="Rectangle 60"/>
          <p:cNvSpPr/>
          <p:nvPr/>
        </p:nvSpPr>
        <p:spPr>
          <a:xfrm>
            <a:off x="4617720" y="525780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17720" y="5349240"/>
            <a:ext cx="1280160" cy="164592"/>
          </a:xfrm>
          <a:prstGeom prst="rect">
            <a:avLst/>
          </a:prstGeom>
          <a:noFill/>
        </p:spPr>
        <p:txBody>
          <a:bodyPr wrap="square"/>
          <a:lstStyle/>
          <a:p>
            <a:pPr algn="l">
              <a:defRPr sz="700" b="1" i="0">
                <a:solidFill>
                  <a:srgbClr val="888580"/>
                </a:solidFill>
                <a:latin typeface="Calibri"/>
              </a:defRPr>
            </a:pPr>
            <a:r>
              <a:t>SCALE</a:t>
            </a:r>
          </a:p>
        </p:txBody>
      </p:sp>
      <p:sp>
        <p:nvSpPr>
          <p:cNvPr id="63" name="TextBox 62"/>
          <p:cNvSpPr txBox="1"/>
          <p:nvPr/>
        </p:nvSpPr>
        <p:spPr>
          <a:xfrm>
            <a:off x="4617720" y="5504688"/>
            <a:ext cx="1371600" cy="201168"/>
          </a:xfrm>
          <a:prstGeom prst="rect">
            <a:avLst/>
          </a:prstGeom>
          <a:noFill/>
        </p:spPr>
        <p:txBody>
          <a:bodyPr wrap="square"/>
          <a:lstStyle/>
          <a:p>
            <a:pPr algn="l">
              <a:defRPr sz="800" b="1" i="0">
                <a:solidFill>
                  <a:srgbClr val="1A1A1A"/>
                </a:solidFill>
                <a:latin typeface="Calibri"/>
              </a:defRPr>
            </a:pPr>
            <a:r>
              <a:t>CITY-WIDE</a:t>
            </a:r>
          </a:p>
        </p:txBody>
      </p:sp>
      <p:sp>
        <p:nvSpPr>
          <p:cNvPr id="64" name="TextBox 63"/>
          <p:cNvSpPr txBox="1"/>
          <p:nvPr/>
        </p:nvSpPr>
        <p:spPr>
          <a:xfrm>
            <a:off x="6080760" y="5349240"/>
            <a:ext cx="1280160" cy="164592"/>
          </a:xfrm>
          <a:prstGeom prst="rect">
            <a:avLst/>
          </a:prstGeom>
          <a:noFill/>
        </p:spPr>
        <p:txBody>
          <a:bodyPr wrap="square"/>
          <a:lstStyle/>
          <a:p>
            <a:pPr algn="l">
              <a:defRPr sz="700" b="1" i="0">
                <a:solidFill>
                  <a:srgbClr val="888580"/>
                </a:solidFill>
                <a:latin typeface="Calibri"/>
              </a:defRPr>
            </a:pPr>
            <a:r>
              <a:t>MODE</a:t>
            </a:r>
          </a:p>
        </p:txBody>
      </p:sp>
      <p:sp>
        <p:nvSpPr>
          <p:cNvPr id="65" name="TextBox 64"/>
          <p:cNvSpPr txBox="1"/>
          <p:nvPr/>
        </p:nvSpPr>
        <p:spPr>
          <a:xfrm>
            <a:off x="6080760" y="5504688"/>
            <a:ext cx="1371600" cy="201168"/>
          </a:xfrm>
          <a:prstGeom prst="rect">
            <a:avLst/>
          </a:prstGeom>
          <a:noFill/>
        </p:spPr>
        <p:txBody>
          <a:bodyPr wrap="square"/>
          <a:lstStyle/>
          <a:p>
            <a:pPr algn="l">
              <a:defRPr sz="800" b="1" i="0">
                <a:solidFill>
                  <a:srgbClr val="1A1A1A"/>
                </a:solidFill>
                <a:latin typeface="Calibri"/>
              </a:defRPr>
            </a:pPr>
            <a:r>
              <a:t>SINGLE / MP</a:t>
            </a:r>
          </a:p>
        </p:txBody>
      </p:sp>
      <p:sp>
        <p:nvSpPr>
          <p:cNvPr id="66" name="Rectangle 65"/>
          <p:cNvSpPr/>
          <p:nvPr/>
        </p:nvSpPr>
        <p:spPr>
          <a:xfrm>
            <a:off x="822960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03920" y="2194560"/>
            <a:ext cx="3017520" cy="365760"/>
          </a:xfrm>
          <a:prstGeom prst="rect">
            <a:avLst/>
          </a:prstGeom>
          <a:noFill/>
        </p:spPr>
        <p:txBody>
          <a:bodyPr wrap="square"/>
          <a:lstStyle/>
          <a:p>
            <a:pPr algn="ctr">
              <a:defRPr sz="1000" b="0" i="0">
                <a:solidFill>
                  <a:srgbClr val="AAA7A2"/>
                </a:solidFill>
                <a:latin typeface="Calibri"/>
              </a:defRPr>
            </a:pPr>
            <a:r>
              <a:t>[ XR BAZAAR PORTFOLIO SCREENSHOT ]</a:t>
            </a:r>
          </a:p>
        </p:txBody>
      </p:sp>
      <p:sp>
        <p:nvSpPr>
          <p:cNvPr id="68" name="Rectangle 67"/>
          <p:cNvSpPr/>
          <p:nvPr/>
        </p:nvSpPr>
        <p:spPr>
          <a:xfrm>
            <a:off x="8229600" y="338328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80" y="3520440"/>
            <a:ext cx="3200400" cy="182880"/>
          </a:xfrm>
          <a:prstGeom prst="rect">
            <a:avLst/>
          </a:prstGeom>
          <a:noFill/>
        </p:spPr>
        <p:txBody>
          <a:bodyPr wrap="square"/>
          <a:lstStyle/>
          <a:p>
            <a:pPr algn="l">
              <a:defRPr sz="800" b="1" i="0">
                <a:solidFill>
                  <a:srgbClr val="CC0011"/>
                </a:solidFill>
                <a:latin typeface="Calibri"/>
              </a:defRPr>
            </a:pPr>
            <a:r>
              <a:t>MULTIPLE PLATFORMS</a:t>
            </a:r>
          </a:p>
        </p:txBody>
      </p:sp>
      <p:sp>
        <p:nvSpPr>
          <p:cNvPr id="70" name="TextBox 69"/>
          <p:cNvSpPr txBox="1"/>
          <p:nvPr/>
        </p:nvSpPr>
        <p:spPr>
          <a:xfrm>
            <a:off x="8412480" y="3749039"/>
            <a:ext cx="3200400" cy="274320"/>
          </a:xfrm>
          <a:prstGeom prst="rect">
            <a:avLst/>
          </a:prstGeom>
          <a:noFill/>
        </p:spPr>
        <p:txBody>
          <a:bodyPr wrap="square"/>
          <a:lstStyle/>
          <a:p>
            <a:pPr algn="l">
              <a:defRPr sz="1600" b="1" i="0">
                <a:solidFill>
                  <a:srgbClr val="1A1A1A"/>
                </a:solidFill>
                <a:latin typeface="Calibri"/>
              </a:defRPr>
            </a:pPr>
            <a:r>
              <a:t>XR Bazaar Portfolio</a:t>
            </a:r>
          </a:p>
        </p:txBody>
      </p:sp>
      <p:sp>
        <p:nvSpPr>
          <p:cNvPr id="71" name="TextBox 70"/>
          <p:cNvSpPr txBox="1"/>
          <p:nvPr/>
        </p:nvSpPr>
        <p:spPr>
          <a:xfrm>
            <a:off x="8412480" y="4114800"/>
            <a:ext cx="3200400" cy="1097280"/>
          </a:xfrm>
          <a:prstGeom prst="rect">
            <a:avLst/>
          </a:prstGeom>
          <a:noFill/>
        </p:spPr>
        <p:txBody>
          <a:bodyPr wrap="square"/>
          <a:lstStyle/>
          <a:p>
            <a:pPr algn="l">
              <a:lnSpc>
                <a:spcPts val="1500"/>
              </a:lnSpc>
              <a:defRPr sz="1000" b="0" i="0">
                <a:solidFill>
                  <a:srgbClr val="4A4A4A"/>
                </a:solidFill>
                <a:latin typeface="Calibri"/>
              </a:defRPr>
            </a:pPr>
            <a:r>
              <a:t>Full collection of 20+ commercial and personal AR/VR projects. Includes Instagram filters, Lightship projects, Facebook AR, and experimental XR pieces.</a:t>
            </a:r>
          </a:p>
        </p:txBody>
      </p:sp>
      <p:sp>
        <p:nvSpPr>
          <p:cNvPr id="72" name="Rectangle 71"/>
          <p:cNvSpPr/>
          <p:nvPr/>
        </p:nvSpPr>
        <p:spPr>
          <a:xfrm>
            <a:off x="8412480" y="525780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12480" y="5349240"/>
            <a:ext cx="1280160" cy="164592"/>
          </a:xfrm>
          <a:prstGeom prst="rect">
            <a:avLst/>
          </a:prstGeom>
          <a:noFill/>
        </p:spPr>
        <p:txBody>
          <a:bodyPr wrap="square"/>
          <a:lstStyle/>
          <a:p>
            <a:pPr algn="l">
              <a:defRPr sz="700" b="1" i="0">
                <a:solidFill>
                  <a:srgbClr val="888580"/>
                </a:solidFill>
                <a:latin typeface="Calibri"/>
              </a:defRPr>
            </a:pPr>
            <a:r>
              <a:t>COUNT</a:t>
            </a:r>
          </a:p>
        </p:txBody>
      </p:sp>
      <p:sp>
        <p:nvSpPr>
          <p:cNvPr id="74" name="TextBox 73"/>
          <p:cNvSpPr txBox="1"/>
          <p:nvPr/>
        </p:nvSpPr>
        <p:spPr>
          <a:xfrm>
            <a:off x="8412480" y="5504688"/>
            <a:ext cx="1371600" cy="201168"/>
          </a:xfrm>
          <a:prstGeom prst="rect">
            <a:avLst/>
          </a:prstGeom>
          <a:noFill/>
        </p:spPr>
        <p:txBody>
          <a:bodyPr wrap="square"/>
          <a:lstStyle/>
          <a:p>
            <a:pPr algn="l">
              <a:defRPr sz="800" b="1" i="0">
                <a:solidFill>
                  <a:srgbClr val="1A1A1A"/>
                </a:solidFill>
                <a:latin typeface="Calibri"/>
              </a:defRPr>
            </a:pPr>
            <a:r>
              <a:t>20+ PROJECTS</a:t>
            </a:r>
          </a:p>
        </p:txBody>
      </p:sp>
      <p:sp>
        <p:nvSpPr>
          <p:cNvPr id="75" name="TextBox 74"/>
          <p:cNvSpPr txBox="1"/>
          <p:nvPr/>
        </p:nvSpPr>
        <p:spPr>
          <a:xfrm>
            <a:off x="9875519" y="5349240"/>
            <a:ext cx="1280160" cy="164592"/>
          </a:xfrm>
          <a:prstGeom prst="rect">
            <a:avLst/>
          </a:prstGeom>
          <a:noFill/>
        </p:spPr>
        <p:txBody>
          <a:bodyPr wrap="square"/>
          <a:lstStyle/>
          <a:p>
            <a:pPr algn="l">
              <a:defRPr sz="700" b="1" i="0">
                <a:solidFill>
                  <a:srgbClr val="888580"/>
                </a:solidFill>
                <a:latin typeface="Calibri"/>
              </a:defRPr>
            </a:pPr>
            <a:r>
              <a:t>TYPE</a:t>
            </a:r>
          </a:p>
        </p:txBody>
      </p:sp>
      <p:sp>
        <p:nvSpPr>
          <p:cNvPr id="76" name="TextBox 75"/>
          <p:cNvSpPr txBox="1"/>
          <p:nvPr/>
        </p:nvSpPr>
        <p:spPr>
          <a:xfrm>
            <a:off x="9875519" y="5504688"/>
            <a:ext cx="1371600" cy="201168"/>
          </a:xfrm>
          <a:prstGeom prst="rect">
            <a:avLst/>
          </a:prstGeom>
          <a:noFill/>
        </p:spPr>
        <p:txBody>
          <a:bodyPr wrap="square"/>
          <a:lstStyle/>
          <a:p>
            <a:pPr algn="l">
              <a:defRPr sz="800" b="1" i="0">
                <a:solidFill>
                  <a:srgbClr val="1A1A1A"/>
                </a:solidFill>
                <a:latin typeface="Calibri"/>
              </a:defRPr>
            </a:pPr>
            <a:r>
              <a:t>COMMERCIAL</a:t>
            </a:r>
          </a:p>
        </p:txBody>
      </p:sp>
      <p:sp>
        <p:nvSpPr>
          <p:cNvPr id="77" name="Rectangle 76"/>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80" name="TextBox 79"/>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lstStyle/>
          <a:p>
            <a:pPr algn="l">
              <a:defRPr sz="1100" b="1" i="0">
                <a:solidFill>
                  <a:srgbClr val="777777"/>
                </a:solidFill>
                <a:latin typeface="Calibri"/>
              </a:defRPr>
            </a:pPr>
            <a:r>
              <a:t>CHARACTER  DESIGN</a:t>
            </a:r>
          </a:p>
        </p:txBody>
      </p:sp>
      <p:sp>
        <p:nvSpPr>
          <p:cNvPr id="3" name="TextBox 2"/>
          <p:cNvSpPr txBox="1"/>
          <p:nvPr/>
        </p:nvSpPr>
        <p:spPr>
          <a:xfrm>
            <a:off x="731520" y="731520"/>
            <a:ext cx="5486400" cy="731520"/>
          </a:xfrm>
          <a:prstGeom prst="rect">
            <a:avLst/>
          </a:prstGeom>
          <a:noFill/>
        </p:spPr>
        <p:txBody>
          <a:bodyPr wrap="square"/>
          <a:lstStyle/>
          <a:p>
            <a:pPr algn="l">
              <a:defRPr sz="5600" b="1" i="0">
                <a:solidFill>
                  <a:srgbClr val="FFFFFF"/>
                </a:solidFill>
                <a:latin typeface="Arial Black"/>
              </a:defRPr>
            </a:pPr>
            <a:r>
              <a:t>BUNN-E</a:t>
            </a:r>
          </a:p>
        </p:txBody>
      </p:sp>
      <p:sp>
        <p:nvSpPr>
          <p:cNvPr id="4" name="TextBox 3"/>
          <p:cNvSpPr txBox="1"/>
          <p:nvPr/>
        </p:nvSpPr>
        <p:spPr>
          <a:xfrm>
            <a:off x="731520" y="1463040"/>
            <a:ext cx="5486400" cy="365760"/>
          </a:xfrm>
          <a:prstGeom prst="rect">
            <a:avLst/>
          </a:prstGeom>
          <a:noFill/>
        </p:spPr>
        <p:txBody>
          <a:bodyPr wrap="square"/>
          <a:lstStyle/>
          <a:p>
            <a:pPr algn="l">
              <a:defRPr sz="1800" b="0" i="1">
                <a:solidFill>
                  <a:srgbClr val="CC0011"/>
                </a:solidFill>
                <a:latin typeface="Calibri"/>
              </a:defRPr>
            </a:pPr>
            <a:r>
              <a:t>MODEL  2.0</a:t>
            </a:r>
          </a:p>
        </p:txBody>
      </p:sp>
      <p:sp>
        <p:nvSpPr>
          <p:cNvPr id="5" name="TextBox 4"/>
          <p:cNvSpPr txBox="1"/>
          <p:nvPr/>
        </p:nvSpPr>
        <p:spPr>
          <a:xfrm>
            <a:off x="731520" y="2103120"/>
            <a:ext cx="4572000" cy="3200400"/>
          </a:xfrm>
          <a:prstGeom prst="rect">
            <a:avLst/>
          </a:prstGeom>
          <a:noFill/>
        </p:spPr>
        <p:txBody>
          <a:bodyPr wrap="square"/>
          <a:lstStyle/>
          <a:p>
            <a:pPr algn="l">
              <a:lnSpc>
                <a:spcPts val="1800"/>
              </a:lnSpc>
              <a:defRPr sz="1100" b="0" i="0">
                <a:solidFill>
                  <a:srgbClr val="BBBBBB"/>
                </a:solidFill>
                <a:latin typeface="Calibri"/>
              </a:defRPr>
            </a:pPr>
            <a:r>
              <a:t>BUNN-E is the robotic rabbit companion at the heart of the Augma ecosystem. Appearing across AR games, branding, and physical merchandise, BUNN-E serves as both a guide and a mascot — the friendly face of augmented adventure.</a:t>
            </a:r>
            <a:br/>
            <a:br/>
            <a:r>
              <a:t>The character went through multiple design iterations from simple 2D line art to a fully realized 3D model with game-ready assets. In Augma BKK, BUNN-E accompanies players on their AR journeys, helping uncover hidden missions and solve challenges across Bangkok's parks.</a:t>
            </a:r>
            <a:br/>
            <a:br/>
            <a:r>
              <a:t>The character design includes a full turnaround sheet, game items (health potions, boost capsules, revive crystals), branded merchandise concepts, and multiple visual styles (full color, outline, silhouette) for different brand applications.</a:t>
            </a:r>
          </a:p>
        </p:txBody>
      </p:sp>
      <p:sp>
        <p:nvSpPr>
          <p:cNvPr id="6" name="TextBox 5"/>
          <p:cNvSpPr txBox="1"/>
          <p:nvPr/>
        </p:nvSpPr>
        <p:spPr>
          <a:xfrm>
            <a:off x="731520" y="5669280"/>
            <a:ext cx="4572000" cy="274320"/>
          </a:xfrm>
          <a:prstGeom prst="rect">
            <a:avLst/>
          </a:prstGeom>
          <a:noFill/>
        </p:spPr>
        <p:txBody>
          <a:bodyPr wrap="square"/>
          <a:lstStyle/>
          <a:p>
            <a:pPr algn="l">
              <a:defRPr sz="1000" b="1" i="0">
                <a:solidFill>
                  <a:srgbClr val="CC0011"/>
                </a:solidFill>
                <a:latin typeface="Calibri"/>
              </a:defRPr>
            </a:pPr>
            <a:r>
              <a:t>AUGMA  IMAGINARIUM</a:t>
            </a:r>
          </a:p>
        </p:txBody>
      </p:sp>
      <p:sp>
        <p:nvSpPr>
          <p:cNvPr id="7" name="Rectangle 6"/>
          <p:cNvSpPr/>
          <p:nvPr/>
        </p:nvSpPr>
        <p:spPr>
          <a:xfrm>
            <a:off x="5943600" y="274320"/>
            <a:ext cx="5760720" cy="6309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743200"/>
            <a:ext cx="4389120" cy="365760"/>
          </a:xfrm>
          <a:prstGeom prst="rect">
            <a:avLst/>
          </a:prstGeom>
          <a:noFill/>
        </p:spPr>
        <p:txBody>
          <a:bodyPr wrap="square"/>
          <a:lstStyle/>
          <a:p>
            <a:pPr algn="ctr">
              <a:defRPr sz="1300" b="0" i="0">
                <a:solidFill>
                  <a:srgbClr val="555555"/>
                </a:solidFill>
                <a:latin typeface="Calibri"/>
              </a:defRPr>
            </a:pPr>
            <a:r>
              <a:t>[ BUNN-E CHARACTER TURNAROUND ]</a:t>
            </a:r>
          </a:p>
        </p:txBody>
      </p:sp>
      <p:sp>
        <p:nvSpPr>
          <p:cNvPr id="9" name="TextBox 8"/>
          <p:cNvSpPr txBox="1"/>
          <p:nvPr/>
        </p:nvSpPr>
        <p:spPr>
          <a:xfrm>
            <a:off x="6583680" y="3108960"/>
            <a:ext cx="4389120" cy="274320"/>
          </a:xfrm>
          <a:prstGeom prst="rect">
            <a:avLst/>
          </a:prstGeom>
          <a:noFill/>
        </p:spPr>
        <p:txBody>
          <a:bodyPr wrap="square"/>
          <a:lstStyle/>
          <a:p>
            <a:pPr algn="ctr">
              <a:defRPr sz="1000" b="0" i="1">
                <a:solidFill>
                  <a:srgbClr val="444444"/>
                </a:solidFill>
                <a:latin typeface="Calibri"/>
              </a:defRPr>
            </a:pPr>
            <a:r>
              <a:t>Front  /  Side  /  Back  /  3-Quarter views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12  —  DESIGN &amp; ENGINEERING</a:t>
            </a:r>
          </a:p>
        </p:txBody>
      </p:sp>
      <p:sp>
        <p:nvSpPr>
          <p:cNvPr id="41" name="Rectangle 40"/>
          <p:cNvSpPr/>
          <p:nvPr/>
        </p:nvSpPr>
        <p:spPr>
          <a:xfrm>
            <a:off x="731520" y="685800"/>
            <a:ext cx="1604772"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48640"/>
          </a:xfrm>
          <a:prstGeom prst="rect">
            <a:avLst/>
          </a:prstGeom>
          <a:noFill/>
        </p:spPr>
        <p:txBody>
          <a:bodyPr wrap="square"/>
          <a:lstStyle/>
          <a:p>
            <a:pPr algn="l">
              <a:defRPr sz="3600" b="1" i="0">
                <a:solidFill>
                  <a:srgbClr val="1A1A1A"/>
                </a:solidFill>
                <a:latin typeface="Arial Black"/>
              </a:defRPr>
            </a:pPr>
            <a:r>
              <a:t>Design &amp; Prototyping</a:t>
            </a:r>
          </a:p>
        </p:txBody>
      </p:sp>
      <p:sp>
        <p:nvSpPr>
          <p:cNvPr id="43" name="Rectangle 42"/>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2959"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 y="2194560"/>
            <a:ext cx="3200400" cy="365760"/>
          </a:xfrm>
          <a:prstGeom prst="rect">
            <a:avLst/>
          </a:prstGeom>
          <a:noFill/>
        </p:spPr>
        <p:txBody>
          <a:bodyPr wrap="square"/>
          <a:lstStyle/>
          <a:p>
            <a:pPr algn="ctr">
              <a:defRPr sz="1000" b="0" i="0">
                <a:solidFill>
                  <a:srgbClr val="AAA7A2"/>
                </a:solidFill>
                <a:latin typeface="Calibri"/>
              </a:defRPr>
            </a:pPr>
            <a:r>
              <a:t>[ PROJECT IMAGE ]</a:t>
            </a:r>
          </a:p>
        </p:txBody>
      </p:sp>
      <p:sp>
        <p:nvSpPr>
          <p:cNvPr id="46" name="TextBox 45"/>
          <p:cNvSpPr txBox="1"/>
          <p:nvPr/>
        </p:nvSpPr>
        <p:spPr>
          <a:xfrm>
            <a:off x="822959" y="3474720"/>
            <a:ext cx="3200400" cy="274320"/>
          </a:xfrm>
          <a:prstGeom prst="rect">
            <a:avLst/>
          </a:prstGeom>
          <a:noFill/>
        </p:spPr>
        <p:txBody>
          <a:bodyPr wrap="square"/>
          <a:lstStyle/>
          <a:p>
            <a:pPr algn="l">
              <a:defRPr sz="1400" b="1" i="0">
                <a:solidFill>
                  <a:srgbClr val="1A1A1A"/>
                </a:solidFill>
                <a:latin typeface="Arial Black"/>
              </a:defRPr>
            </a:pPr>
            <a:r>
              <a:t>3D / PRODUCT DESIGN</a:t>
            </a:r>
          </a:p>
        </p:txBody>
      </p:sp>
      <p:sp>
        <p:nvSpPr>
          <p:cNvPr id="47" name="TextBox 46"/>
          <p:cNvSpPr txBox="1"/>
          <p:nvPr/>
        </p:nvSpPr>
        <p:spPr>
          <a:xfrm>
            <a:off x="822959" y="3749039"/>
            <a:ext cx="3200400" cy="182880"/>
          </a:xfrm>
          <a:prstGeom prst="rect">
            <a:avLst/>
          </a:prstGeom>
          <a:noFill/>
        </p:spPr>
        <p:txBody>
          <a:bodyPr wrap="square"/>
          <a:lstStyle/>
          <a:p>
            <a:pPr algn="l">
              <a:defRPr sz="800" b="1" i="0">
                <a:solidFill>
                  <a:srgbClr val="CC0011"/>
                </a:solidFill>
                <a:latin typeface="Calibri"/>
              </a:defRPr>
            </a:pPr>
            <a:r>
              <a:t>CONCEPT  ·  CAD  ·  RENDER</a:t>
            </a:r>
          </a:p>
        </p:txBody>
      </p:sp>
      <p:sp>
        <p:nvSpPr>
          <p:cNvPr id="48" name="TextBox 47"/>
          <p:cNvSpPr txBox="1"/>
          <p:nvPr/>
        </p:nvSpPr>
        <p:spPr>
          <a:xfrm>
            <a:off x="822959" y="4023360"/>
            <a:ext cx="3200400" cy="1554480"/>
          </a:xfrm>
          <a:prstGeom prst="rect">
            <a:avLst/>
          </a:prstGeom>
          <a:noFill/>
        </p:spPr>
        <p:txBody>
          <a:bodyPr wrap="square"/>
          <a:lstStyle/>
          <a:p>
            <a:pPr algn="l">
              <a:lnSpc>
                <a:spcPts val="1300"/>
              </a:lnSpc>
              <a:defRPr sz="900" b="0" i="0">
                <a:solidFill>
                  <a:srgbClr val="4A4A4A"/>
                </a:solidFill>
                <a:latin typeface="Calibri"/>
              </a:defRPr>
            </a:pPr>
            <a:r>
              <a:t>Sci-fi inspired product concepts designed in Fusion 360 and Blender. Portfolio includes the Space Bar Galleria keyboard, MO molecular bottle design, futuristic IoT kiosk interfaces, and custom-designed devices. All concepts include full CAD files and production-ready renders.</a:t>
            </a:r>
          </a:p>
        </p:txBody>
      </p:sp>
      <p:sp>
        <p:nvSpPr>
          <p:cNvPr id="49" name="Rectangle 48"/>
          <p:cNvSpPr/>
          <p:nvPr/>
        </p:nvSpPr>
        <p:spPr>
          <a:xfrm>
            <a:off x="822959" y="562356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59" y="5715000"/>
            <a:ext cx="1463040" cy="164592"/>
          </a:xfrm>
          <a:prstGeom prst="rect">
            <a:avLst/>
          </a:prstGeom>
          <a:noFill/>
        </p:spPr>
        <p:txBody>
          <a:bodyPr wrap="square"/>
          <a:lstStyle/>
          <a:p>
            <a:pPr algn="l">
              <a:defRPr sz="700" b="1" i="0">
                <a:solidFill>
                  <a:srgbClr val="888580"/>
                </a:solidFill>
                <a:latin typeface="Calibri"/>
              </a:defRPr>
            </a:pPr>
            <a:r>
              <a:t>TOOLS</a:t>
            </a:r>
          </a:p>
        </p:txBody>
      </p:sp>
      <p:sp>
        <p:nvSpPr>
          <p:cNvPr id="51" name="TextBox 50"/>
          <p:cNvSpPr txBox="1"/>
          <p:nvPr/>
        </p:nvSpPr>
        <p:spPr>
          <a:xfrm>
            <a:off x="822959" y="5870448"/>
            <a:ext cx="1554480" cy="201168"/>
          </a:xfrm>
          <a:prstGeom prst="rect">
            <a:avLst/>
          </a:prstGeom>
          <a:noFill/>
        </p:spPr>
        <p:txBody>
          <a:bodyPr wrap="square"/>
          <a:lstStyle/>
          <a:p>
            <a:pPr algn="l">
              <a:defRPr sz="700" b="1" i="0">
                <a:solidFill>
                  <a:srgbClr val="1A1A1A"/>
                </a:solidFill>
                <a:latin typeface="Calibri"/>
              </a:defRPr>
            </a:pPr>
            <a:r>
              <a:t>FUSION 360  ·  BLENDER</a:t>
            </a:r>
          </a:p>
        </p:txBody>
      </p:sp>
      <p:sp>
        <p:nvSpPr>
          <p:cNvPr id="52" name="TextBox 51"/>
          <p:cNvSpPr txBox="1"/>
          <p:nvPr/>
        </p:nvSpPr>
        <p:spPr>
          <a:xfrm>
            <a:off x="2468880" y="5715000"/>
            <a:ext cx="1463040" cy="164592"/>
          </a:xfrm>
          <a:prstGeom prst="rect">
            <a:avLst/>
          </a:prstGeom>
          <a:noFill/>
        </p:spPr>
        <p:txBody>
          <a:bodyPr wrap="square"/>
          <a:lstStyle/>
          <a:p>
            <a:pPr algn="l">
              <a:defRPr sz="700" b="1" i="0">
                <a:solidFill>
                  <a:srgbClr val="888580"/>
                </a:solidFill>
                <a:latin typeface="Calibri"/>
              </a:defRPr>
            </a:pPr>
            <a:r>
              <a:t>OUTPUT</a:t>
            </a:r>
          </a:p>
        </p:txBody>
      </p:sp>
      <p:sp>
        <p:nvSpPr>
          <p:cNvPr id="53" name="TextBox 52"/>
          <p:cNvSpPr txBox="1"/>
          <p:nvPr/>
        </p:nvSpPr>
        <p:spPr>
          <a:xfrm>
            <a:off x="2468880" y="5870448"/>
            <a:ext cx="1554480" cy="201168"/>
          </a:xfrm>
          <a:prstGeom prst="rect">
            <a:avLst/>
          </a:prstGeom>
          <a:noFill/>
        </p:spPr>
        <p:txBody>
          <a:bodyPr wrap="square"/>
          <a:lstStyle/>
          <a:p>
            <a:pPr algn="l">
              <a:defRPr sz="700" b="1" i="0">
                <a:solidFill>
                  <a:srgbClr val="1A1A1A"/>
                </a:solidFill>
                <a:latin typeface="Calibri"/>
              </a:defRPr>
            </a:pPr>
            <a:r>
              <a:t>CAD  ·  RENDER  ·  PRINT</a:t>
            </a:r>
          </a:p>
        </p:txBody>
      </p:sp>
      <p:sp>
        <p:nvSpPr>
          <p:cNvPr id="54" name="Rectangle 53"/>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617720"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17720" y="2194560"/>
            <a:ext cx="3200400" cy="365760"/>
          </a:xfrm>
          <a:prstGeom prst="rect">
            <a:avLst/>
          </a:prstGeom>
          <a:noFill/>
        </p:spPr>
        <p:txBody>
          <a:bodyPr wrap="square"/>
          <a:lstStyle/>
          <a:p>
            <a:pPr algn="ctr">
              <a:defRPr sz="1000" b="0" i="0">
                <a:solidFill>
                  <a:srgbClr val="AAA7A2"/>
                </a:solidFill>
                <a:latin typeface="Calibri"/>
              </a:defRPr>
            </a:pPr>
            <a:r>
              <a:t>[ PROJECT IMAGE ]</a:t>
            </a:r>
          </a:p>
        </p:txBody>
      </p:sp>
      <p:sp>
        <p:nvSpPr>
          <p:cNvPr id="57" name="TextBox 56"/>
          <p:cNvSpPr txBox="1"/>
          <p:nvPr/>
        </p:nvSpPr>
        <p:spPr>
          <a:xfrm>
            <a:off x="4617720" y="3474720"/>
            <a:ext cx="3200400" cy="274320"/>
          </a:xfrm>
          <a:prstGeom prst="rect">
            <a:avLst/>
          </a:prstGeom>
          <a:noFill/>
        </p:spPr>
        <p:txBody>
          <a:bodyPr wrap="square"/>
          <a:lstStyle/>
          <a:p>
            <a:pPr algn="l">
              <a:defRPr sz="1400" b="1" i="0">
                <a:solidFill>
                  <a:srgbClr val="1A1A1A"/>
                </a:solidFill>
                <a:latin typeface="Arial Black"/>
              </a:defRPr>
            </a:pPr>
            <a:r>
              <a:t>HARDWARE PROTOTYPING</a:t>
            </a:r>
          </a:p>
        </p:txBody>
      </p:sp>
      <p:sp>
        <p:nvSpPr>
          <p:cNvPr id="58" name="TextBox 57"/>
          <p:cNvSpPr txBox="1"/>
          <p:nvPr/>
        </p:nvSpPr>
        <p:spPr>
          <a:xfrm>
            <a:off x="4617720" y="3749039"/>
            <a:ext cx="3200400" cy="182880"/>
          </a:xfrm>
          <a:prstGeom prst="rect">
            <a:avLst/>
          </a:prstGeom>
          <a:noFill/>
        </p:spPr>
        <p:txBody>
          <a:bodyPr wrap="square"/>
          <a:lstStyle/>
          <a:p>
            <a:pPr algn="l">
              <a:defRPr sz="800" b="1" i="0">
                <a:solidFill>
                  <a:srgbClr val="CC0011"/>
                </a:solidFill>
                <a:latin typeface="Calibri"/>
              </a:defRPr>
            </a:pPr>
            <a:r>
              <a:t>IoT  ·  PCB  ·  RFID</a:t>
            </a:r>
          </a:p>
        </p:txBody>
      </p:sp>
      <p:sp>
        <p:nvSpPr>
          <p:cNvPr id="59" name="TextBox 58"/>
          <p:cNvSpPr txBox="1"/>
          <p:nvPr/>
        </p:nvSpPr>
        <p:spPr>
          <a:xfrm>
            <a:off x="4617720" y="4023360"/>
            <a:ext cx="3200400" cy="1554480"/>
          </a:xfrm>
          <a:prstGeom prst="rect">
            <a:avLst/>
          </a:prstGeom>
          <a:noFill/>
        </p:spPr>
        <p:txBody>
          <a:bodyPr wrap="square"/>
          <a:lstStyle/>
          <a:p>
            <a:pPr algn="l">
              <a:lnSpc>
                <a:spcPts val="1300"/>
              </a:lnSpc>
              <a:defRPr sz="900" b="0" i="0">
                <a:solidFill>
                  <a:srgbClr val="4A4A4A"/>
                </a:solidFill>
                <a:latin typeface="Calibri"/>
              </a:defRPr>
            </a:pPr>
            <a:r>
              <a:t>HexPad IoT fitness devices with RFID readers, programmable LED feedback, and wireless connectivity for gamified workout stations. Full engineering blueprints with 1:3 scale drawings, custom PCB design, LiPo battery integration, and multiple mounting options (wall/floor).</a:t>
            </a:r>
          </a:p>
        </p:txBody>
      </p:sp>
      <p:sp>
        <p:nvSpPr>
          <p:cNvPr id="60" name="Rectangle 59"/>
          <p:cNvSpPr/>
          <p:nvPr/>
        </p:nvSpPr>
        <p:spPr>
          <a:xfrm>
            <a:off x="4617720" y="562356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617720" y="5715000"/>
            <a:ext cx="1463040" cy="164592"/>
          </a:xfrm>
          <a:prstGeom prst="rect">
            <a:avLst/>
          </a:prstGeom>
          <a:noFill/>
        </p:spPr>
        <p:txBody>
          <a:bodyPr wrap="square"/>
          <a:lstStyle/>
          <a:p>
            <a:pPr algn="l">
              <a:defRPr sz="700" b="1" i="0">
                <a:solidFill>
                  <a:srgbClr val="888580"/>
                </a:solidFill>
                <a:latin typeface="Calibri"/>
              </a:defRPr>
            </a:pPr>
            <a:r>
              <a:t>DEVICE</a:t>
            </a:r>
          </a:p>
        </p:txBody>
      </p:sp>
      <p:sp>
        <p:nvSpPr>
          <p:cNvPr id="62" name="TextBox 61"/>
          <p:cNvSpPr txBox="1"/>
          <p:nvPr/>
        </p:nvSpPr>
        <p:spPr>
          <a:xfrm>
            <a:off x="4617720" y="5870448"/>
            <a:ext cx="1554480" cy="201168"/>
          </a:xfrm>
          <a:prstGeom prst="rect">
            <a:avLst/>
          </a:prstGeom>
          <a:noFill/>
        </p:spPr>
        <p:txBody>
          <a:bodyPr wrap="square"/>
          <a:lstStyle/>
          <a:p>
            <a:pPr algn="l">
              <a:defRPr sz="700" b="1" i="0">
                <a:solidFill>
                  <a:srgbClr val="1A1A1A"/>
                </a:solidFill>
                <a:latin typeface="Calibri"/>
              </a:defRPr>
            </a:pPr>
            <a:r>
              <a:t>HEXPAD  ·  HEXPOD</a:t>
            </a:r>
          </a:p>
        </p:txBody>
      </p:sp>
      <p:sp>
        <p:nvSpPr>
          <p:cNvPr id="63" name="TextBox 62"/>
          <p:cNvSpPr txBox="1"/>
          <p:nvPr/>
        </p:nvSpPr>
        <p:spPr>
          <a:xfrm>
            <a:off x="6263640" y="5715000"/>
            <a:ext cx="1463040" cy="164592"/>
          </a:xfrm>
          <a:prstGeom prst="rect">
            <a:avLst/>
          </a:prstGeom>
          <a:noFill/>
        </p:spPr>
        <p:txBody>
          <a:bodyPr wrap="square"/>
          <a:lstStyle/>
          <a:p>
            <a:pPr algn="l">
              <a:defRPr sz="700" b="1" i="0">
                <a:solidFill>
                  <a:srgbClr val="888580"/>
                </a:solidFill>
                <a:latin typeface="Calibri"/>
              </a:defRPr>
            </a:pPr>
            <a:r>
              <a:t>CONNECT</a:t>
            </a:r>
          </a:p>
        </p:txBody>
      </p:sp>
      <p:sp>
        <p:nvSpPr>
          <p:cNvPr id="64" name="TextBox 63"/>
          <p:cNvSpPr txBox="1"/>
          <p:nvPr/>
        </p:nvSpPr>
        <p:spPr>
          <a:xfrm>
            <a:off x="6263640" y="5870448"/>
            <a:ext cx="1554480" cy="201168"/>
          </a:xfrm>
          <a:prstGeom prst="rect">
            <a:avLst/>
          </a:prstGeom>
          <a:noFill/>
        </p:spPr>
        <p:txBody>
          <a:bodyPr wrap="square"/>
          <a:lstStyle/>
          <a:p>
            <a:pPr algn="l">
              <a:defRPr sz="700" b="1" i="0">
                <a:solidFill>
                  <a:srgbClr val="1A1A1A"/>
                </a:solidFill>
                <a:latin typeface="Calibri"/>
              </a:defRPr>
            </a:pPr>
            <a:r>
              <a:t>RFID  ·  BLE  ·  WIFI</a:t>
            </a:r>
          </a:p>
        </p:txBody>
      </p:sp>
      <p:sp>
        <p:nvSpPr>
          <p:cNvPr id="65" name="Rectangle 64"/>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412480"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12480" y="2194560"/>
            <a:ext cx="3200400" cy="365760"/>
          </a:xfrm>
          <a:prstGeom prst="rect">
            <a:avLst/>
          </a:prstGeom>
          <a:noFill/>
        </p:spPr>
        <p:txBody>
          <a:bodyPr wrap="square"/>
          <a:lstStyle/>
          <a:p>
            <a:pPr algn="ctr">
              <a:defRPr sz="1000" b="0" i="0">
                <a:solidFill>
                  <a:srgbClr val="AAA7A2"/>
                </a:solidFill>
                <a:latin typeface="Calibri"/>
              </a:defRPr>
            </a:pPr>
            <a:r>
              <a:t>[ PROJECT IMAGE ]</a:t>
            </a:r>
          </a:p>
        </p:txBody>
      </p:sp>
      <p:sp>
        <p:nvSpPr>
          <p:cNvPr id="68" name="TextBox 67"/>
          <p:cNvSpPr txBox="1"/>
          <p:nvPr/>
        </p:nvSpPr>
        <p:spPr>
          <a:xfrm>
            <a:off x="8412480" y="3474720"/>
            <a:ext cx="3200400" cy="274320"/>
          </a:xfrm>
          <a:prstGeom prst="rect">
            <a:avLst/>
          </a:prstGeom>
          <a:noFill/>
        </p:spPr>
        <p:txBody>
          <a:bodyPr wrap="square"/>
          <a:lstStyle/>
          <a:p>
            <a:pPr algn="l">
              <a:defRPr sz="1400" b="1" i="0">
                <a:solidFill>
                  <a:srgbClr val="1A1A1A"/>
                </a:solidFill>
                <a:latin typeface="Arial Black"/>
              </a:defRPr>
            </a:pPr>
            <a:r>
              <a:t>IRON MAN ARMOUR</a:t>
            </a:r>
          </a:p>
        </p:txBody>
      </p:sp>
      <p:sp>
        <p:nvSpPr>
          <p:cNvPr id="69" name="TextBox 68"/>
          <p:cNvSpPr txBox="1"/>
          <p:nvPr/>
        </p:nvSpPr>
        <p:spPr>
          <a:xfrm>
            <a:off x="8412480" y="3749039"/>
            <a:ext cx="3200400" cy="182880"/>
          </a:xfrm>
          <a:prstGeom prst="rect">
            <a:avLst/>
          </a:prstGeom>
          <a:noFill/>
        </p:spPr>
        <p:txBody>
          <a:bodyPr wrap="square"/>
          <a:lstStyle/>
          <a:p>
            <a:pPr algn="l">
              <a:defRPr sz="800" b="1" i="0">
                <a:solidFill>
                  <a:srgbClr val="CC0011"/>
                </a:solidFill>
                <a:latin typeface="Calibri"/>
              </a:defRPr>
            </a:pPr>
            <a:r>
              <a:t>3D PRINT  ·  ELECTRONICS</a:t>
            </a:r>
          </a:p>
        </p:txBody>
      </p:sp>
      <p:sp>
        <p:nvSpPr>
          <p:cNvPr id="70" name="TextBox 69"/>
          <p:cNvSpPr txBox="1"/>
          <p:nvPr/>
        </p:nvSpPr>
        <p:spPr>
          <a:xfrm>
            <a:off x="8412480" y="4023360"/>
            <a:ext cx="3200400" cy="1554480"/>
          </a:xfrm>
          <a:prstGeom prst="rect">
            <a:avLst/>
          </a:prstGeom>
          <a:noFill/>
        </p:spPr>
        <p:txBody>
          <a:bodyPr wrap="square"/>
          <a:lstStyle/>
          <a:p>
            <a:pPr algn="l">
              <a:lnSpc>
                <a:spcPts val="1300"/>
              </a:lnSpc>
              <a:defRPr sz="900" b="0" i="0">
                <a:solidFill>
                  <a:srgbClr val="4A4A4A"/>
                </a:solidFill>
                <a:latin typeface="Calibri"/>
              </a:defRPr>
            </a:pPr>
            <a:r>
              <a:t>Custom-built functional Iron Man armour — a passion project combining 3D printing, electronics engineering, and cosplay craft. Features a motorized opening/closing helmet, LED-lit arc reactor with custom PCB, illuminated repulsor gauntlets, and full torso assembly. Featured in Thailand Tatler.</a:t>
            </a:r>
          </a:p>
        </p:txBody>
      </p:sp>
      <p:sp>
        <p:nvSpPr>
          <p:cNvPr id="71" name="Rectangle 70"/>
          <p:cNvSpPr/>
          <p:nvPr/>
        </p:nvSpPr>
        <p:spPr>
          <a:xfrm>
            <a:off x="8412480" y="5623560"/>
            <a:ext cx="3200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12480" y="5715000"/>
            <a:ext cx="1463040" cy="164592"/>
          </a:xfrm>
          <a:prstGeom prst="rect">
            <a:avLst/>
          </a:prstGeom>
          <a:noFill/>
        </p:spPr>
        <p:txBody>
          <a:bodyPr wrap="square"/>
          <a:lstStyle/>
          <a:p>
            <a:pPr algn="l">
              <a:defRPr sz="700" b="1" i="0">
                <a:solidFill>
                  <a:srgbClr val="888580"/>
                </a:solidFill>
                <a:latin typeface="Calibri"/>
              </a:defRPr>
            </a:pPr>
            <a:r>
              <a:t>PARTS</a:t>
            </a:r>
          </a:p>
        </p:txBody>
      </p:sp>
      <p:sp>
        <p:nvSpPr>
          <p:cNvPr id="73" name="TextBox 72"/>
          <p:cNvSpPr txBox="1"/>
          <p:nvPr/>
        </p:nvSpPr>
        <p:spPr>
          <a:xfrm>
            <a:off x="8412480" y="5870448"/>
            <a:ext cx="1554480" cy="201168"/>
          </a:xfrm>
          <a:prstGeom prst="rect">
            <a:avLst/>
          </a:prstGeom>
          <a:noFill/>
        </p:spPr>
        <p:txBody>
          <a:bodyPr wrap="square"/>
          <a:lstStyle/>
          <a:p>
            <a:pPr algn="l">
              <a:defRPr sz="700" b="1" i="0">
                <a:solidFill>
                  <a:srgbClr val="1A1A1A"/>
                </a:solidFill>
                <a:latin typeface="Calibri"/>
              </a:defRPr>
            </a:pPr>
            <a:r>
              <a:t>HELMET  ·  TORSO  ·  ARM</a:t>
            </a:r>
          </a:p>
        </p:txBody>
      </p:sp>
      <p:sp>
        <p:nvSpPr>
          <p:cNvPr id="74" name="TextBox 73"/>
          <p:cNvSpPr txBox="1"/>
          <p:nvPr/>
        </p:nvSpPr>
        <p:spPr>
          <a:xfrm>
            <a:off x="10058400" y="5715000"/>
            <a:ext cx="1463040" cy="164592"/>
          </a:xfrm>
          <a:prstGeom prst="rect">
            <a:avLst/>
          </a:prstGeom>
          <a:noFill/>
        </p:spPr>
        <p:txBody>
          <a:bodyPr wrap="square"/>
          <a:lstStyle/>
          <a:p>
            <a:pPr algn="l">
              <a:defRPr sz="700" b="1" i="0">
                <a:solidFill>
                  <a:srgbClr val="888580"/>
                </a:solidFill>
                <a:latin typeface="Calibri"/>
              </a:defRPr>
            </a:pPr>
            <a:r>
              <a:t>TECH</a:t>
            </a:r>
          </a:p>
        </p:txBody>
      </p:sp>
      <p:sp>
        <p:nvSpPr>
          <p:cNvPr id="75" name="TextBox 74"/>
          <p:cNvSpPr txBox="1"/>
          <p:nvPr/>
        </p:nvSpPr>
        <p:spPr>
          <a:xfrm>
            <a:off x="10058400" y="5870448"/>
            <a:ext cx="1554480" cy="201168"/>
          </a:xfrm>
          <a:prstGeom prst="rect">
            <a:avLst/>
          </a:prstGeom>
          <a:noFill/>
        </p:spPr>
        <p:txBody>
          <a:bodyPr wrap="square"/>
          <a:lstStyle/>
          <a:p>
            <a:pPr algn="l">
              <a:defRPr sz="700" b="1" i="0">
                <a:solidFill>
                  <a:srgbClr val="1A1A1A"/>
                </a:solidFill>
                <a:latin typeface="Calibri"/>
              </a:defRPr>
            </a:pPr>
            <a:r>
              <a:t>LED  ·  SERVO  ·  3D PRINT</a:t>
            </a:r>
          </a:p>
        </p:txBody>
      </p:sp>
      <p:sp>
        <p:nvSpPr>
          <p:cNvPr id="76" name="Rectangle 75"/>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9" name="TextBox 78"/>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13  —  DEVELOPMENT</a:t>
            </a:r>
          </a:p>
        </p:txBody>
      </p:sp>
      <p:sp>
        <p:nvSpPr>
          <p:cNvPr id="41" name="Rectangle 40"/>
          <p:cNvSpPr/>
          <p:nvPr/>
        </p:nvSpPr>
        <p:spPr>
          <a:xfrm>
            <a:off x="731520" y="685800"/>
            <a:ext cx="1069848"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Web &amp; App Projects</a:t>
            </a:r>
          </a:p>
        </p:txBody>
      </p:sp>
      <p:sp>
        <p:nvSpPr>
          <p:cNvPr id="43" name="Rectangle 42"/>
          <p:cNvSpPr/>
          <p:nvPr/>
        </p:nvSpPr>
        <p:spPr>
          <a:xfrm>
            <a:off x="64008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2103120"/>
            <a:ext cx="3017520" cy="365760"/>
          </a:xfrm>
          <a:prstGeom prst="rect">
            <a:avLst/>
          </a:prstGeom>
          <a:noFill/>
        </p:spPr>
        <p:txBody>
          <a:bodyPr wrap="square"/>
          <a:lstStyle/>
          <a:p>
            <a:pPr algn="ctr">
              <a:defRPr sz="1000" b="0" i="0">
                <a:solidFill>
                  <a:srgbClr val="AAA7A2"/>
                </a:solidFill>
                <a:latin typeface="Calibri"/>
              </a:defRPr>
            </a:pPr>
            <a:r>
              <a:t>[ SOCIAL CLIMBERS / NEXUS SCREENSHOT ]</a:t>
            </a:r>
          </a:p>
        </p:txBody>
      </p:sp>
      <p:sp>
        <p:nvSpPr>
          <p:cNvPr id="45" name="Rectangle 44"/>
          <p:cNvSpPr/>
          <p:nvPr/>
        </p:nvSpPr>
        <p:spPr>
          <a:xfrm>
            <a:off x="640080" y="320040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59" y="3337560"/>
            <a:ext cx="3200400" cy="182880"/>
          </a:xfrm>
          <a:prstGeom prst="rect">
            <a:avLst/>
          </a:prstGeom>
          <a:noFill/>
        </p:spPr>
        <p:txBody>
          <a:bodyPr wrap="square"/>
          <a:lstStyle/>
          <a:p>
            <a:pPr algn="l">
              <a:defRPr sz="800" b="1" i="0">
                <a:solidFill>
                  <a:srgbClr val="CC0011"/>
                </a:solidFill>
                <a:latin typeface="Calibri"/>
              </a:defRPr>
            </a:pPr>
            <a:r>
              <a:t>FLUTTER  ·  FIREBASE</a:t>
            </a:r>
          </a:p>
        </p:txBody>
      </p:sp>
      <p:sp>
        <p:nvSpPr>
          <p:cNvPr id="47" name="TextBox 46"/>
          <p:cNvSpPr txBox="1"/>
          <p:nvPr/>
        </p:nvSpPr>
        <p:spPr>
          <a:xfrm>
            <a:off x="822959" y="3566160"/>
            <a:ext cx="3200400" cy="274320"/>
          </a:xfrm>
          <a:prstGeom prst="rect">
            <a:avLst/>
          </a:prstGeom>
          <a:noFill/>
        </p:spPr>
        <p:txBody>
          <a:bodyPr wrap="square"/>
          <a:lstStyle/>
          <a:p>
            <a:pPr algn="l">
              <a:defRPr sz="1500" b="1" i="0">
                <a:solidFill>
                  <a:srgbClr val="1A1A1A"/>
                </a:solidFill>
                <a:latin typeface="Calibri"/>
              </a:defRPr>
            </a:pPr>
            <a:r>
              <a:t>Social Climbers / Nexus</a:t>
            </a:r>
          </a:p>
        </p:txBody>
      </p:sp>
      <p:sp>
        <p:nvSpPr>
          <p:cNvPr id="48" name="Rectangle 47"/>
          <p:cNvSpPr/>
          <p:nvPr/>
        </p:nvSpPr>
        <p:spPr>
          <a:xfrm>
            <a:off x="822959" y="3886200"/>
            <a:ext cx="1371600" cy="254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59" y="4023360"/>
            <a:ext cx="3200400" cy="1371600"/>
          </a:xfrm>
          <a:prstGeom prst="rect">
            <a:avLst/>
          </a:prstGeom>
          <a:noFill/>
        </p:spPr>
        <p:txBody>
          <a:bodyPr wrap="square"/>
          <a:lstStyle/>
          <a:p>
            <a:pPr algn="l">
              <a:lnSpc>
                <a:spcPts val="1500"/>
              </a:lnSpc>
              <a:defRPr sz="1000" b="0" i="0">
                <a:solidFill>
                  <a:srgbClr val="4A4A4A"/>
                </a:solidFill>
                <a:latin typeface="Calibri"/>
              </a:defRPr>
            </a:pPr>
            <a:r>
              <a:t>Competition app with leaderboards, team scoring, event management, and digital waivers for Bangkok Boulder Fest. Supports multi-gym events with real-time score tracking.</a:t>
            </a:r>
          </a:p>
        </p:txBody>
      </p:sp>
      <p:sp>
        <p:nvSpPr>
          <p:cNvPr id="50" name="Rectangle 49"/>
          <p:cNvSpPr/>
          <p:nvPr/>
        </p:nvSpPr>
        <p:spPr>
          <a:xfrm>
            <a:off x="443484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09160" y="2103120"/>
            <a:ext cx="3017520" cy="365760"/>
          </a:xfrm>
          <a:prstGeom prst="rect">
            <a:avLst/>
          </a:prstGeom>
          <a:noFill/>
        </p:spPr>
        <p:txBody>
          <a:bodyPr wrap="square"/>
          <a:lstStyle/>
          <a:p>
            <a:pPr algn="ctr">
              <a:defRPr sz="1000" b="0" i="0">
                <a:solidFill>
                  <a:srgbClr val="AAA7A2"/>
                </a:solidFill>
                <a:latin typeface="Calibri"/>
              </a:defRPr>
            </a:pPr>
            <a:r>
              <a:t>[ ROYAL THAI EMBASSY UK SCREENSHOT ]</a:t>
            </a:r>
          </a:p>
        </p:txBody>
      </p:sp>
      <p:sp>
        <p:nvSpPr>
          <p:cNvPr id="52" name="Rectangle 51"/>
          <p:cNvSpPr/>
          <p:nvPr/>
        </p:nvSpPr>
        <p:spPr>
          <a:xfrm>
            <a:off x="4434840" y="320040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17720" y="3337560"/>
            <a:ext cx="3200400" cy="182880"/>
          </a:xfrm>
          <a:prstGeom prst="rect">
            <a:avLst/>
          </a:prstGeom>
          <a:noFill/>
        </p:spPr>
        <p:txBody>
          <a:bodyPr wrap="square"/>
          <a:lstStyle/>
          <a:p>
            <a:pPr algn="l">
              <a:defRPr sz="800" b="1" i="0">
                <a:solidFill>
                  <a:srgbClr val="CC0011"/>
                </a:solidFill>
                <a:latin typeface="Calibri"/>
              </a:defRPr>
            </a:pPr>
            <a:r>
              <a:t>WEB  ·  MOBILE</a:t>
            </a:r>
          </a:p>
        </p:txBody>
      </p:sp>
      <p:sp>
        <p:nvSpPr>
          <p:cNvPr id="54" name="TextBox 53"/>
          <p:cNvSpPr txBox="1"/>
          <p:nvPr/>
        </p:nvSpPr>
        <p:spPr>
          <a:xfrm>
            <a:off x="4617720" y="3566160"/>
            <a:ext cx="3200400" cy="274320"/>
          </a:xfrm>
          <a:prstGeom prst="rect">
            <a:avLst/>
          </a:prstGeom>
          <a:noFill/>
        </p:spPr>
        <p:txBody>
          <a:bodyPr wrap="square"/>
          <a:lstStyle/>
          <a:p>
            <a:pPr algn="l">
              <a:defRPr sz="1500" b="1" i="0">
                <a:solidFill>
                  <a:srgbClr val="1A1A1A"/>
                </a:solidFill>
                <a:latin typeface="Calibri"/>
              </a:defRPr>
            </a:pPr>
            <a:r>
              <a:t>Royal Thai Embassy UK</a:t>
            </a:r>
          </a:p>
        </p:txBody>
      </p:sp>
      <p:sp>
        <p:nvSpPr>
          <p:cNvPr id="55" name="Rectangle 54"/>
          <p:cNvSpPr/>
          <p:nvPr/>
        </p:nvSpPr>
        <p:spPr>
          <a:xfrm>
            <a:off x="4617720" y="3886200"/>
            <a:ext cx="1371600" cy="254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17720" y="4023360"/>
            <a:ext cx="3200400" cy="1371600"/>
          </a:xfrm>
          <a:prstGeom prst="rect">
            <a:avLst/>
          </a:prstGeom>
          <a:noFill/>
        </p:spPr>
        <p:txBody>
          <a:bodyPr wrap="square"/>
          <a:lstStyle/>
          <a:p>
            <a:pPr algn="l">
              <a:lnSpc>
                <a:spcPts val="1500"/>
              </a:lnSpc>
              <a:defRPr sz="1000" b="0" i="0">
                <a:solidFill>
                  <a:srgbClr val="4A4A4A"/>
                </a:solidFill>
                <a:latin typeface="Calibri"/>
              </a:defRPr>
            </a:pPr>
            <a:r>
              <a:t>Full website redesign and mobile consular booking system. Appointment scheduling with admin dashboard, holiday management, and email confirmations.</a:t>
            </a:r>
          </a:p>
        </p:txBody>
      </p:sp>
      <p:sp>
        <p:nvSpPr>
          <p:cNvPr id="57" name="Rectangle 56"/>
          <p:cNvSpPr/>
          <p:nvPr/>
        </p:nvSpPr>
        <p:spPr>
          <a:xfrm>
            <a:off x="822960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503920" y="2103120"/>
            <a:ext cx="3017520" cy="365760"/>
          </a:xfrm>
          <a:prstGeom prst="rect">
            <a:avLst/>
          </a:prstGeom>
          <a:noFill/>
        </p:spPr>
        <p:txBody>
          <a:bodyPr wrap="square"/>
          <a:lstStyle/>
          <a:p>
            <a:pPr algn="ctr">
              <a:defRPr sz="1000" b="0" i="0">
                <a:solidFill>
                  <a:srgbClr val="AAA7A2"/>
                </a:solidFill>
                <a:latin typeface="Calibri"/>
              </a:defRPr>
            </a:pPr>
            <a:r>
              <a:t>[ KUN INTER GROUP SCREENSHOT ]</a:t>
            </a:r>
          </a:p>
        </p:txBody>
      </p:sp>
      <p:sp>
        <p:nvSpPr>
          <p:cNvPr id="59" name="Rectangle 58"/>
          <p:cNvSpPr/>
          <p:nvPr/>
        </p:nvSpPr>
        <p:spPr>
          <a:xfrm>
            <a:off x="8229600" y="320040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12480" y="3337560"/>
            <a:ext cx="3200400" cy="182880"/>
          </a:xfrm>
          <a:prstGeom prst="rect">
            <a:avLst/>
          </a:prstGeom>
          <a:noFill/>
        </p:spPr>
        <p:txBody>
          <a:bodyPr wrap="square"/>
          <a:lstStyle/>
          <a:p>
            <a:pPr algn="l">
              <a:defRPr sz="800" b="1" i="0">
                <a:solidFill>
                  <a:srgbClr val="CC0011"/>
                </a:solidFill>
                <a:latin typeface="Calibri"/>
              </a:defRPr>
            </a:pPr>
            <a:r>
              <a:t>WEB PLATFORM</a:t>
            </a:r>
          </a:p>
        </p:txBody>
      </p:sp>
      <p:sp>
        <p:nvSpPr>
          <p:cNvPr id="61" name="TextBox 60"/>
          <p:cNvSpPr txBox="1"/>
          <p:nvPr/>
        </p:nvSpPr>
        <p:spPr>
          <a:xfrm>
            <a:off x="8412480" y="3566160"/>
            <a:ext cx="3200400" cy="274320"/>
          </a:xfrm>
          <a:prstGeom prst="rect">
            <a:avLst/>
          </a:prstGeom>
          <a:noFill/>
        </p:spPr>
        <p:txBody>
          <a:bodyPr wrap="square"/>
          <a:lstStyle/>
          <a:p>
            <a:pPr algn="l">
              <a:defRPr sz="1500" b="1" i="0">
                <a:solidFill>
                  <a:srgbClr val="1A1A1A"/>
                </a:solidFill>
                <a:latin typeface="Calibri"/>
              </a:defRPr>
            </a:pPr>
            <a:r>
              <a:t>KUN Inter Group</a:t>
            </a:r>
          </a:p>
        </p:txBody>
      </p:sp>
      <p:sp>
        <p:nvSpPr>
          <p:cNvPr id="62" name="Rectangle 61"/>
          <p:cNvSpPr/>
          <p:nvPr/>
        </p:nvSpPr>
        <p:spPr>
          <a:xfrm>
            <a:off x="8412480" y="3886200"/>
            <a:ext cx="1371600" cy="254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12480" y="4023360"/>
            <a:ext cx="3200400" cy="1371600"/>
          </a:xfrm>
          <a:prstGeom prst="rect">
            <a:avLst/>
          </a:prstGeom>
          <a:noFill/>
        </p:spPr>
        <p:txBody>
          <a:bodyPr wrap="square"/>
          <a:lstStyle/>
          <a:p>
            <a:pPr algn="l">
              <a:lnSpc>
                <a:spcPts val="1500"/>
              </a:lnSpc>
              <a:defRPr sz="1000" b="0" i="0">
                <a:solidFill>
                  <a:srgbClr val="4A4A4A"/>
                </a:solidFill>
                <a:latin typeface="Calibri"/>
              </a:defRPr>
            </a:pPr>
            <a:r>
              <a:t>Digital marketing company website with service pages for content marketing, influencer campaigns, live streaming, social media ads, and production services.</a:t>
            </a:r>
          </a:p>
        </p:txBody>
      </p:sp>
      <p:sp>
        <p:nvSpPr>
          <p:cNvPr id="64" name="Rectangle 63"/>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67" name="TextBox 66"/>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13  —  DEVELOPMENT — CONTINUED</a:t>
            </a:r>
          </a:p>
        </p:txBody>
      </p:sp>
      <p:sp>
        <p:nvSpPr>
          <p:cNvPr id="41" name="Rectangle 40"/>
          <p:cNvSpPr/>
          <p:nvPr/>
        </p:nvSpPr>
        <p:spPr>
          <a:xfrm>
            <a:off x="731520" y="685800"/>
            <a:ext cx="178308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Web &amp; App Projects</a:t>
            </a:r>
          </a:p>
        </p:txBody>
      </p:sp>
      <p:sp>
        <p:nvSpPr>
          <p:cNvPr id="43" name="TextBox 42"/>
          <p:cNvSpPr txBox="1"/>
          <p:nvPr/>
        </p:nvSpPr>
        <p:spPr>
          <a:xfrm>
            <a:off x="5486400" y="1005840"/>
            <a:ext cx="3657600" cy="365760"/>
          </a:xfrm>
          <a:prstGeom prst="rect">
            <a:avLst/>
          </a:prstGeom>
          <a:noFill/>
        </p:spPr>
        <p:txBody>
          <a:bodyPr wrap="square"/>
          <a:lstStyle/>
          <a:p>
            <a:pPr algn="l">
              <a:defRPr sz="1800" b="0" i="1">
                <a:solidFill>
                  <a:srgbClr val="888580"/>
                </a:solidFill>
                <a:latin typeface="Calibri"/>
              </a:defRPr>
            </a:pPr>
            <a:r>
              <a:t>(continued)</a:t>
            </a:r>
          </a:p>
        </p:txBody>
      </p:sp>
      <p:sp>
        <p:nvSpPr>
          <p:cNvPr id="44" name="Rectangle 43"/>
          <p:cNvSpPr/>
          <p:nvPr/>
        </p:nvSpPr>
        <p:spPr>
          <a:xfrm>
            <a:off x="64008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2103120"/>
            <a:ext cx="3017520" cy="365760"/>
          </a:xfrm>
          <a:prstGeom prst="rect">
            <a:avLst/>
          </a:prstGeom>
          <a:noFill/>
        </p:spPr>
        <p:txBody>
          <a:bodyPr wrap="square"/>
          <a:lstStyle/>
          <a:p>
            <a:pPr algn="ctr">
              <a:defRPr sz="1000" b="0" i="0">
                <a:solidFill>
                  <a:srgbClr val="AAA7A2"/>
                </a:solidFill>
                <a:latin typeface="Calibri"/>
              </a:defRPr>
            </a:pPr>
            <a:r>
              <a:t>[ VALANI E-COMMERCE SCREENSHOT ]</a:t>
            </a:r>
          </a:p>
        </p:txBody>
      </p:sp>
      <p:sp>
        <p:nvSpPr>
          <p:cNvPr id="46" name="Rectangle 45"/>
          <p:cNvSpPr/>
          <p:nvPr/>
        </p:nvSpPr>
        <p:spPr>
          <a:xfrm>
            <a:off x="640080" y="320040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59" y="3337560"/>
            <a:ext cx="3200400" cy="182880"/>
          </a:xfrm>
          <a:prstGeom prst="rect">
            <a:avLst/>
          </a:prstGeom>
          <a:noFill/>
        </p:spPr>
        <p:txBody>
          <a:bodyPr wrap="square"/>
          <a:lstStyle/>
          <a:p>
            <a:pPr algn="l">
              <a:defRPr sz="800" b="1" i="0">
                <a:solidFill>
                  <a:srgbClr val="CC0011"/>
                </a:solidFill>
                <a:latin typeface="Calibri"/>
              </a:defRPr>
            </a:pPr>
            <a:r>
              <a:t>WEB  ·  E-COMMERCE</a:t>
            </a:r>
          </a:p>
        </p:txBody>
      </p:sp>
      <p:sp>
        <p:nvSpPr>
          <p:cNvPr id="48" name="TextBox 47"/>
          <p:cNvSpPr txBox="1"/>
          <p:nvPr/>
        </p:nvSpPr>
        <p:spPr>
          <a:xfrm>
            <a:off x="822959" y="3566160"/>
            <a:ext cx="3200400" cy="274320"/>
          </a:xfrm>
          <a:prstGeom prst="rect">
            <a:avLst/>
          </a:prstGeom>
          <a:noFill/>
        </p:spPr>
        <p:txBody>
          <a:bodyPr wrap="square"/>
          <a:lstStyle/>
          <a:p>
            <a:pPr algn="l">
              <a:defRPr sz="1500" b="1" i="0">
                <a:solidFill>
                  <a:srgbClr val="1A1A1A"/>
                </a:solidFill>
                <a:latin typeface="Calibri"/>
              </a:defRPr>
            </a:pPr>
            <a:r>
              <a:t>Valani E-Commerce</a:t>
            </a:r>
          </a:p>
        </p:txBody>
      </p:sp>
      <p:sp>
        <p:nvSpPr>
          <p:cNvPr id="49" name="Rectangle 48"/>
          <p:cNvSpPr/>
          <p:nvPr/>
        </p:nvSpPr>
        <p:spPr>
          <a:xfrm>
            <a:off x="822959" y="3886200"/>
            <a:ext cx="1371600" cy="254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59" y="4023360"/>
            <a:ext cx="3200400" cy="1371600"/>
          </a:xfrm>
          <a:prstGeom prst="rect">
            <a:avLst/>
          </a:prstGeom>
          <a:noFill/>
        </p:spPr>
        <p:txBody>
          <a:bodyPr wrap="square"/>
          <a:lstStyle/>
          <a:p>
            <a:pPr algn="l">
              <a:lnSpc>
                <a:spcPts val="1500"/>
              </a:lnSpc>
              <a:defRPr sz="1000" b="0" i="0">
                <a:solidFill>
                  <a:srgbClr val="4A4A4A"/>
                </a:solidFill>
                <a:latin typeface="Calibri"/>
              </a:defRPr>
            </a:pPr>
            <a:r>
              <a:t>Full e-commerce platform for Thai skincare brand. Product catalog, shopping cart, payment integration, and order management — with bilingual Thai/English support.</a:t>
            </a:r>
          </a:p>
        </p:txBody>
      </p:sp>
      <p:sp>
        <p:nvSpPr>
          <p:cNvPr id="51" name="Rectangle 50"/>
          <p:cNvSpPr/>
          <p:nvPr/>
        </p:nvSpPr>
        <p:spPr>
          <a:xfrm>
            <a:off x="443484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709160" y="2103120"/>
            <a:ext cx="3017520" cy="365760"/>
          </a:xfrm>
          <a:prstGeom prst="rect">
            <a:avLst/>
          </a:prstGeom>
          <a:noFill/>
        </p:spPr>
        <p:txBody>
          <a:bodyPr wrap="square"/>
          <a:lstStyle/>
          <a:p>
            <a:pPr algn="ctr">
              <a:defRPr sz="1000" b="0" i="0">
                <a:solidFill>
                  <a:srgbClr val="AAA7A2"/>
                </a:solidFill>
                <a:latin typeface="Calibri"/>
              </a:defRPr>
            </a:pPr>
            <a:r>
              <a:t>[ DRIN'C &amp; DINE WEBSITES SCREENSHOT ]</a:t>
            </a:r>
          </a:p>
        </p:txBody>
      </p:sp>
      <p:sp>
        <p:nvSpPr>
          <p:cNvPr id="53" name="Rectangle 52"/>
          <p:cNvSpPr/>
          <p:nvPr/>
        </p:nvSpPr>
        <p:spPr>
          <a:xfrm>
            <a:off x="4434840" y="320040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17720" y="3337560"/>
            <a:ext cx="3200400" cy="182880"/>
          </a:xfrm>
          <a:prstGeom prst="rect">
            <a:avLst/>
          </a:prstGeom>
          <a:noFill/>
        </p:spPr>
        <p:txBody>
          <a:bodyPr wrap="square"/>
          <a:lstStyle/>
          <a:p>
            <a:pPr algn="l">
              <a:defRPr sz="800" b="1" i="0">
                <a:solidFill>
                  <a:srgbClr val="CC0011"/>
                </a:solidFill>
                <a:latin typeface="Calibri"/>
              </a:defRPr>
            </a:pPr>
            <a:r>
              <a:t>WEB  ·  CMS</a:t>
            </a:r>
          </a:p>
        </p:txBody>
      </p:sp>
      <p:sp>
        <p:nvSpPr>
          <p:cNvPr id="55" name="TextBox 54"/>
          <p:cNvSpPr txBox="1"/>
          <p:nvPr/>
        </p:nvSpPr>
        <p:spPr>
          <a:xfrm>
            <a:off x="4617720" y="3566160"/>
            <a:ext cx="3200400" cy="274320"/>
          </a:xfrm>
          <a:prstGeom prst="rect">
            <a:avLst/>
          </a:prstGeom>
          <a:noFill/>
        </p:spPr>
        <p:txBody>
          <a:bodyPr wrap="square"/>
          <a:lstStyle/>
          <a:p>
            <a:pPr algn="l">
              <a:defRPr sz="1500" b="1" i="0">
                <a:solidFill>
                  <a:srgbClr val="1A1A1A"/>
                </a:solidFill>
                <a:latin typeface="Calibri"/>
              </a:defRPr>
            </a:pPr>
            <a:r>
              <a:t>drin'c &amp; Dine Websites</a:t>
            </a:r>
          </a:p>
        </p:txBody>
      </p:sp>
      <p:sp>
        <p:nvSpPr>
          <p:cNvPr id="56" name="Rectangle 55"/>
          <p:cNvSpPr/>
          <p:nvPr/>
        </p:nvSpPr>
        <p:spPr>
          <a:xfrm>
            <a:off x="4617720" y="3886200"/>
            <a:ext cx="1371600" cy="254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17720" y="4023360"/>
            <a:ext cx="3200400" cy="1371600"/>
          </a:xfrm>
          <a:prstGeom prst="rect">
            <a:avLst/>
          </a:prstGeom>
          <a:noFill/>
        </p:spPr>
        <p:txBody>
          <a:bodyPr wrap="square"/>
          <a:lstStyle/>
          <a:p>
            <a:pPr algn="l">
              <a:lnSpc>
                <a:spcPts val="1500"/>
              </a:lnSpc>
              <a:defRPr sz="1000" b="0" i="0">
                <a:solidFill>
                  <a:srgbClr val="4A4A4A"/>
                </a:solidFill>
                <a:latin typeface="Calibri"/>
              </a:defRPr>
            </a:pPr>
            <a:r>
              <a:t>Restaurant and café websites featuring signature menus, chef's table bookings, location maps, and social integration for drin'c coffee and Dine Banna.</a:t>
            </a:r>
          </a:p>
        </p:txBody>
      </p:sp>
      <p:sp>
        <p:nvSpPr>
          <p:cNvPr id="58" name="Rectangle 57"/>
          <p:cNvSpPr/>
          <p:nvPr/>
        </p:nvSpPr>
        <p:spPr>
          <a:xfrm>
            <a:off x="822960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503920" y="2103120"/>
            <a:ext cx="3017520" cy="365760"/>
          </a:xfrm>
          <a:prstGeom prst="rect">
            <a:avLst/>
          </a:prstGeom>
          <a:noFill/>
        </p:spPr>
        <p:txBody>
          <a:bodyPr wrap="square"/>
          <a:lstStyle/>
          <a:p>
            <a:pPr algn="ctr">
              <a:defRPr sz="1000" b="0" i="0">
                <a:solidFill>
                  <a:srgbClr val="AAA7A2"/>
                </a:solidFill>
                <a:latin typeface="Calibri"/>
              </a:defRPr>
            </a:pPr>
            <a:r>
              <a:t>[ MOTIWATT PLATFORM SCREENSHOT ]</a:t>
            </a:r>
          </a:p>
        </p:txBody>
      </p:sp>
      <p:sp>
        <p:nvSpPr>
          <p:cNvPr id="60" name="Rectangle 59"/>
          <p:cNvSpPr/>
          <p:nvPr/>
        </p:nvSpPr>
        <p:spPr>
          <a:xfrm>
            <a:off x="8229600" y="3200400"/>
            <a:ext cx="3566160" cy="25603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80" y="3337560"/>
            <a:ext cx="3200400" cy="182880"/>
          </a:xfrm>
          <a:prstGeom prst="rect">
            <a:avLst/>
          </a:prstGeom>
          <a:noFill/>
        </p:spPr>
        <p:txBody>
          <a:bodyPr wrap="square"/>
          <a:lstStyle/>
          <a:p>
            <a:pPr algn="l">
              <a:defRPr sz="800" b="1" i="0">
                <a:solidFill>
                  <a:srgbClr val="CC0011"/>
                </a:solidFill>
                <a:latin typeface="Calibri"/>
              </a:defRPr>
            </a:pPr>
            <a:r>
              <a:t>FLUTTER  ·  WEB  ·  FIREBASE</a:t>
            </a:r>
          </a:p>
        </p:txBody>
      </p:sp>
      <p:sp>
        <p:nvSpPr>
          <p:cNvPr id="62" name="TextBox 61"/>
          <p:cNvSpPr txBox="1"/>
          <p:nvPr/>
        </p:nvSpPr>
        <p:spPr>
          <a:xfrm>
            <a:off x="8412480" y="3566160"/>
            <a:ext cx="3200400" cy="274320"/>
          </a:xfrm>
          <a:prstGeom prst="rect">
            <a:avLst/>
          </a:prstGeom>
          <a:noFill/>
        </p:spPr>
        <p:txBody>
          <a:bodyPr wrap="square"/>
          <a:lstStyle/>
          <a:p>
            <a:pPr algn="l">
              <a:defRPr sz="1500" b="1" i="0">
                <a:solidFill>
                  <a:srgbClr val="1A1A1A"/>
                </a:solidFill>
                <a:latin typeface="Calibri"/>
              </a:defRPr>
            </a:pPr>
            <a:r>
              <a:t>Motiwatt Platform</a:t>
            </a:r>
          </a:p>
        </p:txBody>
      </p:sp>
      <p:sp>
        <p:nvSpPr>
          <p:cNvPr id="63" name="Rectangle 62"/>
          <p:cNvSpPr/>
          <p:nvPr/>
        </p:nvSpPr>
        <p:spPr>
          <a:xfrm>
            <a:off x="8412480" y="3886200"/>
            <a:ext cx="1371600" cy="254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12480" y="4023360"/>
            <a:ext cx="3200400" cy="1371600"/>
          </a:xfrm>
          <a:prstGeom prst="rect">
            <a:avLst/>
          </a:prstGeom>
          <a:noFill/>
        </p:spPr>
        <p:txBody>
          <a:bodyPr wrap="square"/>
          <a:lstStyle/>
          <a:p>
            <a:pPr algn="l">
              <a:lnSpc>
                <a:spcPts val="1500"/>
              </a:lnSpc>
              <a:defRPr sz="1000" b="0" i="0">
                <a:solidFill>
                  <a:srgbClr val="4A4A4A"/>
                </a:solidFill>
                <a:latin typeface="Calibri"/>
              </a:defRPr>
            </a:pPr>
            <a:r>
              <a:t>Cross-platform sports coaching marketplace with secure login, credit-based payments, real-time messaging, live class streaming, and AI wellness chatbot.</a:t>
            </a:r>
          </a:p>
        </p:txBody>
      </p:sp>
      <p:sp>
        <p:nvSpPr>
          <p:cNvPr id="65" name="Rectangle 64"/>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68" name="TextBox 67"/>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14  —  XR EDUCATION &amp; COMMUNITY</a:t>
            </a:r>
          </a:p>
        </p:txBody>
      </p:sp>
      <p:sp>
        <p:nvSpPr>
          <p:cNvPr id="41" name="Rectangle 40"/>
          <p:cNvSpPr/>
          <p:nvPr/>
        </p:nvSpPr>
        <p:spPr>
          <a:xfrm>
            <a:off x="731520" y="685800"/>
            <a:ext cx="1842516"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Baan ARVR</a:t>
            </a:r>
          </a:p>
        </p:txBody>
      </p:sp>
      <p:sp>
        <p:nvSpPr>
          <p:cNvPr id="43" name="TextBox 42"/>
          <p:cNvSpPr txBox="1"/>
          <p:nvPr/>
        </p:nvSpPr>
        <p:spPr>
          <a:xfrm>
            <a:off x="731520" y="1325880"/>
            <a:ext cx="10058400" cy="274320"/>
          </a:xfrm>
          <a:prstGeom prst="rect">
            <a:avLst/>
          </a:prstGeom>
          <a:noFill/>
        </p:spPr>
        <p:txBody>
          <a:bodyPr wrap="square"/>
          <a:lstStyle/>
          <a:p>
            <a:pPr algn="l">
              <a:defRPr sz="1300" b="0" i="0">
                <a:solidFill>
                  <a:srgbClr val="888580"/>
                </a:solidFill>
                <a:latin typeface="Calibri"/>
              </a:defRPr>
            </a:pPr>
            <a:r>
              <a:t>4 Schools  |  200+ Students Certified  |  3 Rounds Daily Led Personally</a:t>
            </a:r>
          </a:p>
        </p:txBody>
      </p:sp>
      <p:sp>
        <p:nvSpPr>
          <p:cNvPr id="44" name="Rectangle 43"/>
          <p:cNvSpPr/>
          <p:nvPr/>
        </p:nvSpPr>
        <p:spPr>
          <a:xfrm>
            <a:off x="640080" y="1828800"/>
            <a:ext cx="5303520" cy="429768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 y="1828800"/>
            <a:ext cx="54864" cy="42976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2011680"/>
            <a:ext cx="4572000" cy="274320"/>
          </a:xfrm>
          <a:prstGeom prst="rect">
            <a:avLst/>
          </a:prstGeom>
          <a:noFill/>
        </p:spPr>
        <p:txBody>
          <a:bodyPr wrap="square"/>
          <a:lstStyle/>
          <a:p>
            <a:pPr algn="l">
              <a:defRPr sz="1400" b="1" i="0">
                <a:solidFill>
                  <a:srgbClr val="1A1A1A"/>
                </a:solidFill>
                <a:latin typeface="Calibri"/>
              </a:defRPr>
            </a:pPr>
            <a:r>
              <a:t>XR LECTURES</a:t>
            </a:r>
          </a:p>
        </p:txBody>
      </p:sp>
      <p:sp>
        <p:nvSpPr>
          <p:cNvPr id="47" name="TextBox 46"/>
          <p:cNvSpPr txBox="1"/>
          <p:nvPr/>
        </p:nvSpPr>
        <p:spPr>
          <a:xfrm>
            <a:off x="1005840" y="2423160"/>
            <a:ext cx="4663440" cy="914400"/>
          </a:xfrm>
          <a:prstGeom prst="rect">
            <a:avLst/>
          </a:prstGeom>
          <a:noFill/>
        </p:spPr>
        <p:txBody>
          <a:bodyPr wrap="square"/>
          <a:lstStyle/>
          <a:p>
            <a:pPr algn="l">
              <a:lnSpc>
                <a:spcPts val="1600"/>
              </a:lnSpc>
              <a:defRPr sz="1100" b="0" i="0">
                <a:solidFill>
                  <a:srgbClr val="4A4A4A"/>
                </a:solidFill>
                <a:latin typeface="Calibri"/>
              </a:defRPr>
            </a:pPr>
            <a:r>
              <a:t>Personally delivering 3 rounds of immersive technology lectures daily across 4 schools — bringing AR/VR education to students who may never otherwise encounter it. Includes donation of education funds to participating schools. Over 200 students across all 4 schools awarded certificates, giving them a glimpse into a future career path in XR technology.</a:t>
            </a:r>
          </a:p>
        </p:txBody>
      </p:sp>
      <p:sp>
        <p:nvSpPr>
          <p:cNvPr id="48" name="Rectangle 47"/>
          <p:cNvSpPr/>
          <p:nvPr/>
        </p:nvSpPr>
        <p:spPr>
          <a:xfrm>
            <a:off x="1005840" y="3474720"/>
            <a:ext cx="4572000" cy="2377440"/>
          </a:xfrm>
          <a:prstGeom prst="rect">
            <a:avLst/>
          </a:prstGeom>
          <a:solidFill>
            <a:srgbClr val="E8E5E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4389120"/>
            <a:ext cx="4572000" cy="457200"/>
          </a:xfrm>
          <a:prstGeom prst="rect">
            <a:avLst/>
          </a:prstGeom>
          <a:noFill/>
        </p:spPr>
        <p:txBody>
          <a:bodyPr wrap="square"/>
          <a:lstStyle/>
          <a:p>
            <a:pPr algn="ctr">
              <a:defRPr sz="1200" b="0" i="0">
                <a:solidFill>
                  <a:srgbClr val="AAA7A2"/>
                </a:solidFill>
                <a:latin typeface="Calibri"/>
              </a:defRPr>
            </a:pPr>
            <a:r>
              <a:t>[ INSERT XR LECTURE PHOTO ]</a:t>
            </a:r>
          </a:p>
        </p:txBody>
      </p:sp>
      <p:sp>
        <p:nvSpPr>
          <p:cNvPr id="50" name="Rectangle 49"/>
          <p:cNvSpPr/>
          <p:nvPr/>
        </p:nvSpPr>
        <p:spPr>
          <a:xfrm>
            <a:off x="6217920" y="1828800"/>
            <a:ext cx="5303520" cy="429768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17920" y="1828800"/>
            <a:ext cx="54864" cy="42976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0" y="2011680"/>
            <a:ext cx="4572000" cy="274320"/>
          </a:xfrm>
          <a:prstGeom prst="rect">
            <a:avLst/>
          </a:prstGeom>
          <a:noFill/>
        </p:spPr>
        <p:txBody>
          <a:bodyPr wrap="square"/>
          <a:lstStyle/>
          <a:p>
            <a:pPr algn="l">
              <a:defRPr sz="1400" b="1" i="0">
                <a:solidFill>
                  <a:srgbClr val="1A1A1A"/>
                </a:solidFill>
                <a:latin typeface="Calibri"/>
              </a:defRPr>
            </a:pPr>
            <a:r>
              <a:t>INTRO TO SPARK AR WORKSHOP</a:t>
            </a:r>
          </a:p>
        </p:txBody>
      </p:sp>
      <p:sp>
        <p:nvSpPr>
          <p:cNvPr id="53" name="TextBox 52"/>
          <p:cNvSpPr txBox="1"/>
          <p:nvPr/>
        </p:nvSpPr>
        <p:spPr>
          <a:xfrm>
            <a:off x="6583680" y="2423160"/>
            <a:ext cx="4663440" cy="914400"/>
          </a:xfrm>
          <a:prstGeom prst="rect">
            <a:avLst/>
          </a:prstGeom>
          <a:noFill/>
        </p:spPr>
        <p:txBody>
          <a:bodyPr wrap="square"/>
          <a:lstStyle/>
          <a:p>
            <a:pPr algn="l">
              <a:lnSpc>
                <a:spcPts val="1600"/>
              </a:lnSpc>
              <a:defRPr sz="1100" b="0" i="0">
                <a:solidFill>
                  <a:srgbClr val="4A4A4A"/>
                </a:solidFill>
                <a:latin typeface="Calibri"/>
              </a:defRPr>
            </a:pPr>
            <a:r>
              <a:t>Hands-on workshop teaching students to build their own Instagram AR filters using Meta Spark AR. Students receive completion certificates. Computer lab sessions with guided tutorials and creative exercises.</a:t>
            </a:r>
          </a:p>
        </p:txBody>
      </p:sp>
      <p:sp>
        <p:nvSpPr>
          <p:cNvPr id="54" name="Rectangle 53"/>
          <p:cNvSpPr/>
          <p:nvPr/>
        </p:nvSpPr>
        <p:spPr>
          <a:xfrm>
            <a:off x="6583680" y="3474720"/>
            <a:ext cx="4572000" cy="2377440"/>
          </a:xfrm>
          <a:prstGeom prst="rect">
            <a:avLst/>
          </a:prstGeom>
          <a:solidFill>
            <a:srgbClr val="E8E5E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4389120"/>
            <a:ext cx="4572000" cy="457200"/>
          </a:xfrm>
          <a:prstGeom prst="rect">
            <a:avLst/>
          </a:prstGeom>
          <a:noFill/>
        </p:spPr>
        <p:txBody>
          <a:bodyPr wrap="square"/>
          <a:lstStyle/>
          <a:p>
            <a:pPr algn="ctr">
              <a:defRPr sz="1200" b="0" i="0">
                <a:solidFill>
                  <a:srgbClr val="AAA7A2"/>
                </a:solidFill>
                <a:latin typeface="Calibri"/>
              </a:defRPr>
            </a:pPr>
            <a:r>
              <a:t>[ INSERT SPARK AR WORKSHOP PHOTO ]</a:t>
            </a:r>
          </a:p>
        </p:txBody>
      </p:sp>
      <p:sp>
        <p:nvSpPr>
          <p:cNvPr id="56" name="Rectangle 55"/>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59" name="TextBox 58"/>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14  —  XR EDUCATION &amp; COMMUNITY</a:t>
            </a:r>
          </a:p>
        </p:txBody>
      </p:sp>
      <p:sp>
        <p:nvSpPr>
          <p:cNvPr id="41" name="Rectangle 40"/>
          <p:cNvSpPr/>
          <p:nvPr/>
        </p:nvSpPr>
        <p:spPr>
          <a:xfrm>
            <a:off x="731520" y="685800"/>
            <a:ext cx="1842516"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7315200" cy="548640"/>
          </a:xfrm>
          <a:prstGeom prst="rect">
            <a:avLst/>
          </a:prstGeom>
          <a:noFill/>
        </p:spPr>
        <p:txBody>
          <a:bodyPr wrap="square"/>
          <a:lstStyle/>
          <a:p>
            <a:pPr algn="l">
              <a:defRPr sz="3600" b="1" i="0">
                <a:solidFill>
                  <a:srgbClr val="1A1A1A"/>
                </a:solidFill>
                <a:latin typeface="Arial Black"/>
              </a:defRPr>
            </a:pPr>
            <a:r>
              <a:t>Baan ARVR</a:t>
            </a:r>
          </a:p>
        </p:txBody>
      </p:sp>
      <p:sp>
        <p:nvSpPr>
          <p:cNvPr id="43" name="TextBox 42"/>
          <p:cNvSpPr txBox="1"/>
          <p:nvPr/>
        </p:nvSpPr>
        <p:spPr>
          <a:xfrm>
            <a:off x="731520" y="1325880"/>
            <a:ext cx="10972800" cy="274320"/>
          </a:xfrm>
          <a:prstGeom prst="rect">
            <a:avLst/>
          </a:prstGeom>
          <a:noFill/>
        </p:spPr>
        <p:txBody>
          <a:bodyPr wrap="square"/>
          <a:lstStyle/>
          <a:p>
            <a:pPr algn="l">
              <a:defRPr sz="1300" b="0" i="0">
                <a:solidFill>
                  <a:srgbClr val="888580"/>
                </a:solidFill>
                <a:latin typeface="Calibri"/>
              </a:defRPr>
            </a:pPr>
            <a:r>
              <a:t>Education Fair &amp; Open House  |  Local Media Coverage  |  Awarded by Nakorn Nayok Education Authorities</a:t>
            </a:r>
          </a:p>
        </p:txBody>
      </p:sp>
      <p:sp>
        <p:nvSpPr>
          <p:cNvPr id="44" name="Rectangle 43"/>
          <p:cNvSpPr/>
          <p:nvPr/>
        </p:nvSpPr>
        <p:spPr>
          <a:xfrm>
            <a:off x="640080" y="1828800"/>
            <a:ext cx="5303520" cy="429768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 y="1828800"/>
            <a:ext cx="54864" cy="42976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2011680"/>
            <a:ext cx="4572000" cy="274320"/>
          </a:xfrm>
          <a:prstGeom prst="rect">
            <a:avLst/>
          </a:prstGeom>
          <a:noFill/>
        </p:spPr>
        <p:txBody>
          <a:bodyPr wrap="square"/>
          <a:lstStyle/>
          <a:p>
            <a:pPr algn="l">
              <a:defRPr sz="1400" b="1" i="0">
                <a:solidFill>
                  <a:srgbClr val="1A1A1A"/>
                </a:solidFill>
                <a:latin typeface="Calibri"/>
              </a:defRPr>
            </a:pPr>
            <a:r>
              <a:t>EDUCATION FAIR 2023</a:t>
            </a:r>
          </a:p>
        </p:txBody>
      </p:sp>
      <p:sp>
        <p:nvSpPr>
          <p:cNvPr id="47" name="TextBox 46"/>
          <p:cNvSpPr txBox="1"/>
          <p:nvPr/>
        </p:nvSpPr>
        <p:spPr>
          <a:xfrm>
            <a:off x="1005840" y="2423160"/>
            <a:ext cx="4663440" cy="914400"/>
          </a:xfrm>
          <a:prstGeom prst="rect">
            <a:avLst/>
          </a:prstGeom>
          <a:noFill/>
        </p:spPr>
        <p:txBody>
          <a:bodyPr wrap="square"/>
          <a:lstStyle/>
          <a:p>
            <a:pPr algn="l">
              <a:lnSpc>
                <a:spcPts val="1600"/>
              </a:lnSpc>
              <a:defRPr sz="1100" b="0" i="0">
                <a:solidFill>
                  <a:srgbClr val="4A4A4A"/>
                </a:solidFill>
                <a:latin typeface="Calibri"/>
              </a:defRPr>
            </a:pPr>
            <a:r>
              <a:t>Showcasing AR/VR technology at Thailand's education fairs — demonstrating how immersive tech can transform learning. Interactive AR Hotspot booth with live demos for students, parents, and educators.</a:t>
            </a:r>
          </a:p>
        </p:txBody>
      </p:sp>
      <p:sp>
        <p:nvSpPr>
          <p:cNvPr id="48" name="Rectangle 47"/>
          <p:cNvSpPr/>
          <p:nvPr/>
        </p:nvSpPr>
        <p:spPr>
          <a:xfrm>
            <a:off x="1005840" y="3474720"/>
            <a:ext cx="4572000" cy="2377440"/>
          </a:xfrm>
          <a:prstGeom prst="rect">
            <a:avLst/>
          </a:prstGeom>
          <a:solidFill>
            <a:srgbClr val="E8E5E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4389120"/>
            <a:ext cx="4572000" cy="457200"/>
          </a:xfrm>
          <a:prstGeom prst="rect">
            <a:avLst/>
          </a:prstGeom>
          <a:noFill/>
        </p:spPr>
        <p:txBody>
          <a:bodyPr wrap="square"/>
          <a:lstStyle/>
          <a:p>
            <a:pPr algn="ctr">
              <a:defRPr sz="1200" b="0" i="0">
                <a:solidFill>
                  <a:srgbClr val="AAA7A2"/>
                </a:solidFill>
                <a:latin typeface="Calibri"/>
              </a:defRPr>
            </a:pPr>
            <a:r>
              <a:t>[ INSERT EDUCATION FAIR PHOTO ]</a:t>
            </a:r>
          </a:p>
        </p:txBody>
      </p:sp>
      <p:sp>
        <p:nvSpPr>
          <p:cNvPr id="50" name="Rectangle 49"/>
          <p:cNvSpPr/>
          <p:nvPr/>
        </p:nvSpPr>
        <p:spPr>
          <a:xfrm>
            <a:off x="6217920" y="1828800"/>
            <a:ext cx="5303520" cy="4297680"/>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17920" y="1828800"/>
            <a:ext cx="54864" cy="42976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0" y="2011680"/>
            <a:ext cx="4572000" cy="274320"/>
          </a:xfrm>
          <a:prstGeom prst="rect">
            <a:avLst/>
          </a:prstGeom>
          <a:noFill/>
        </p:spPr>
        <p:txBody>
          <a:bodyPr wrap="square"/>
          <a:lstStyle/>
          <a:p>
            <a:pPr algn="l">
              <a:defRPr sz="1400" b="1" i="0">
                <a:solidFill>
                  <a:srgbClr val="1A1A1A"/>
                </a:solidFill>
                <a:latin typeface="Calibri"/>
              </a:defRPr>
            </a:pPr>
            <a:r>
              <a:t>OPEN HOUSE — NAKORN NAYOK</a:t>
            </a:r>
          </a:p>
        </p:txBody>
      </p:sp>
      <p:sp>
        <p:nvSpPr>
          <p:cNvPr id="53" name="TextBox 52"/>
          <p:cNvSpPr txBox="1"/>
          <p:nvPr/>
        </p:nvSpPr>
        <p:spPr>
          <a:xfrm>
            <a:off x="6583680" y="2423160"/>
            <a:ext cx="4663440" cy="914400"/>
          </a:xfrm>
          <a:prstGeom prst="rect">
            <a:avLst/>
          </a:prstGeom>
          <a:noFill/>
        </p:spPr>
        <p:txBody>
          <a:bodyPr wrap="square"/>
          <a:lstStyle/>
          <a:p>
            <a:pPr algn="l">
              <a:lnSpc>
                <a:spcPts val="1600"/>
              </a:lnSpc>
              <a:defRPr sz="1100" b="0" i="0">
                <a:solidFill>
                  <a:srgbClr val="4A4A4A"/>
                </a:solidFill>
                <a:latin typeface="Calibri"/>
              </a:defRPr>
            </a:pPr>
            <a:r>
              <a:t>Baan ARVR opened its doors to local kids in Nakorn Nayok — 3 rounds daily, personally led by M.L. Hariras. Children from the countryside who lack access to such technology stepped into a different world through VR and AR headsets. Covered by local media outlets. Everyone left with big smiles and certificates.</a:t>
            </a:r>
          </a:p>
        </p:txBody>
      </p:sp>
      <p:sp>
        <p:nvSpPr>
          <p:cNvPr id="54" name="Rectangle 53"/>
          <p:cNvSpPr/>
          <p:nvPr/>
        </p:nvSpPr>
        <p:spPr>
          <a:xfrm>
            <a:off x="6583680" y="3474720"/>
            <a:ext cx="4572000" cy="2377440"/>
          </a:xfrm>
          <a:prstGeom prst="rect">
            <a:avLst/>
          </a:prstGeom>
          <a:solidFill>
            <a:srgbClr val="E8E5E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4389120"/>
            <a:ext cx="4572000" cy="457200"/>
          </a:xfrm>
          <a:prstGeom prst="rect">
            <a:avLst/>
          </a:prstGeom>
          <a:noFill/>
        </p:spPr>
        <p:txBody>
          <a:bodyPr wrap="square"/>
          <a:lstStyle/>
          <a:p>
            <a:pPr algn="ctr">
              <a:defRPr sz="1200" b="0" i="0">
                <a:solidFill>
                  <a:srgbClr val="AAA7A2"/>
                </a:solidFill>
                <a:latin typeface="Calibri"/>
              </a:defRPr>
            </a:pPr>
            <a:r>
              <a:t>[ INSERT OPEN HOUSE PHOTO ]</a:t>
            </a:r>
          </a:p>
        </p:txBody>
      </p:sp>
      <p:sp>
        <p:nvSpPr>
          <p:cNvPr id="56" name="TextBox 55"/>
          <p:cNvSpPr txBox="1"/>
          <p:nvPr/>
        </p:nvSpPr>
        <p:spPr>
          <a:xfrm>
            <a:off x="731520" y="5989320"/>
            <a:ext cx="4572000" cy="228600"/>
          </a:xfrm>
          <a:prstGeom prst="rect">
            <a:avLst/>
          </a:prstGeom>
          <a:noFill/>
        </p:spPr>
        <p:txBody>
          <a:bodyPr wrap="square"/>
          <a:lstStyle/>
          <a:p>
            <a:pPr algn="l">
              <a:defRPr sz="1000" b="1" i="0">
                <a:solidFill>
                  <a:srgbClr val="CC0011"/>
                </a:solidFill>
                <a:latin typeface="Calibri"/>
              </a:defRPr>
            </a:pPr>
            <a:r>
              <a:t>facebook.com/BaanARVR</a:t>
            </a:r>
          </a:p>
        </p:txBody>
      </p:sp>
      <p:sp>
        <p:nvSpPr>
          <p:cNvPr id="57" name="Rectangle 56"/>
          <p:cNvSpPr/>
          <p:nvPr/>
        </p:nvSpPr>
        <p:spPr>
          <a:xfrm>
            <a:off x="731520" y="6263640"/>
            <a:ext cx="1316736"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1520" y="6263640"/>
            <a:ext cx="1316736" cy="320040"/>
          </a:xfrm>
          <a:prstGeom prst="rect">
            <a:avLst/>
          </a:prstGeom>
          <a:noFill/>
        </p:spPr>
        <p:txBody>
          <a:bodyPr wrap="square"/>
          <a:lstStyle/>
          <a:p>
            <a:pPr algn="ctr">
              <a:defRPr sz="800" b="1" i="0">
                <a:solidFill>
                  <a:srgbClr val="1A1A1A"/>
                </a:solidFill>
                <a:latin typeface="Calibri"/>
              </a:defRPr>
            </a:pPr>
            <a:r>
              <a:t>XR EDUCATION</a:t>
            </a:r>
          </a:p>
        </p:txBody>
      </p:sp>
      <p:sp>
        <p:nvSpPr>
          <p:cNvPr id="59" name="Rectangle 58"/>
          <p:cNvSpPr/>
          <p:nvPr/>
        </p:nvSpPr>
        <p:spPr>
          <a:xfrm>
            <a:off x="2157984" y="6263640"/>
            <a:ext cx="9692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157984" y="6263640"/>
            <a:ext cx="969264" cy="320040"/>
          </a:xfrm>
          <a:prstGeom prst="rect">
            <a:avLst/>
          </a:prstGeom>
          <a:noFill/>
        </p:spPr>
        <p:txBody>
          <a:bodyPr wrap="square"/>
          <a:lstStyle/>
          <a:p>
            <a:pPr algn="ctr">
              <a:defRPr sz="800" b="1" i="0">
                <a:solidFill>
                  <a:srgbClr val="1A1A1A"/>
                </a:solidFill>
                <a:latin typeface="Calibri"/>
              </a:defRPr>
            </a:pPr>
            <a:r>
              <a:t>SPARK AR</a:t>
            </a:r>
          </a:p>
        </p:txBody>
      </p:sp>
      <p:sp>
        <p:nvSpPr>
          <p:cNvPr id="61" name="Rectangle 60"/>
          <p:cNvSpPr/>
          <p:nvPr/>
        </p:nvSpPr>
        <p:spPr>
          <a:xfrm>
            <a:off x="3236976" y="6263640"/>
            <a:ext cx="105613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36976" y="6263640"/>
            <a:ext cx="1056132" cy="320040"/>
          </a:xfrm>
          <a:prstGeom prst="rect">
            <a:avLst/>
          </a:prstGeom>
          <a:noFill/>
        </p:spPr>
        <p:txBody>
          <a:bodyPr wrap="square"/>
          <a:lstStyle/>
          <a:p>
            <a:pPr algn="ctr">
              <a:defRPr sz="800" b="1" i="0">
                <a:solidFill>
                  <a:srgbClr val="1A1A1A"/>
                </a:solidFill>
                <a:latin typeface="Calibri"/>
              </a:defRPr>
            </a:pPr>
            <a:r>
              <a:t>WORKSHOPS</a:t>
            </a:r>
          </a:p>
        </p:txBody>
      </p:sp>
      <p:sp>
        <p:nvSpPr>
          <p:cNvPr id="63" name="Rectangle 62"/>
          <p:cNvSpPr/>
          <p:nvPr/>
        </p:nvSpPr>
        <p:spPr>
          <a:xfrm>
            <a:off x="4402836" y="6263640"/>
            <a:ext cx="882396"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402836" y="6263640"/>
            <a:ext cx="882396" cy="320040"/>
          </a:xfrm>
          <a:prstGeom prst="rect">
            <a:avLst/>
          </a:prstGeom>
          <a:noFill/>
        </p:spPr>
        <p:txBody>
          <a:bodyPr wrap="square"/>
          <a:lstStyle/>
          <a:p>
            <a:pPr algn="ctr">
              <a:defRPr sz="800" b="1" i="0">
                <a:solidFill>
                  <a:srgbClr val="1A1A1A"/>
                </a:solidFill>
                <a:latin typeface="Calibri"/>
              </a:defRPr>
            </a:pPr>
            <a:r>
              <a:t>SCHOOLS</a:t>
            </a:r>
          </a:p>
        </p:txBody>
      </p:sp>
      <p:sp>
        <p:nvSpPr>
          <p:cNvPr id="65" name="Rectangle 64"/>
          <p:cNvSpPr/>
          <p:nvPr/>
        </p:nvSpPr>
        <p:spPr>
          <a:xfrm>
            <a:off x="5394960" y="6263640"/>
            <a:ext cx="9692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394960" y="6263640"/>
            <a:ext cx="969264" cy="320040"/>
          </a:xfrm>
          <a:prstGeom prst="rect">
            <a:avLst/>
          </a:prstGeom>
          <a:noFill/>
        </p:spPr>
        <p:txBody>
          <a:bodyPr wrap="square"/>
          <a:lstStyle/>
          <a:p>
            <a:pPr algn="ctr">
              <a:defRPr sz="800" b="1" i="0">
                <a:solidFill>
                  <a:srgbClr val="1A1A1A"/>
                </a:solidFill>
                <a:latin typeface="Calibri"/>
              </a:defRPr>
            </a:pPr>
            <a:r>
              <a:t>VR DEMOS</a:t>
            </a:r>
          </a:p>
        </p:txBody>
      </p:sp>
      <p:sp>
        <p:nvSpPr>
          <p:cNvPr id="67" name="Rectangle 66"/>
          <p:cNvSpPr/>
          <p:nvPr/>
        </p:nvSpPr>
        <p:spPr>
          <a:xfrm>
            <a:off x="6473952" y="6263640"/>
            <a:ext cx="1316736"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73952" y="6263640"/>
            <a:ext cx="1316736" cy="320040"/>
          </a:xfrm>
          <a:prstGeom prst="rect">
            <a:avLst/>
          </a:prstGeom>
          <a:noFill/>
        </p:spPr>
        <p:txBody>
          <a:bodyPr wrap="square"/>
          <a:lstStyle/>
          <a:p>
            <a:pPr algn="ctr">
              <a:defRPr sz="800" b="1" i="0">
                <a:solidFill>
                  <a:srgbClr val="1A1A1A"/>
                </a:solidFill>
                <a:latin typeface="Calibri"/>
              </a:defRPr>
            </a:pPr>
            <a:r>
              <a:t>CERTIFICATES</a:t>
            </a:r>
          </a:p>
        </p:txBody>
      </p:sp>
      <p:sp>
        <p:nvSpPr>
          <p:cNvPr id="69" name="Rectangle 68"/>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2" name="TextBox 71"/>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12191695"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365760"/>
            <a:ext cx="7315200" cy="274320"/>
          </a:xfrm>
          <a:prstGeom prst="rect">
            <a:avLst/>
          </a:prstGeom>
          <a:noFill/>
        </p:spPr>
        <p:txBody>
          <a:bodyPr wrap="square"/>
          <a:lstStyle/>
          <a:p>
            <a:pPr algn="l">
              <a:defRPr sz="1000" b="1" i="0">
                <a:solidFill>
                  <a:srgbClr val="555555"/>
                </a:solidFill>
                <a:latin typeface="Calibri"/>
              </a:defRPr>
            </a:pPr>
            <a:r>
              <a:t>15  —  GAMIFICATION — PHYSICAL ACTIVATION</a:t>
            </a:r>
          </a:p>
        </p:txBody>
      </p:sp>
      <p:sp>
        <p:nvSpPr>
          <p:cNvPr id="42" name="TextBox 41"/>
          <p:cNvSpPr txBox="1"/>
          <p:nvPr/>
        </p:nvSpPr>
        <p:spPr>
          <a:xfrm>
            <a:off x="731520" y="731520"/>
            <a:ext cx="9144000" cy="548640"/>
          </a:xfrm>
          <a:prstGeom prst="rect">
            <a:avLst/>
          </a:prstGeom>
          <a:noFill/>
        </p:spPr>
        <p:txBody>
          <a:bodyPr wrap="square"/>
          <a:lstStyle/>
          <a:p>
            <a:pPr algn="l">
              <a:defRPr sz="4200" b="1" i="0">
                <a:solidFill>
                  <a:srgbClr val="FFFFFF"/>
                </a:solidFill>
                <a:latin typeface="Arial Black"/>
              </a:defRPr>
            </a:pPr>
            <a:r>
              <a:t>Thailand Post ×</a:t>
            </a:r>
          </a:p>
        </p:txBody>
      </p:sp>
      <p:sp>
        <p:nvSpPr>
          <p:cNvPr id="43" name="TextBox 42"/>
          <p:cNvSpPr txBox="1"/>
          <p:nvPr/>
        </p:nvSpPr>
        <p:spPr>
          <a:xfrm>
            <a:off x="731520" y="1325880"/>
            <a:ext cx="9144000" cy="457200"/>
          </a:xfrm>
          <a:prstGeom prst="rect">
            <a:avLst/>
          </a:prstGeom>
          <a:noFill/>
        </p:spPr>
        <p:txBody>
          <a:bodyPr wrap="square"/>
          <a:lstStyle/>
          <a:p>
            <a:pPr algn="l">
              <a:defRPr sz="2800" b="1" i="0">
                <a:solidFill>
                  <a:srgbClr val="CC0011"/>
                </a:solidFill>
                <a:latin typeface="Arial Black"/>
              </a:defRPr>
            </a:pPr>
            <a:r>
              <a:t>Augma Playground</a:t>
            </a:r>
          </a:p>
        </p:txBody>
      </p:sp>
      <p:sp>
        <p:nvSpPr>
          <p:cNvPr id="44" name="Rectangle 43"/>
          <p:cNvSpPr/>
          <p:nvPr/>
        </p:nvSpPr>
        <p:spPr>
          <a:xfrm>
            <a:off x="731520" y="192024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2194560"/>
            <a:ext cx="6583680" cy="1097280"/>
          </a:xfrm>
          <a:prstGeom prst="rect">
            <a:avLst/>
          </a:prstGeom>
          <a:noFill/>
        </p:spPr>
        <p:txBody>
          <a:bodyPr wrap="square"/>
          <a:lstStyle/>
          <a:p>
            <a:pPr algn="l">
              <a:lnSpc>
                <a:spcPts val="1900"/>
              </a:lnSpc>
              <a:defRPr sz="1200" b="0" i="0">
                <a:solidFill>
                  <a:srgbClr val="BBBBBB"/>
                </a:solidFill>
                <a:latin typeface="Calibri"/>
              </a:defRPr>
            </a:pPr>
            <a:r>
              <a:t>Designed and built 3 custom interactive kiosks for Thailand Post's cultural activation event at Talat Noi, Bangkok — an impossible 3-week timeline for systems that would normally take 3 weeks each. The installations featured arcade-style dance pad games, interactive photo booths with illustrated animal characters, and touch-screen experiences.</a:t>
            </a:r>
          </a:p>
        </p:txBody>
      </p:sp>
      <p:sp>
        <p:nvSpPr>
          <p:cNvPr id="46" name="TextBox 45"/>
          <p:cNvSpPr txBox="1"/>
          <p:nvPr/>
        </p:nvSpPr>
        <p:spPr>
          <a:xfrm>
            <a:off x="731520" y="3291840"/>
            <a:ext cx="6583680" cy="914400"/>
          </a:xfrm>
          <a:prstGeom prst="rect">
            <a:avLst/>
          </a:prstGeom>
          <a:noFill/>
        </p:spPr>
        <p:txBody>
          <a:bodyPr wrap="square"/>
          <a:lstStyle/>
          <a:p>
            <a:pPr algn="l">
              <a:lnSpc>
                <a:spcPts val="1700"/>
              </a:lnSpc>
              <a:defRPr sz="1100" b="0" i="0">
                <a:solidFill>
                  <a:srgbClr val="888888"/>
                </a:solidFill>
                <a:latin typeface="Calibri"/>
              </a:defRPr>
            </a:pPr>
            <a:r>
              <a:t>The project served kids, families, and elderly visitors — inspiring and rejuvenating through play and technology. Built under extreme pressure but delivered a priceless experience for the community.</a:t>
            </a:r>
          </a:p>
        </p:txBody>
      </p:sp>
      <p:sp>
        <p:nvSpPr>
          <p:cNvPr id="47" name="Rectangle 46"/>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6720" y="2231136"/>
            <a:ext cx="1371600" cy="182880"/>
          </a:xfrm>
          <a:prstGeom prst="rect">
            <a:avLst/>
          </a:prstGeom>
          <a:noFill/>
        </p:spPr>
        <p:txBody>
          <a:bodyPr wrap="square"/>
          <a:lstStyle/>
          <a:p>
            <a:pPr algn="l">
              <a:defRPr sz="800" b="1" i="0">
                <a:solidFill>
                  <a:srgbClr val="CC0011"/>
                </a:solidFill>
                <a:latin typeface="Calibri"/>
              </a:defRPr>
            </a:pPr>
            <a:r>
              <a:t>CLIENT</a:t>
            </a:r>
          </a:p>
        </p:txBody>
      </p:sp>
      <p:sp>
        <p:nvSpPr>
          <p:cNvPr id="49" name="TextBox 48"/>
          <p:cNvSpPr txBox="1"/>
          <p:nvPr/>
        </p:nvSpPr>
        <p:spPr>
          <a:xfrm>
            <a:off x="8046720" y="2395728"/>
            <a:ext cx="3474720" cy="219456"/>
          </a:xfrm>
          <a:prstGeom prst="rect">
            <a:avLst/>
          </a:prstGeom>
          <a:noFill/>
        </p:spPr>
        <p:txBody>
          <a:bodyPr wrap="square"/>
          <a:lstStyle/>
          <a:p>
            <a:pPr algn="l">
              <a:defRPr sz="1000" b="1" i="0">
                <a:solidFill>
                  <a:srgbClr val="FFFFFF"/>
                </a:solidFill>
                <a:latin typeface="Calibri"/>
              </a:defRPr>
            </a:pPr>
            <a:r>
              <a:t>Thailand Post</a:t>
            </a:r>
          </a:p>
        </p:txBody>
      </p:sp>
      <p:sp>
        <p:nvSpPr>
          <p:cNvPr id="50" name="Rectangle 49"/>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46720" y="2779776"/>
            <a:ext cx="1371600" cy="182880"/>
          </a:xfrm>
          <a:prstGeom prst="rect">
            <a:avLst/>
          </a:prstGeom>
          <a:noFill/>
        </p:spPr>
        <p:txBody>
          <a:bodyPr wrap="square"/>
          <a:lstStyle/>
          <a:p>
            <a:pPr algn="l">
              <a:defRPr sz="800" b="1" i="0">
                <a:solidFill>
                  <a:srgbClr val="CC0011"/>
                </a:solidFill>
                <a:latin typeface="Calibri"/>
              </a:defRPr>
            </a:pPr>
            <a:r>
              <a:t>EVENT</a:t>
            </a:r>
          </a:p>
        </p:txBody>
      </p:sp>
      <p:sp>
        <p:nvSpPr>
          <p:cNvPr id="52" name="TextBox 51"/>
          <p:cNvSpPr txBox="1"/>
          <p:nvPr/>
        </p:nvSpPr>
        <p:spPr>
          <a:xfrm>
            <a:off x="8046720" y="2944368"/>
            <a:ext cx="3474720" cy="219456"/>
          </a:xfrm>
          <a:prstGeom prst="rect">
            <a:avLst/>
          </a:prstGeom>
          <a:noFill/>
        </p:spPr>
        <p:txBody>
          <a:bodyPr wrap="square"/>
          <a:lstStyle/>
          <a:p>
            <a:pPr algn="l">
              <a:defRPr sz="1000" b="1" i="0">
                <a:solidFill>
                  <a:srgbClr val="FFFFFF"/>
                </a:solidFill>
                <a:latin typeface="Calibri"/>
              </a:defRPr>
            </a:pPr>
            <a:r>
              <a:t>"Weekendนี้ศักดิ์สิทธิ์" — Talat Noi</a:t>
            </a:r>
          </a:p>
        </p:txBody>
      </p:sp>
      <p:sp>
        <p:nvSpPr>
          <p:cNvPr id="53" name="Rectangle 52"/>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46720" y="3328415"/>
            <a:ext cx="1371600" cy="182880"/>
          </a:xfrm>
          <a:prstGeom prst="rect">
            <a:avLst/>
          </a:prstGeom>
          <a:noFill/>
        </p:spPr>
        <p:txBody>
          <a:bodyPr wrap="square"/>
          <a:lstStyle/>
          <a:p>
            <a:pPr algn="l">
              <a:defRPr sz="800" b="1" i="0">
                <a:solidFill>
                  <a:srgbClr val="CC0011"/>
                </a:solidFill>
                <a:latin typeface="Calibri"/>
              </a:defRPr>
            </a:pPr>
            <a:r>
              <a:t>DATE</a:t>
            </a:r>
          </a:p>
        </p:txBody>
      </p:sp>
      <p:sp>
        <p:nvSpPr>
          <p:cNvPr id="55" name="TextBox 54"/>
          <p:cNvSpPr txBox="1"/>
          <p:nvPr/>
        </p:nvSpPr>
        <p:spPr>
          <a:xfrm>
            <a:off x="8046720" y="3493008"/>
            <a:ext cx="3474720" cy="219456"/>
          </a:xfrm>
          <a:prstGeom prst="rect">
            <a:avLst/>
          </a:prstGeom>
          <a:noFill/>
        </p:spPr>
        <p:txBody>
          <a:bodyPr wrap="square"/>
          <a:lstStyle/>
          <a:p>
            <a:pPr algn="l">
              <a:defRPr sz="1000" b="1" i="0">
                <a:solidFill>
                  <a:srgbClr val="FFFFFF"/>
                </a:solidFill>
                <a:latin typeface="Calibri"/>
              </a:defRPr>
            </a:pPr>
            <a:r>
              <a:t>October 2025</a:t>
            </a:r>
          </a:p>
        </p:txBody>
      </p:sp>
      <p:sp>
        <p:nvSpPr>
          <p:cNvPr id="56" name="Rectangle 55"/>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6720" y="3877055"/>
            <a:ext cx="1371600" cy="182880"/>
          </a:xfrm>
          <a:prstGeom prst="rect">
            <a:avLst/>
          </a:prstGeom>
          <a:noFill/>
        </p:spPr>
        <p:txBody>
          <a:bodyPr wrap="square"/>
          <a:lstStyle/>
          <a:p>
            <a:pPr algn="l">
              <a:defRPr sz="800" b="1" i="0">
                <a:solidFill>
                  <a:srgbClr val="CC0011"/>
                </a:solidFill>
                <a:latin typeface="Calibri"/>
              </a:defRPr>
            </a:pPr>
            <a:r>
              <a:t>TIMELINE</a:t>
            </a:r>
          </a:p>
        </p:txBody>
      </p:sp>
      <p:sp>
        <p:nvSpPr>
          <p:cNvPr id="58" name="TextBox 57"/>
          <p:cNvSpPr txBox="1"/>
          <p:nvPr/>
        </p:nvSpPr>
        <p:spPr>
          <a:xfrm>
            <a:off x="8046720" y="4041647"/>
            <a:ext cx="3474720" cy="219456"/>
          </a:xfrm>
          <a:prstGeom prst="rect">
            <a:avLst/>
          </a:prstGeom>
          <a:noFill/>
        </p:spPr>
        <p:txBody>
          <a:bodyPr wrap="square"/>
          <a:lstStyle/>
          <a:p>
            <a:pPr algn="l">
              <a:defRPr sz="1000" b="1" i="0">
                <a:solidFill>
                  <a:srgbClr val="FFFFFF"/>
                </a:solidFill>
                <a:latin typeface="Calibri"/>
              </a:defRPr>
            </a:pPr>
            <a:r>
              <a:t>3 Weeks — Built from Scratch</a:t>
            </a:r>
          </a:p>
        </p:txBody>
      </p:sp>
      <p:sp>
        <p:nvSpPr>
          <p:cNvPr id="59" name="Rectangle 58"/>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6720" y="4425696"/>
            <a:ext cx="1371600" cy="182880"/>
          </a:xfrm>
          <a:prstGeom prst="rect">
            <a:avLst/>
          </a:prstGeom>
          <a:noFill/>
        </p:spPr>
        <p:txBody>
          <a:bodyPr wrap="square"/>
          <a:lstStyle/>
          <a:p>
            <a:pPr algn="l">
              <a:defRPr sz="800" b="1" i="0">
                <a:solidFill>
                  <a:srgbClr val="CC0011"/>
                </a:solidFill>
                <a:latin typeface="Calibri"/>
              </a:defRPr>
            </a:pPr>
            <a:r>
              <a:t>KIOSKS</a:t>
            </a:r>
          </a:p>
        </p:txBody>
      </p:sp>
      <p:sp>
        <p:nvSpPr>
          <p:cNvPr id="61" name="TextBox 60"/>
          <p:cNvSpPr txBox="1"/>
          <p:nvPr/>
        </p:nvSpPr>
        <p:spPr>
          <a:xfrm>
            <a:off x="8046720" y="4590288"/>
            <a:ext cx="3474720" cy="219456"/>
          </a:xfrm>
          <a:prstGeom prst="rect">
            <a:avLst/>
          </a:prstGeom>
          <a:noFill/>
        </p:spPr>
        <p:txBody>
          <a:bodyPr wrap="square"/>
          <a:lstStyle/>
          <a:p>
            <a:pPr algn="l">
              <a:defRPr sz="1000" b="1" i="0">
                <a:solidFill>
                  <a:srgbClr val="FFFFFF"/>
                </a:solidFill>
                <a:latin typeface="Calibri"/>
              </a:defRPr>
            </a:pPr>
            <a:r>
              <a:t>3 Custom Interactive Installations</a:t>
            </a:r>
          </a:p>
        </p:txBody>
      </p:sp>
      <p:sp>
        <p:nvSpPr>
          <p:cNvPr id="62" name="Rectangle 61"/>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46720" y="4974336"/>
            <a:ext cx="1371600" cy="182880"/>
          </a:xfrm>
          <a:prstGeom prst="rect">
            <a:avLst/>
          </a:prstGeom>
          <a:noFill/>
        </p:spPr>
        <p:txBody>
          <a:bodyPr wrap="square"/>
          <a:lstStyle/>
          <a:p>
            <a:pPr algn="l">
              <a:defRPr sz="800" b="1" i="0">
                <a:solidFill>
                  <a:srgbClr val="CC0011"/>
                </a:solidFill>
                <a:latin typeface="Calibri"/>
              </a:defRPr>
            </a:pPr>
            <a:r>
              <a:t>AUDIENCE</a:t>
            </a:r>
          </a:p>
        </p:txBody>
      </p:sp>
      <p:sp>
        <p:nvSpPr>
          <p:cNvPr id="64" name="TextBox 63"/>
          <p:cNvSpPr txBox="1"/>
          <p:nvPr/>
        </p:nvSpPr>
        <p:spPr>
          <a:xfrm>
            <a:off x="8046720" y="5138928"/>
            <a:ext cx="3474720" cy="219456"/>
          </a:xfrm>
          <a:prstGeom prst="rect">
            <a:avLst/>
          </a:prstGeom>
          <a:noFill/>
        </p:spPr>
        <p:txBody>
          <a:bodyPr wrap="square"/>
          <a:lstStyle/>
          <a:p>
            <a:pPr algn="l">
              <a:defRPr sz="1000" b="1" i="0">
                <a:solidFill>
                  <a:srgbClr val="FFFFFF"/>
                </a:solidFill>
                <a:latin typeface="Calibri"/>
              </a:defRPr>
            </a:pPr>
            <a:r>
              <a:t>Kids, Families &amp; Elderly Visitors</a:t>
            </a:r>
          </a:p>
        </p:txBody>
      </p:sp>
      <p:sp>
        <p:nvSpPr>
          <p:cNvPr id="65" name="Rectangle 64"/>
          <p:cNvSpPr/>
          <p:nvPr/>
        </p:nvSpPr>
        <p:spPr>
          <a:xfrm>
            <a:off x="731520" y="4846320"/>
            <a:ext cx="1261872"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1520" y="4846320"/>
            <a:ext cx="1261872" cy="320040"/>
          </a:xfrm>
          <a:prstGeom prst="rect">
            <a:avLst/>
          </a:prstGeom>
          <a:noFill/>
        </p:spPr>
        <p:txBody>
          <a:bodyPr wrap="square"/>
          <a:lstStyle/>
          <a:p>
            <a:pPr algn="ctr">
              <a:defRPr sz="800" b="1" i="0">
                <a:solidFill>
                  <a:srgbClr val="CC0011"/>
                </a:solidFill>
                <a:latin typeface="Calibri"/>
              </a:defRPr>
            </a:pPr>
            <a:r>
              <a:t>GAMIFICATION</a:t>
            </a:r>
          </a:p>
        </p:txBody>
      </p:sp>
      <p:sp>
        <p:nvSpPr>
          <p:cNvPr id="67" name="Rectangle 66"/>
          <p:cNvSpPr/>
          <p:nvPr/>
        </p:nvSpPr>
        <p:spPr>
          <a:xfrm>
            <a:off x="2130552" y="4846320"/>
            <a:ext cx="685800"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130552" y="4846320"/>
            <a:ext cx="685800" cy="320040"/>
          </a:xfrm>
          <a:prstGeom prst="rect">
            <a:avLst/>
          </a:prstGeom>
          <a:noFill/>
        </p:spPr>
        <p:txBody>
          <a:bodyPr wrap="square"/>
          <a:lstStyle/>
          <a:p>
            <a:pPr algn="ctr">
              <a:defRPr sz="800" b="1" i="0">
                <a:solidFill>
                  <a:srgbClr val="CC0011"/>
                </a:solidFill>
                <a:latin typeface="Calibri"/>
              </a:defRPr>
            </a:pPr>
            <a:r>
              <a:t>KIOSK</a:t>
            </a:r>
          </a:p>
        </p:txBody>
      </p:sp>
      <p:sp>
        <p:nvSpPr>
          <p:cNvPr id="69" name="Rectangle 68"/>
          <p:cNvSpPr/>
          <p:nvPr/>
        </p:nvSpPr>
        <p:spPr>
          <a:xfrm>
            <a:off x="2953512" y="4846320"/>
            <a:ext cx="1179576"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53512" y="4846320"/>
            <a:ext cx="1179576" cy="320040"/>
          </a:xfrm>
          <a:prstGeom prst="rect">
            <a:avLst/>
          </a:prstGeom>
          <a:noFill/>
        </p:spPr>
        <p:txBody>
          <a:bodyPr wrap="square"/>
          <a:lstStyle/>
          <a:p>
            <a:pPr algn="ctr">
              <a:defRPr sz="800" b="1" i="0">
                <a:solidFill>
                  <a:srgbClr val="CC0011"/>
                </a:solidFill>
                <a:latin typeface="Calibri"/>
              </a:defRPr>
            </a:pPr>
            <a:r>
              <a:t>INTERACTIVE</a:t>
            </a:r>
          </a:p>
        </p:txBody>
      </p:sp>
      <p:sp>
        <p:nvSpPr>
          <p:cNvPr id="71" name="Rectangle 70"/>
          <p:cNvSpPr/>
          <p:nvPr/>
        </p:nvSpPr>
        <p:spPr>
          <a:xfrm>
            <a:off x="4270248" y="4846320"/>
            <a:ext cx="1014983"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270248" y="4846320"/>
            <a:ext cx="1014983" cy="320040"/>
          </a:xfrm>
          <a:prstGeom prst="rect">
            <a:avLst/>
          </a:prstGeom>
          <a:noFill/>
        </p:spPr>
        <p:txBody>
          <a:bodyPr wrap="square"/>
          <a:lstStyle/>
          <a:p>
            <a:pPr algn="ctr">
              <a:defRPr sz="800" b="1" i="0">
                <a:solidFill>
                  <a:srgbClr val="CC0011"/>
                </a:solidFill>
                <a:latin typeface="Calibri"/>
              </a:defRPr>
            </a:pPr>
            <a:r>
              <a:t>DANCE PAD</a:t>
            </a:r>
          </a:p>
        </p:txBody>
      </p:sp>
      <p:sp>
        <p:nvSpPr>
          <p:cNvPr id="73" name="Rectangle 72"/>
          <p:cNvSpPr/>
          <p:nvPr/>
        </p:nvSpPr>
        <p:spPr>
          <a:xfrm>
            <a:off x="5422392" y="4846320"/>
            <a:ext cx="1179576"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422392" y="4846320"/>
            <a:ext cx="1179576" cy="320040"/>
          </a:xfrm>
          <a:prstGeom prst="rect">
            <a:avLst/>
          </a:prstGeom>
          <a:noFill/>
        </p:spPr>
        <p:txBody>
          <a:bodyPr wrap="square"/>
          <a:lstStyle/>
          <a:p>
            <a:pPr algn="ctr">
              <a:defRPr sz="800" b="1" i="0">
                <a:solidFill>
                  <a:srgbClr val="CC0011"/>
                </a:solidFill>
                <a:latin typeface="Calibri"/>
              </a:defRPr>
            </a:pPr>
            <a:r>
              <a:t>PHOTO BOOTH</a:t>
            </a:r>
          </a:p>
        </p:txBody>
      </p:sp>
      <p:sp>
        <p:nvSpPr>
          <p:cNvPr id="75" name="Rectangle 74"/>
          <p:cNvSpPr/>
          <p:nvPr/>
        </p:nvSpPr>
        <p:spPr>
          <a:xfrm>
            <a:off x="731520" y="5394960"/>
            <a:ext cx="1069848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1520" y="5577840"/>
            <a:ext cx="1371600" cy="457200"/>
          </a:xfrm>
          <a:prstGeom prst="rect">
            <a:avLst/>
          </a:prstGeom>
          <a:noFill/>
        </p:spPr>
        <p:txBody>
          <a:bodyPr wrap="square"/>
          <a:lstStyle/>
          <a:p>
            <a:pPr algn="l">
              <a:defRPr sz="3600" b="1" i="0">
                <a:solidFill>
                  <a:srgbClr val="CC0011"/>
                </a:solidFill>
                <a:latin typeface="Arial Black"/>
              </a:defRPr>
            </a:pPr>
            <a:r>
              <a:t>3</a:t>
            </a:r>
          </a:p>
        </p:txBody>
      </p:sp>
      <p:sp>
        <p:nvSpPr>
          <p:cNvPr id="77" name="TextBox 76"/>
          <p:cNvSpPr txBox="1"/>
          <p:nvPr/>
        </p:nvSpPr>
        <p:spPr>
          <a:xfrm>
            <a:off x="1828800" y="5623560"/>
            <a:ext cx="1828800" cy="457200"/>
          </a:xfrm>
          <a:prstGeom prst="rect">
            <a:avLst/>
          </a:prstGeom>
          <a:noFill/>
        </p:spPr>
        <p:txBody>
          <a:bodyPr wrap="square"/>
          <a:lstStyle/>
          <a:p>
            <a:pPr algn="l">
              <a:lnSpc>
                <a:spcPts val="1200"/>
              </a:lnSpc>
              <a:defRPr sz="800" b="1" i="0">
                <a:solidFill>
                  <a:srgbClr val="555555"/>
                </a:solidFill>
                <a:latin typeface="Calibri"/>
              </a:defRPr>
            </a:pPr>
            <a:r>
              <a:t>CUSTOM</a:t>
            </a:r>
            <a:br/>
            <a:r>
              <a:t>KIOSKS</a:t>
            </a:r>
          </a:p>
        </p:txBody>
      </p:sp>
      <p:sp>
        <p:nvSpPr>
          <p:cNvPr id="78" name="TextBox 77"/>
          <p:cNvSpPr txBox="1"/>
          <p:nvPr/>
        </p:nvSpPr>
        <p:spPr>
          <a:xfrm>
            <a:off x="3566160" y="5577840"/>
            <a:ext cx="1371600" cy="457200"/>
          </a:xfrm>
          <a:prstGeom prst="rect">
            <a:avLst/>
          </a:prstGeom>
          <a:noFill/>
        </p:spPr>
        <p:txBody>
          <a:bodyPr wrap="square"/>
          <a:lstStyle/>
          <a:p>
            <a:pPr algn="l">
              <a:defRPr sz="3600" b="1" i="0">
                <a:solidFill>
                  <a:srgbClr val="CC0011"/>
                </a:solidFill>
                <a:latin typeface="Arial Black"/>
              </a:defRPr>
            </a:pPr>
            <a:r>
              <a:t>3</a:t>
            </a:r>
          </a:p>
        </p:txBody>
      </p:sp>
      <p:sp>
        <p:nvSpPr>
          <p:cNvPr id="79" name="TextBox 78"/>
          <p:cNvSpPr txBox="1"/>
          <p:nvPr/>
        </p:nvSpPr>
        <p:spPr>
          <a:xfrm>
            <a:off x="4663440" y="5623560"/>
            <a:ext cx="1828800" cy="457200"/>
          </a:xfrm>
          <a:prstGeom prst="rect">
            <a:avLst/>
          </a:prstGeom>
          <a:noFill/>
        </p:spPr>
        <p:txBody>
          <a:bodyPr wrap="square"/>
          <a:lstStyle/>
          <a:p>
            <a:pPr algn="l">
              <a:lnSpc>
                <a:spcPts val="1200"/>
              </a:lnSpc>
              <a:defRPr sz="800" b="1" i="0">
                <a:solidFill>
                  <a:srgbClr val="555555"/>
                </a:solidFill>
                <a:latin typeface="Calibri"/>
              </a:defRPr>
            </a:pPr>
            <a:r>
              <a:t>WEEKS</a:t>
            </a:r>
            <a:br/>
            <a:r>
              <a:t>BUILD TIME</a:t>
            </a:r>
          </a:p>
        </p:txBody>
      </p:sp>
      <p:sp>
        <p:nvSpPr>
          <p:cNvPr id="80" name="TextBox 79"/>
          <p:cNvSpPr txBox="1"/>
          <p:nvPr/>
        </p:nvSpPr>
        <p:spPr>
          <a:xfrm>
            <a:off x="6400800" y="5577840"/>
            <a:ext cx="1371600" cy="457200"/>
          </a:xfrm>
          <a:prstGeom prst="rect">
            <a:avLst/>
          </a:prstGeom>
          <a:noFill/>
        </p:spPr>
        <p:txBody>
          <a:bodyPr wrap="square"/>
          <a:lstStyle/>
          <a:p>
            <a:pPr algn="l">
              <a:defRPr sz="3600" b="1" i="0">
                <a:solidFill>
                  <a:srgbClr val="CC0011"/>
                </a:solidFill>
                <a:latin typeface="Arial Black"/>
              </a:defRPr>
            </a:pPr>
            <a:r>
              <a:t>1000+</a:t>
            </a:r>
          </a:p>
        </p:txBody>
      </p:sp>
      <p:sp>
        <p:nvSpPr>
          <p:cNvPr id="81" name="TextBox 80"/>
          <p:cNvSpPr txBox="1"/>
          <p:nvPr/>
        </p:nvSpPr>
        <p:spPr>
          <a:xfrm>
            <a:off x="7498079" y="5623560"/>
            <a:ext cx="1828800" cy="457200"/>
          </a:xfrm>
          <a:prstGeom prst="rect">
            <a:avLst/>
          </a:prstGeom>
          <a:noFill/>
        </p:spPr>
        <p:txBody>
          <a:bodyPr wrap="square"/>
          <a:lstStyle/>
          <a:p>
            <a:pPr algn="l">
              <a:lnSpc>
                <a:spcPts val="1200"/>
              </a:lnSpc>
              <a:defRPr sz="800" b="1" i="0">
                <a:solidFill>
                  <a:srgbClr val="555555"/>
                </a:solidFill>
                <a:latin typeface="Calibri"/>
              </a:defRPr>
            </a:pPr>
            <a:r>
              <a:t>VISITORS</a:t>
            </a:r>
            <a:br/>
            <a:r>
              <a:t>ENGAGED</a:t>
            </a:r>
          </a:p>
        </p:txBody>
      </p:sp>
      <p:sp>
        <p:nvSpPr>
          <p:cNvPr id="82" name="TextBox 81"/>
          <p:cNvSpPr txBox="1"/>
          <p:nvPr/>
        </p:nvSpPr>
        <p:spPr>
          <a:xfrm>
            <a:off x="9235440" y="5577840"/>
            <a:ext cx="1371600" cy="457200"/>
          </a:xfrm>
          <a:prstGeom prst="rect">
            <a:avLst/>
          </a:prstGeom>
          <a:noFill/>
        </p:spPr>
        <p:txBody>
          <a:bodyPr wrap="square"/>
          <a:lstStyle/>
          <a:p>
            <a:pPr algn="l">
              <a:defRPr sz="3600" b="1" i="0">
                <a:solidFill>
                  <a:srgbClr val="CC0011"/>
                </a:solidFill>
                <a:latin typeface="Arial Black"/>
              </a:defRPr>
            </a:pPr>
            <a:r>
              <a:t>1</a:t>
            </a:r>
          </a:p>
        </p:txBody>
      </p:sp>
      <p:sp>
        <p:nvSpPr>
          <p:cNvPr id="83" name="TextBox 82"/>
          <p:cNvSpPr txBox="1"/>
          <p:nvPr/>
        </p:nvSpPr>
        <p:spPr>
          <a:xfrm>
            <a:off x="10332720" y="5623560"/>
            <a:ext cx="1828800" cy="457200"/>
          </a:xfrm>
          <a:prstGeom prst="rect">
            <a:avLst/>
          </a:prstGeom>
          <a:noFill/>
        </p:spPr>
        <p:txBody>
          <a:bodyPr wrap="square"/>
          <a:lstStyle/>
          <a:p>
            <a:pPr algn="l">
              <a:lnSpc>
                <a:spcPts val="1200"/>
              </a:lnSpc>
              <a:defRPr sz="800" b="1" i="0">
                <a:solidFill>
                  <a:srgbClr val="555555"/>
                </a:solidFill>
                <a:latin typeface="Calibri"/>
              </a:defRPr>
            </a:pPr>
            <a:r>
              <a:t>UNFORGETTABLE</a:t>
            </a:r>
            <a:br/>
            <a:r>
              <a:t>EVENT</a:t>
            </a:r>
          </a:p>
        </p:txBody>
      </p:sp>
      <p:sp>
        <p:nvSpPr>
          <p:cNvPr id="84" name="Rectangle 83"/>
          <p:cNvSpPr/>
          <p:nvPr/>
        </p:nvSpPr>
        <p:spPr>
          <a:xfrm>
            <a:off x="0" y="6803136"/>
            <a:ext cx="12191695"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40080" y="6446520"/>
            <a:ext cx="365760" cy="1828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51560" y="6446520"/>
            <a:ext cx="1046988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0080" y="6537959"/>
            <a:ext cx="4572000" cy="228600"/>
          </a:xfrm>
          <a:prstGeom prst="rect">
            <a:avLst/>
          </a:prstGeom>
          <a:noFill/>
        </p:spPr>
        <p:txBody>
          <a:bodyPr wrap="square"/>
          <a:lstStyle/>
          <a:p>
            <a:pPr algn="l">
              <a:defRPr sz="800" b="1" i="0">
                <a:solidFill>
                  <a:srgbClr val="555555"/>
                </a:solidFill>
                <a:latin typeface="Calibri"/>
              </a:defRPr>
            </a:pPr>
            <a:r>
              <a:t>AUGMA IMAGINARIUM  |  PRESS KIT 2026</a:t>
            </a:r>
          </a:p>
        </p:txBody>
      </p:sp>
      <p:sp>
        <p:nvSpPr>
          <p:cNvPr id="88" name="TextBox 87"/>
          <p:cNvSpPr txBox="1"/>
          <p:nvPr/>
        </p:nvSpPr>
        <p:spPr>
          <a:xfrm>
            <a:off x="8321040" y="6537959"/>
            <a:ext cx="3200400" cy="228600"/>
          </a:xfrm>
          <a:prstGeom prst="rect">
            <a:avLst/>
          </a:prstGeom>
          <a:noFill/>
        </p:spPr>
        <p:txBody>
          <a:bodyPr wrap="square"/>
          <a:lstStyle/>
          <a:p>
            <a:pPr algn="r">
              <a:defRPr sz="800" b="0" i="0">
                <a:solidFill>
                  <a:srgbClr val="555555"/>
                </a:solidFill>
                <a:latin typeface="Calibri"/>
              </a:defRPr>
            </a:pPr>
            <a:r>
              <a:t>mlhariras.tongyai@gmail.com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12191695" cy="54864"/>
          </a:xfrm>
          <a:prstGeom prst="rect">
            <a:avLst/>
          </a:prstGeom>
          <a:solidFill>
            <a:srgbClr val="00B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365760"/>
            <a:ext cx="7315200" cy="274320"/>
          </a:xfrm>
          <a:prstGeom prst="rect">
            <a:avLst/>
          </a:prstGeom>
          <a:noFill/>
        </p:spPr>
        <p:txBody>
          <a:bodyPr wrap="square"/>
          <a:lstStyle/>
          <a:p>
            <a:pPr algn="l">
              <a:defRPr sz="1000" b="1" i="0">
                <a:solidFill>
                  <a:srgbClr val="555555"/>
                </a:solidFill>
                <a:latin typeface="Calibri"/>
              </a:defRPr>
            </a:pPr>
            <a:r>
              <a:t>16  —  GAMIFICATION ACTIVATION</a:t>
            </a:r>
          </a:p>
        </p:txBody>
      </p:sp>
      <p:sp>
        <p:nvSpPr>
          <p:cNvPr id="42" name="TextBox 41"/>
          <p:cNvSpPr txBox="1"/>
          <p:nvPr/>
        </p:nvSpPr>
        <p:spPr>
          <a:xfrm>
            <a:off x="731520" y="731520"/>
            <a:ext cx="9144000" cy="548640"/>
          </a:xfrm>
          <a:prstGeom prst="rect">
            <a:avLst/>
          </a:prstGeom>
          <a:noFill/>
        </p:spPr>
        <p:txBody>
          <a:bodyPr wrap="square"/>
          <a:lstStyle/>
          <a:p>
            <a:pPr algn="l">
              <a:defRPr sz="4200" b="1" i="0">
                <a:solidFill>
                  <a:srgbClr val="FFFFFF"/>
                </a:solidFill>
                <a:latin typeface="Arial Black"/>
              </a:defRPr>
            </a:pPr>
            <a:r>
              <a:t>Grab Hot Deals</a:t>
            </a:r>
          </a:p>
        </p:txBody>
      </p:sp>
      <p:sp>
        <p:nvSpPr>
          <p:cNvPr id="43" name="TextBox 42"/>
          <p:cNvSpPr txBox="1"/>
          <p:nvPr/>
        </p:nvSpPr>
        <p:spPr>
          <a:xfrm>
            <a:off x="731520" y="1325880"/>
            <a:ext cx="9144000" cy="457200"/>
          </a:xfrm>
          <a:prstGeom prst="rect">
            <a:avLst/>
          </a:prstGeom>
          <a:noFill/>
        </p:spPr>
        <p:txBody>
          <a:bodyPr wrap="square"/>
          <a:lstStyle/>
          <a:p>
            <a:pPr algn="l">
              <a:defRPr sz="2800" b="1" i="0">
                <a:solidFill>
                  <a:srgbClr val="00B14F"/>
                </a:solidFill>
                <a:latin typeface="Arial Black"/>
              </a:defRPr>
            </a:pPr>
            <a:r>
              <a:t>Station — Central World</a:t>
            </a:r>
          </a:p>
        </p:txBody>
      </p:sp>
      <p:sp>
        <p:nvSpPr>
          <p:cNvPr id="44" name="Rectangle 43"/>
          <p:cNvSpPr/>
          <p:nvPr/>
        </p:nvSpPr>
        <p:spPr>
          <a:xfrm>
            <a:off x="731520" y="192024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2194560"/>
            <a:ext cx="6583680" cy="1097280"/>
          </a:xfrm>
          <a:prstGeom prst="rect">
            <a:avLst/>
          </a:prstGeom>
          <a:noFill/>
        </p:spPr>
        <p:txBody>
          <a:bodyPr wrap="square"/>
          <a:lstStyle/>
          <a:p>
            <a:pPr algn="l">
              <a:lnSpc>
                <a:spcPts val="1900"/>
              </a:lnSpc>
              <a:defRPr sz="1200" b="0" i="0">
                <a:solidFill>
                  <a:srgbClr val="BBBBBB"/>
                </a:solidFill>
                <a:latin typeface="Calibri"/>
              </a:defRPr>
            </a:pPr>
            <a:r>
              <a:t>A one-day activation event at Central World on March 6, 2025 — the result of an intense month-long collaboration with Grab Thailand and Conxo Lab. Over five hours, waves of participants brought enthusiasm and energy that far exceeded expectations. The goal: turn a traditional promotion into something interactive, immersive, and fun.</a:t>
            </a:r>
          </a:p>
        </p:txBody>
      </p:sp>
      <p:sp>
        <p:nvSpPr>
          <p:cNvPr id="46" name="TextBox 45"/>
          <p:cNvSpPr txBox="1"/>
          <p:nvPr/>
        </p:nvSpPr>
        <p:spPr>
          <a:xfrm>
            <a:off x="731520" y="3291840"/>
            <a:ext cx="6583680" cy="914400"/>
          </a:xfrm>
          <a:prstGeom prst="rect">
            <a:avLst/>
          </a:prstGeom>
          <a:noFill/>
        </p:spPr>
        <p:txBody>
          <a:bodyPr wrap="square"/>
          <a:lstStyle/>
          <a:p>
            <a:pPr algn="l">
              <a:lnSpc>
                <a:spcPts val="1700"/>
              </a:lnSpc>
              <a:defRPr sz="1100" b="0" i="0">
                <a:solidFill>
                  <a:srgbClr val="888888"/>
                </a:solidFill>
                <a:latin typeface="Calibri"/>
              </a:defRPr>
            </a:pPr>
            <a:r>
              <a:t>The game was a custom-built touch-screen experience inspired by the Grab app interface. Players had 30 seconds to pick only items offering 80% discounts from a scrolling menu. Minimum four deals to make the leaderboard — yet some players managed twelve.</a:t>
            </a:r>
          </a:p>
        </p:txBody>
      </p:sp>
      <p:sp>
        <p:nvSpPr>
          <p:cNvPr id="47" name="Rectangle 46"/>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6720" y="2231136"/>
            <a:ext cx="1371600" cy="182880"/>
          </a:xfrm>
          <a:prstGeom prst="rect">
            <a:avLst/>
          </a:prstGeom>
          <a:noFill/>
        </p:spPr>
        <p:txBody>
          <a:bodyPr wrap="square"/>
          <a:lstStyle/>
          <a:p>
            <a:pPr algn="l">
              <a:defRPr sz="800" b="1" i="0">
                <a:solidFill>
                  <a:srgbClr val="00B14F"/>
                </a:solidFill>
                <a:latin typeface="Calibri"/>
              </a:defRPr>
            </a:pPr>
            <a:r>
              <a:t>CLIENT</a:t>
            </a:r>
          </a:p>
        </p:txBody>
      </p:sp>
      <p:sp>
        <p:nvSpPr>
          <p:cNvPr id="49" name="TextBox 48"/>
          <p:cNvSpPr txBox="1"/>
          <p:nvPr/>
        </p:nvSpPr>
        <p:spPr>
          <a:xfrm>
            <a:off x="8046720" y="2395728"/>
            <a:ext cx="3474720" cy="219456"/>
          </a:xfrm>
          <a:prstGeom prst="rect">
            <a:avLst/>
          </a:prstGeom>
          <a:noFill/>
        </p:spPr>
        <p:txBody>
          <a:bodyPr wrap="square"/>
          <a:lstStyle/>
          <a:p>
            <a:pPr algn="l">
              <a:defRPr sz="1000" b="1" i="0">
                <a:solidFill>
                  <a:srgbClr val="FFFFFF"/>
                </a:solidFill>
                <a:latin typeface="Calibri"/>
              </a:defRPr>
            </a:pPr>
            <a:r>
              <a:t>Grab Thailand × Conxo Lab</a:t>
            </a:r>
          </a:p>
        </p:txBody>
      </p:sp>
      <p:sp>
        <p:nvSpPr>
          <p:cNvPr id="50" name="Rectangle 49"/>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46720" y="2779776"/>
            <a:ext cx="1371600" cy="182880"/>
          </a:xfrm>
          <a:prstGeom prst="rect">
            <a:avLst/>
          </a:prstGeom>
          <a:noFill/>
        </p:spPr>
        <p:txBody>
          <a:bodyPr wrap="square"/>
          <a:lstStyle/>
          <a:p>
            <a:pPr algn="l">
              <a:defRPr sz="800" b="1" i="0">
                <a:solidFill>
                  <a:srgbClr val="00B14F"/>
                </a:solidFill>
                <a:latin typeface="Calibri"/>
              </a:defRPr>
            </a:pPr>
            <a:r>
              <a:t>EVENT</a:t>
            </a:r>
          </a:p>
        </p:txBody>
      </p:sp>
      <p:sp>
        <p:nvSpPr>
          <p:cNvPr id="52" name="TextBox 51"/>
          <p:cNvSpPr txBox="1"/>
          <p:nvPr/>
        </p:nvSpPr>
        <p:spPr>
          <a:xfrm>
            <a:off x="8046720" y="2944368"/>
            <a:ext cx="3474720" cy="219456"/>
          </a:xfrm>
          <a:prstGeom prst="rect">
            <a:avLst/>
          </a:prstGeom>
          <a:noFill/>
        </p:spPr>
        <p:txBody>
          <a:bodyPr wrap="square"/>
          <a:lstStyle/>
          <a:p>
            <a:pPr algn="l">
              <a:defRPr sz="1000" b="1" i="0">
                <a:solidFill>
                  <a:srgbClr val="FFFFFF"/>
                </a:solidFill>
                <a:latin typeface="Calibri"/>
              </a:defRPr>
            </a:pPr>
            <a:r>
              <a:t>Hot Deals Station — Central World</a:t>
            </a:r>
          </a:p>
        </p:txBody>
      </p:sp>
      <p:sp>
        <p:nvSpPr>
          <p:cNvPr id="53" name="Rectangle 52"/>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46720" y="3328415"/>
            <a:ext cx="1371600" cy="182880"/>
          </a:xfrm>
          <a:prstGeom prst="rect">
            <a:avLst/>
          </a:prstGeom>
          <a:noFill/>
        </p:spPr>
        <p:txBody>
          <a:bodyPr wrap="square"/>
          <a:lstStyle/>
          <a:p>
            <a:pPr algn="l">
              <a:defRPr sz="800" b="1" i="0">
                <a:solidFill>
                  <a:srgbClr val="00B14F"/>
                </a:solidFill>
                <a:latin typeface="Calibri"/>
              </a:defRPr>
            </a:pPr>
            <a:r>
              <a:t>DATE</a:t>
            </a:r>
          </a:p>
        </p:txBody>
      </p:sp>
      <p:sp>
        <p:nvSpPr>
          <p:cNvPr id="55" name="TextBox 54"/>
          <p:cNvSpPr txBox="1"/>
          <p:nvPr/>
        </p:nvSpPr>
        <p:spPr>
          <a:xfrm>
            <a:off x="8046720" y="3493008"/>
            <a:ext cx="3474720" cy="219456"/>
          </a:xfrm>
          <a:prstGeom prst="rect">
            <a:avLst/>
          </a:prstGeom>
          <a:noFill/>
        </p:spPr>
        <p:txBody>
          <a:bodyPr wrap="square"/>
          <a:lstStyle/>
          <a:p>
            <a:pPr algn="l">
              <a:defRPr sz="1000" b="1" i="0">
                <a:solidFill>
                  <a:srgbClr val="FFFFFF"/>
                </a:solidFill>
                <a:latin typeface="Calibri"/>
              </a:defRPr>
            </a:pPr>
            <a:r>
              <a:t>March 6, 2025</a:t>
            </a:r>
          </a:p>
        </p:txBody>
      </p:sp>
      <p:sp>
        <p:nvSpPr>
          <p:cNvPr id="56" name="Rectangle 55"/>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6720" y="3877055"/>
            <a:ext cx="1371600" cy="182880"/>
          </a:xfrm>
          <a:prstGeom prst="rect">
            <a:avLst/>
          </a:prstGeom>
          <a:noFill/>
        </p:spPr>
        <p:txBody>
          <a:bodyPr wrap="square"/>
          <a:lstStyle/>
          <a:p>
            <a:pPr algn="l">
              <a:defRPr sz="800" b="1" i="0">
                <a:solidFill>
                  <a:srgbClr val="00B14F"/>
                </a:solidFill>
                <a:latin typeface="Calibri"/>
              </a:defRPr>
            </a:pPr>
            <a:r>
              <a:t>DURATION</a:t>
            </a:r>
          </a:p>
        </p:txBody>
      </p:sp>
      <p:sp>
        <p:nvSpPr>
          <p:cNvPr id="58" name="TextBox 57"/>
          <p:cNvSpPr txBox="1"/>
          <p:nvPr/>
        </p:nvSpPr>
        <p:spPr>
          <a:xfrm>
            <a:off x="8046720" y="4041647"/>
            <a:ext cx="3474720" cy="219456"/>
          </a:xfrm>
          <a:prstGeom prst="rect">
            <a:avLst/>
          </a:prstGeom>
          <a:noFill/>
        </p:spPr>
        <p:txBody>
          <a:bodyPr wrap="square"/>
          <a:lstStyle/>
          <a:p>
            <a:pPr algn="l">
              <a:defRPr sz="1000" b="1" i="0">
                <a:solidFill>
                  <a:srgbClr val="FFFFFF"/>
                </a:solidFill>
                <a:latin typeface="Calibri"/>
              </a:defRPr>
            </a:pPr>
            <a:r>
              <a:t>5 Hours of Live Activation</a:t>
            </a:r>
          </a:p>
        </p:txBody>
      </p:sp>
      <p:sp>
        <p:nvSpPr>
          <p:cNvPr id="59" name="Rectangle 58"/>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6720" y="4425696"/>
            <a:ext cx="1371600" cy="182880"/>
          </a:xfrm>
          <a:prstGeom prst="rect">
            <a:avLst/>
          </a:prstGeom>
          <a:noFill/>
        </p:spPr>
        <p:txBody>
          <a:bodyPr wrap="square"/>
          <a:lstStyle/>
          <a:p>
            <a:pPr algn="l">
              <a:defRPr sz="800" b="1" i="0">
                <a:solidFill>
                  <a:srgbClr val="00B14F"/>
                </a:solidFill>
                <a:latin typeface="Calibri"/>
              </a:defRPr>
            </a:pPr>
            <a:r>
              <a:t>GAME</a:t>
            </a:r>
          </a:p>
        </p:txBody>
      </p:sp>
      <p:sp>
        <p:nvSpPr>
          <p:cNvPr id="61" name="TextBox 60"/>
          <p:cNvSpPr txBox="1"/>
          <p:nvPr/>
        </p:nvSpPr>
        <p:spPr>
          <a:xfrm>
            <a:off x="8046720" y="4590288"/>
            <a:ext cx="3474720" cy="219456"/>
          </a:xfrm>
          <a:prstGeom prst="rect">
            <a:avLst/>
          </a:prstGeom>
          <a:noFill/>
        </p:spPr>
        <p:txBody>
          <a:bodyPr wrap="square"/>
          <a:lstStyle/>
          <a:p>
            <a:pPr algn="l">
              <a:defRPr sz="1000" b="1" i="0">
                <a:solidFill>
                  <a:srgbClr val="FFFFFF"/>
                </a:solidFill>
                <a:latin typeface="Calibri"/>
              </a:defRPr>
            </a:pPr>
            <a:r>
              <a:t>30-Second Touch-Screen Challenge</a:t>
            </a:r>
          </a:p>
        </p:txBody>
      </p:sp>
      <p:sp>
        <p:nvSpPr>
          <p:cNvPr id="62" name="Rectangle 61"/>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46720" y="4974336"/>
            <a:ext cx="1371600" cy="182880"/>
          </a:xfrm>
          <a:prstGeom prst="rect">
            <a:avLst/>
          </a:prstGeom>
          <a:noFill/>
        </p:spPr>
        <p:txBody>
          <a:bodyPr wrap="square"/>
          <a:lstStyle/>
          <a:p>
            <a:pPr algn="l">
              <a:defRPr sz="800" b="1" i="0">
                <a:solidFill>
                  <a:srgbClr val="00B14F"/>
                </a:solidFill>
                <a:latin typeface="Calibri"/>
              </a:defRPr>
            </a:pPr>
            <a:r>
              <a:t>LEADERBOARD</a:t>
            </a:r>
          </a:p>
        </p:txBody>
      </p:sp>
      <p:sp>
        <p:nvSpPr>
          <p:cNvPr id="64" name="TextBox 63"/>
          <p:cNvSpPr txBox="1"/>
          <p:nvPr/>
        </p:nvSpPr>
        <p:spPr>
          <a:xfrm>
            <a:off x="8046720" y="5138928"/>
            <a:ext cx="3474720" cy="219456"/>
          </a:xfrm>
          <a:prstGeom prst="rect">
            <a:avLst/>
          </a:prstGeom>
          <a:noFill/>
        </p:spPr>
        <p:txBody>
          <a:bodyPr wrap="square"/>
          <a:lstStyle/>
          <a:p>
            <a:pPr algn="l">
              <a:defRPr sz="1000" b="1" i="0">
                <a:solidFill>
                  <a:srgbClr val="FFFFFF"/>
                </a:solidFill>
                <a:latin typeface="Calibri"/>
              </a:defRPr>
            </a:pPr>
            <a:r>
              <a:t>Min 4 Deals — Top Score: 12</a:t>
            </a:r>
          </a:p>
        </p:txBody>
      </p:sp>
      <p:sp>
        <p:nvSpPr>
          <p:cNvPr id="65" name="Rectangle 64"/>
          <p:cNvSpPr/>
          <p:nvPr/>
        </p:nvSpPr>
        <p:spPr>
          <a:xfrm>
            <a:off x="731520" y="4846320"/>
            <a:ext cx="603503"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31520" y="4846320"/>
            <a:ext cx="603503" cy="320040"/>
          </a:xfrm>
          <a:prstGeom prst="rect">
            <a:avLst/>
          </a:prstGeom>
          <a:noFill/>
        </p:spPr>
        <p:txBody>
          <a:bodyPr wrap="square"/>
          <a:lstStyle/>
          <a:p>
            <a:pPr algn="ctr">
              <a:defRPr sz="800" b="1" i="0">
                <a:solidFill>
                  <a:srgbClr val="00B14F"/>
                </a:solidFill>
                <a:latin typeface="Calibri"/>
              </a:defRPr>
            </a:pPr>
            <a:r>
              <a:t>GRAB</a:t>
            </a:r>
          </a:p>
        </p:txBody>
      </p:sp>
      <p:sp>
        <p:nvSpPr>
          <p:cNvPr id="67" name="Rectangle 66"/>
          <p:cNvSpPr/>
          <p:nvPr/>
        </p:nvSpPr>
        <p:spPr>
          <a:xfrm>
            <a:off x="1472184" y="4846320"/>
            <a:ext cx="1261872"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472184" y="4846320"/>
            <a:ext cx="1261872" cy="320040"/>
          </a:xfrm>
          <a:prstGeom prst="rect">
            <a:avLst/>
          </a:prstGeom>
          <a:noFill/>
        </p:spPr>
        <p:txBody>
          <a:bodyPr wrap="square"/>
          <a:lstStyle/>
          <a:p>
            <a:pPr algn="ctr">
              <a:defRPr sz="800" b="1" i="0">
                <a:solidFill>
                  <a:srgbClr val="00B14F"/>
                </a:solidFill>
                <a:latin typeface="Calibri"/>
              </a:defRPr>
            </a:pPr>
            <a:r>
              <a:t>GAMIFICATION</a:t>
            </a:r>
          </a:p>
        </p:txBody>
      </p:sp>
      <p:sp>
        <p:nvSpPr>
          <p:cNvPr id="69" name="Rectangle 68"/>
          <p:cNvSpPr/>
          <p:nvPr/>
        </p:nvSpPr>
        <p:spPr>
          <a:xfrm>
            <a:off x="2871215" y="4846320"/>
            <a:ext cx="1261872"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71215" y="4846320"/>
            <a:ext cx="1261872" cy="320040"/>
          </a:xfrm>
          <a:prstGeom prst="rect">
            <a:avLst/>
          </a:prstGeom>
          <a:noFill/>
        </p:spPr>
        <p:txBody>
          <a:bodyPr wrap="square"/>
          <a:lstStyle/>
          <a:p>
            <a:pPr algn="ctr">
              <a:defRPr sz="800" b="1" i="0">
                <a:solidFill>
                  <a:srgbClr val="00B14F"/>
                </a:solidFill>
                <a:latin typeface="Calibri"/>
              </a:defRPr>
            </a:pPr>
            <a:r>
              <a:t>TOUCH SCREEN</a:t>
            </a:r>
          </a:p>
        </p:txBody>
      </p:sp>
      <p:sp>
        <p:nvSpPr>
          <p:cNvPr id="71" name="Rectangle 70"/>
          <p:cNvSpPr/>
          <p:nvPr/>
        </p:nvSpPr>
        <p:spPr>
          <a:xfrm>
            <a:off x="4270248" y="4846320"/>
            <a:ext cx="1097280"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270248" y="4846320"/>
            <a:ext cx="1097280" cy="320040"/>
          </a:xfrm>
          <a:prstGeom prst="rect">
            <a:avLst/>
          </a:prstGeom>
          <a:noFill/>
        </p:spPr>
        <p:txBody>
          <a:bodyPr wrap="square"/>
          <a:lstStyle/>
          <a:p>
            <a:pPr algn="ctr">
              <a:defRPr sz="800" b="1" i="0">
                <a:solidFill>
                  <a:srgbClr val="00B14F"/>
                </a:solidFill>
                <a:latin typeface="Calibri"/>
              </a:defRPr>
            </a:pPr>
            <a:r>
              <a:t>ACTIVATION</a:t>
            </a:r>
          </a:p>
        </p:txBody>
      </p:sp>
      <p:sp>
        <p:nvSpPr>
          <p:cNvPr id="73" name="Rectangle 72"/>
          <p:cNvSpPr/>
          <p:nvPr/>
        </p:nvSpPr>
        <p:spPr>
          <a:xfrm>
            <a:off x="5504688" y="4846320"/>
            <a:ext cx="1179576"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504688" y="4846320"/>
            <a:ext cx="1179576" cy="320040"/>
          </a:xfrm>
          <a:prstGeom prst="rect">
            <a:avLst/>
          </a:prstGeom>
          <a:noFill/>
        </p:spPr>
        <p:txBody>
          <a:bodyPr wrap="square"/>
          <a:lstStyle/>
          <a:p>
            <a:pPr algn="ctr">
              <a:defRPr sz="800" b="1" i="0">
                <a:solidFill>
                  <a:srgbClr val="00B14F"/>
                </a:solidFill>
                <a:latin typeface="Calibri"/>
              </a:defRPr>
            </a:pPr>
            <a:r>
              <a:t>LEADERBOARD</a:t>
            </a:r>
          </a:p>
        </p:txBody>
      </p:sp>
      <p:sp>
        <p:nvSpPr>
          <p:cNvPr id="75" name="Rectangle 74"/>
          <p:cNvSpPr/>
          <p:nvPr/>
        </p:nvSpPr>
        <p:spPr>
          <a:xfrm>
            <a:off x="731520" y="5394960"/>
            <a:ext cx="1069848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1520" y="5577840"/>
            <a:ext cx="1371600" cy="457200"/>
          </a:xfrm>
          <a:prstGeom prst="rect">
            <a:avLst/>
          </a:prstGeom>
          <a:noFill/>
        </p:spPr>
        <p:txBody>
          <a:bodyPr wrap="square"/>
          <a:lstStyle/>
          <a:p>
            <a:pPr algn="l">
              <a:defRPr sz="3600" b="1" i="0">
                <a:solidFill>
                  <a:srgbClr val="00B14F"/>
                </a:solidFill>
                <a:latin typeface="Arial Black"/>
              </a:defRPr>
            </a:pPr>
            <a:r>
              <a:t>5</a:t>
            </a:r>
          </a:p>
        </p:txBody>
      </p:sp>
      <p:sp>
        <p:nvSpPr>
          <p:cNvPr id="77" name="TextBox 76"/>
          <p:cNvSpPr txBox="1"/>
          <p:nvPr/>
        </p:nvSpPr>
        <p:spPr>
          <a:xfrm>
            <a:off x="1828800" y="5623560"/>
            <a:ext cx="1828800" cy="457200"/>
          </a:xfrm>
          <a:prstGeom prst="rect">
            <a:avLst/>
          </a:prstGeom>
          <a:noFill/>
        </p:spPr>
        <p:txBody>
          <a:bodyPr wrap="square"/>
          <a:lstStyle/>
          <a:p>
            <a:pPr algn="l">
              <a:lnSpc>
                <a:spcPts val="1200"/>
              </a:lnSpc>
              <a:defRPr sz="800" b="1" i="0">
                <a:solidFill>
                  <a:srgbClr val="555555"/>
                </a:solidFill>
                <a:latin typeface="Calibri"/>
              </a:defRPr>
            </a:pPr>
            <a:r>
              <a:t>HOURS</a:t>
            </a:r>
            <a:br/>
            <a:r>
              <a:t>LIVE</a:t>
            </a:r>
          </a:p>
        </p:txBody>
      </p:sp>
      <p:sp>
        <p:nvSpPr>
          <p:cNvPr id="78" name="TextBox 77"/>
          <p:cNvSpPr txBox="1"/>
          <p:nvPr/>
        </p:nvSpPr>
        <p:spPr>
          <a:xfrm>
            <a:off x="3566160" y="5577840"/>
            <a:ext cx="1371600" cy="457200"/>
          </a:xfrm>
          <a:prstGeom prst="rect">
            <a:avLst/>
          </a:prstGeom>
          <a:noFill/>
        </p:spPr>
        <p:txBody>
          <a:bodyPr wrap="square"/>
          <a:lstStyle/>
          <a:p>
            <a:pPr algn="l">
              <a:defRPr sz="3600" b="1" i="0">
                <a:solidFill>
                  <a:srgbClr val="00B14F"/>
                </a:solidFill>
                <a:latin typeface="Arial Black"/>
              </a:defRPr>
            </a:pPr>
            <a:r>
              <a:t>30</a:t>
            </a:r>
          </a:p>
        </p:txBody>
      </p:sp>
      <p:sp>
        <p:nvSpPr>
          <p:cNvPr id="79" name="TextBox 78"/>
          <p:cNvSpPr txBox="1"/>
          <p:nvPr/>
        </p:nvSpPr>
        <p:spPr>
          <a:xfrm>
            <a:off x="4663440" y="5623560"/>
            <a:ext cx="1828800" cy="457200"/>
          </a:xfrm>
          <a:prstGeom prst="rect">
            <a:avLst/>
          </a:prstGeom>
          <a:noFill/>
        </p:spPr>
        <p:txBody>
          <a:bodyPr wrap="square"/>
          <a:lstStyle/>
          <a:p>
            <a:pPr algn="l">
              <a:lnSpc>
                <a:spcPts val="1200"/>
              </a:lnSpc>
              <a:defRPr sz="800" b="1" i="0">
                <a:solidFill>
                  <a:srgbClr val="555555"/>
                </a:solidFill>
                <a:latin typeface="Calibri"/>
              </a:defRPr>
            </a:pPr>
            <a:r>
              <a:t>SECONDS</a:t>
            </a:r>
            <a:br/>
            <a:r>
              <a:t>PER ROUND</a:t>
            </a:r>
          </a:p>
        </p:txBody>
      </p:sp>
      <p:sp>
        <p:nvSpPr>
          <p:cNvPr id="80" name="TextBox 79"/>
          <p:cNvSpPr txBox="1"/>
          <p:nvPr/>
        </p:nvSpPr>
        <p:spPr>
          <a:xfrm>
            <a:off x="6400800" y="5577840"/>
            <a:ext cx="1371600" cy="457200"/>
          </a:xfrm>
          <a:prstGeom prst="rect">
            <a:avLst/>
          </a:prstGeom>
          <a:noFill/>
        </p:spPr>
        <p:txBody>
          <a:bodyPr wrap="square"/>
          <a:lstStyle/>
          <a:p>
            <a:pPr algn="l">
              <a:defRPr sz="3600" b="1" i="0">
                <a:solidFill>
                  <a:srgbClr val="00B14F"/>
                </a:solidFill>
                <a:latin typeface="Arial Black"/>
              </a:defRPr>
            </a:pPr>
            <a:r>
              <a:t>12</a:t>
            </a:r>
          </a:p>
        </p:txBody>
      </p:sp>
      <p:sp>
        <p:nvSpPr>
          <p:cNvPr id="81" name="TextBox 80"/>
          <p:cNvSpPr txBox="1"/>
          <p:nvPr/>
        </p:nvSpPr>
        <p:spPr>
          <a:xfrm>
            <a:off x="7498079" y="5623560"/>
            <a:ext cx="1828800" cy="457200"/>
          </a:xfrm>
          <a:prstGeom prst="rect">
            <a:avLst/>
          </a:prstGeom>
          <a:noFill/>
        </p:spPr>
        <p:txBody>
          <a:bodyPr wrap="square"/>
          <a:lstStyle/>
          <a:p>
            <a:pPr algn="l">
              <a:lnSpc>
                <a:spcPts val="1200"/>
              </a:lnSpc>
              <a:defRPr sz="800" b="1" i="0">
                <a:solidFill>
                  <a:srgbClr val="555555"/>
                </a:solidFill>
                <a:latin typeface="Calibri"/>
              </a:defRPr>
            </a:pPr>
            <a:r>
              <a:t>TOP SCORE</a:t>
            </a:r>
            <a:br/>
            <a:r>
              <a:t>DEALS</a:t>
            </a:r>
          </a:p>
        </p:txBody>
      </p:sp>
      <p:sp>
        <p:nvSpPr>
          <p:cNvPr id="82" name="TextBox 81"/>
          <p:cNvSpPr txBox="1"/>
          <p:nvPr/>
        </p:nvSpPr>
        <p:spPr>
          <a:xfrm>
            <a:off x="9235440" y="5577840"/>
            <a:ext cx="1371600" cy="457200"/>
          </a:xfrm>
          <a:prstGeom prst="rect">
            <a:avLst/>
          </a:prstGeom>
          <a:noFill/>
        </p:spPr>
        <p:txBody>
          <a:bodyPr wrap="square"/>
          <a:lstStyle/>
          <a:p>
            <a:pPr algn="l">
              <a:defRPr sz="3600" b="1" i="0">
                <a:solidFill>
                  <a:srgbClr val="00B14F"/>
                </a:solidFill>
                <a:latin typeface="Arial Black"/>
              </a:defRPr>
            </a:pPr>
            <a:r>
              <a:t>1</a:t>
            </a:r>
          </a:p>
        </p:txBody>
      </p:sp>
      <p:sp>
        <p:nvSpPr>
          <p:cNvPr id="83" name="TextBox 82"/>
          <p:cNvSpPr txBox="1"/>
          <p:nvPr/>
        </p:nvSpPr>
        <p:spPr>
          <a:xfrm>
            <a:off x="10332720" y="5623560"/>
            <a:ext cx="1828800" cy="457200"/>
          </a:xfrm>
          <a:prstGeom prst="rect">
            <a:avLst/>
          </a:prstGeom>
          <a:noFill/>
        </p:spPr>
        <p:txBody>
          <a:bodyPr wrap="square"/>
          <a:lstStyle/>
          <a:p>
            <a:pPr algn="l">
              <a:lnSpc>
                <a:spcPts val="1200"/>
              </a:lnSpc>
              <a:defRPr sz="800" b="1" i="0">
                <a:solidFill>
                  <a:srgbClr val="555555"/>
                </a:solidFill>
                <a:latin typeface="Calibri"/>
              </a:defRPr>
            </a:pPr>
            <a:r>
              <a:t>CUSTOM-BUILT</a:t>
            </a:r>
            <a:br/>
            <a:r>
              <a:t>GAME</a:t>
            </a:r>
          </a:p>
        </p:txBody>
      </p:sp>
      <p:sp>
        <p:nvSpPr>
          <p:cNvPr id="84" name="Rectangle 83"/>
          <p:cNvSpPr/>
          <p:nvPr/>
        </p:nvSpPr>
        <p:spPr>
          <a:xfrm>
            <a:off x="0" y="6803136"/>
            <a:ext cx="12191695" cy="54864"/>
          </a:xfrm>
          <a:prstGeom prst="rect">
            <a:avLst/>
          </a:prstGeom>
          <a:solidFill>
            <a:srgbClr val="00B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40080" y="6446520"/>
            <a:ext cx="365760" cy="1828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51560" y="6446520"/>
            <a:ext cx="1046988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0080" y="6537959"/>
            <a:ext cx="4572000" cy="228600"/>
          </a:xfrm>
          <a:prstGeom prst="rect">
            <a:avLst/>
          </a:prstGeom>
          <a:noFill/>
        </p:spPr>
        <p:txBody>
          <a:bodyPr wrap="square"/>
          <a:lstStyle/>
          <a:p>
            <a:pPr algn="l">
              <a:defRPr sz="800" b="1" i="0">
                <a:solidFill>
                  <a:srgbClr val="555555"/>
                </a:solidFill>
                <a:latin typeface="Calibri"/>
              </a:defRPr>
            </a:pPr>
            <a:r>
              <a:t>AUGMA IMAGINARIUM  |  PRESS KIT 2026</a:t>
            </a:r>
          </a:p>
        </p:txBody>
      </p:sp>
      <p:sp>
        <p:nvSpPr>
          <p:cNvPr id="88" name="TextBox 87"/>
          <p:cNvSpPr txBox="1"/>
          <p:nvPr/>
        </p:nvSpPr>
        <p:spPr>
          <a:xfrm>
            <a:off x="8321040" y="6537959"/>
            <a:ext cx="3200400" cy="228600"/>
          </a:xfrm>
          <a:prstGeom prst="rect">
            <a:avLst/>
          </a:prstGeom>
          <a:noFill/>
        </p:spPr>
        <p:txBody>
          <a:bodyPr wrap="square"/>
          <a:lstStyle/>
          <a:p>
            <a:pPr algn="r">
              <a:defRPr sz="800" b="0" i="0">
                <a:solidFill>
                  <a:srgbClr val="555555"/>
                </a:solidFill>
                <a:latin typeface="Calibri"/>
              </a:defRPr>
            </a:pPr>
            <a:r>
              <a:t>mlhariras.tongyai@gmail.com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17  —  MAKER PROJECT</a:t>
            </a:r>
          </a:p>
        </p:txBody>
      </p:sp>
      <p:sp>
        <p:nvSpPr>
          <p:cNvPr id="41" name="Rectangle 40"/>
          <p:cNvSpPr/>
          <p:nvPr/>
        </p:nvSpPr>
        <p:spPr>
          <a:xfrm>
            <a:off x="731520" y="685800"/>
            <a:ext cx="118872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02920"/>
          </a:xfrm>
          <a:prstGeom prst="rect">
            <a:avLst/>
          </a:prstGeom>
          <a:noFill/>
        </p:spPr>
        <p:txBody>
          <a:bodyPr wrap="square"/>
          <a:lstStyle/>
          <a:p>
            <a:pPr algn="l">
              <a:defRPr sz="4000" b="1" i="0">
                <a:solidFill>
                  <a:srgbClr val="1A1A1A"/>
                </a:solidFill>
                <a:latin typeface="Arial Black"/>
              </a:defRPr>
            </a:pPr>
            <a:r>
              <a:t>Iron Man</a:t>
            </a:r>
          </a:p>
        </p:txBody>
      </p:sp>
      <p:sp>
        <p:nvSpPr>
          <p:cNvPr id="43" name="TextBox 42"/>
          <p:cNvSpPr txBox="1"/>
          <p:nvPr/>
        </p:nvSpPr>
        <p:spPr>
          <a:xfrm>
            <a:off x="731520" y="1325880"/>
            <a:ext cx="9144000" cy="457200"/>
          </a:xfrm>
          <a:prstGeom prst="rect">
            <a:avLst/>
          </a:prstGeom>
          <a:noFill/>
        </p:spPr>
        <p:txBody>
          <a:bodyPr wrap="square"/>
          <a:lstStyle/>
          <a:p>
            <a:pPr algn="l">
              <a:defRPr sz="3000" b="1" i="0">
                <a:solidFill>
                  <a:srgbClr val="CC0011"/>
                </a:solidFill>
                <a:latin typeface="Arial Black"/>
              </a:defRPr>
            </a:pPr>
            <a:r>
              <a:t>3D Printed Suit</a:t>
            </a:r>
          </a:p>
        </p:txBody>
      </p:sp>
      <p:sp>
        <p:nvSpPr>
          <p:cNvPr id="44" name="TextBox 43"/>
          <p:cNvSpPr txBox="1"/>
          <p:nvPr/>
        </p:nvSpPr>
        <p:spPr>
          <a:xfrm>
            <a:off x="731520" y="1828800"/>
            <a:ext cx="9144000" cy="274320"/>
          </a:xfrm>
          <a:prstGeom prst="rect">
            <a:avLst/>
          </a:prstGeom>
          <a:noFill/>
        </p:spPr>
        <p:txBody>
          <a:bodyPr wrap="square"/>
          <a:lstStyle/>
          <a:p>
            <a:pPr algn="l">
              <a:defRPr sz="1100" b="0" i="0">
                <a:solidFill>
                  <a:srgbClr val="888580"/>
                </a:solidFill>
                <a:latin typeface="Calibri"/>
              </a:defRPr>
            </a:pPr>
            <a:r>
              <a:t>MAKER  ·  3D PRINTING  ·  COSPLAY ENGINEERING</a:t>
            </a:r>
          </a:p>
        </p:txBody>
      </p:sp>
      <p:sp>
        <p:nvSpPr>
          <p:cNvPr id="45" name="Rectangle 44"/>
          <p:cNvSpPr/>
          <p:nvPr/>
        </p:nvSpPr>
        <p:spPr>
          <a:xfrm>
            <a:off x="640080" y="2286000"/>
            <a:ext cx="5029200" cy="36576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45920" y="3657600"/>
            <a:ext cx="3200400" cy="457200"/>
          </a:xfrm>
          <a:prstGeom prst="rect">
            <a:avLst/>
          </a:prstGeom>
          <a:noFill/>
        </p:spPr>
        <p:txBody>
          <a:bodyPr wrap="square"/>
          <a:lstStyle/>
          <a:p>
            <a:pPr algn="ctr">
              <a:defRPr sz="1300" b="0" i="0">
                <a:solidFill>
                  <a:srgbClr val="AAA7A2"/>
                </a:solidFill>
                <a:latin typeface="Calibri"/>
              </a:defRPr>
            </a:pPr>
            <a:r>
              <a:t>[ IRON MAN SUIT PHOTO ]</a:t>
            </a:r>
          </a:p>
        </p:txBody>
      </p:sp>
      <p:sp>
        <p:nvSpPr>
          <p:cNvPr id="47" name="TextBox 46"/>
          <p:cNvSpPr txBox="1"/>
          <p:nvPr/>
        </p:nvSpPr>
        <p:spPr>
          <a:xfrm>
            <a:off x="6217920" y="2286000"/>
            <a:ext cx="5303520" cy="1097280"/>
          </a:xfrm>
          <a:prstGeom prst="rect">
            <a:avLst/>
          </a:prstGeom>
          <a:noFill/>
        </p:spPr>
        <p:txBody>
          <a:bodyPr wrap="square"/>
          <a:lstStyle/>
          <a:p>
            <a:pPr algn="l">
              <a:lnSpc>
                <a:spcPts val="1900"/>
              </a:lnSpc>
              <a:defRPr sz="1200" b="0" i="0">
                <a:solidFill>
                  <a:srgbClr val="4A4A4A"/>
                </a:solidFill>
                <a:latin typeface="Calibri"/>
              </a:defRPr>
            </a:pPr>
            <a:r>
              <a:t>At 14, taking things apart was a coping mechanism — never finding out why his mother left, but finding out why things work. Building and repairing what he could. Iron Man gave that impulse a direction. Each suit pushed away imposter syndrome — not the best engineer, not the smartest, but each build showed competence and made him feel enough.</a:t>
            </a:r>
          </a:p>
        </p:txBody>
      </p:sp>
      <p:sp>
        <p:nvSpPr>
          <p:cNvPr id="48" name="TextBox 47"/>
          <p:cNvSpPr txBox="1"/>
          <p:nvPr/>
        </p:nvSpPr>
        <p:spPr>
          <a:xfrm>
            <a:off x="6217920" y="3474720"/>
            <a:ext cx="5303520" cy="914400"/>
          </a:xfrm>
          <a:prstGeom prst="rect">
            <a:avLst/>
          </a:prstGeom>
          <a:noFill/>
        </p:spPr>
        <p:txBody>
          <a:bodyPr wrap="square"/>
          <a:lstStyle/>
          <a:p>
            <a:pPr algn="l">
              <a:lnSpc>
                <a:spcPts val="1700"/>
              </a:lnSpc>
              <a:defRPr sz="1100" b="0" i="0">
                <a:solidFill>
                  <a:srgbClr val="888580"/>
                </a:solidFill>
                <a:latin typeface="Calibri"/>
              </a:defRPr>
            </a:pPr>
            <a:r>
              <a:t>Every iteration represents growth — from basic fabrication to 3D printing, electronics, PCB design, and mechanical assembly. Features motorized helmet, LED arc reactor with custom PCB, illuminated repulsor gauntlets. Featured in Thailand Tatler.</a:t>
            </a:r>
          </a:p>
        </p:txBody>
      </p:sp>
      <p:sp>
        <p:nvSpPr>
          <p:cNvPr id="49" name="Rectangle 48"/>
          <p:cNvSpPr/>
          <p:nvPr/>
        </p:nvSpPr>
        <p:spPr>
          <a:xfrm>
            <a:off x="6217920" y="4572000"/>
            <a:ext cx="122986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0" y="4572000"/>
            <a:ext cx="1229868" cy="320040"/>
          </a:xfrm>
          <a:prstGeom prst="rect">
            <a:avLst/>
          </a:prstGeom>
          <a:noFill/>
        </p:spPr>
        <p:txBody>
          <a:bodyPr wrap="square"/>
          <a:lstStyle/>
          <a:p>
            <a:pPr algn="ctr">
              <a:defRPr sz="800" b="1" i="0">
                <a:solidFill>
                  <a:srgbClr val="1A1A1A"/>
                </a:solidFill>
                <a:latin typeface="Calibri"/>
              </a:defRPr>
            </a:pPr>
            <a:r>
              <a:t>3D PRINTING</a:t>
            </a:r>
          </a:p>
        </p:txBody>
      </p:sp>
      <p:sp>
        <p:nvSpPr>
          <p:cNvPr id="51" name="Rectangle 50"/>
          <p:cNvSpPr/>
          <p:nvPr/>
        </p:nvSpPr>
        <p:spPr>
          <a:xfrm>
            <a:off x="7557516" y="4572000"/>
            <a:ext cx="122986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57516" y="4572000"/>
            <a:ext cx="1229868" cy="320040"/>
          </a:xfrm>
          <a:prstGeom prst="rect">
            <a:avLst/>
          </a:prstGeom>
          <a:noFill/>
        </p:spPr>
        <p:txBody>
          <a:bodyPr wrap="square"/>
          <a:lstStyle/>
          <a:p>
            <a:pPr algn="ctr">
              <a:defRPr sz="800" b="1" i="0">
                <a:solidFill>
                  <a:srgbClr val="1A1A1A"/>
                </a:solidFill>
                <a:latin typeface="Calibri"/>
              </a:defRPr>
            </a:pPr>
            <a:r>
              <a:t>FABRICATION</a:t>
            </a:r>
          </a:p>
        </p:txBody>
      </p:sp>
      <p:sp>
        <p:nvSpPr>
          <p:cNvPr id="53" name="Rectangle 52"/>
          <p:cNvSpPr/>
          <p:nvPr/>
        </p:nvSpPr>
        <p:spPr>
          <a:xfrm>
            <a:off x="8897112" y="4572000"/>
            <a:ext cx="882396"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97112" y="4572000"/>
            <a:ext cx="882396" cy="320040"/>
          </a:xfrm>
          <a:prstGeom prst="rect">
            <a:avLst/>
          </a:prstGeom>
          <a:noFill/>
        </p:spPr>
        <p:txBody>
          <a:bodyPr wrap="square"/>
          <a:lstStyle/>
          <a:p>
            <a:pPr algn="ctr">
              <a:defRPr sz="800" b="1" i="0">
                <a:solidFill>
                  <a:srgbClr val="1A1A1A"/>
                </a:solidFill>
                <a:latin typeface="Calibri"/>
              </a:defRPr>
            </a:pPr>
            <a:r>
              <a:t>COSPLAY</a:t>
            </a:r>
          </a:p>
        </p:txBody>
      </p:sp>
      <p:sp>
        <p:nvSpPr>
          <p:cNvPr id="55" name="Rectangle 54"/>
          <p:cNvSpPr/>
          <p:nvPr/>
        </p:nvSpPr>
        <p:spPr>
          <a:xfrm>
            <a:off x="9889236" y="4572000"/>
            <a:ext cx="9692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89236" y="4572000"/>
            <a:ext cx="969264" cy="320040"/>
          </a:xfrm>
          <a:prstGeom prst="rect">
            <a:avLst/>
          </a:prstGeom>
          <a:noFill/>
        </p:spPr>
        <p:txBody>
          <a:bodyPr wrap="square"/>
          <a:lstStyle/>
          <a:p>
            <a:pPr algn="ctr">
              <a:defRPr sz="800" b="1" i="0">
                <a:solidFill>
                  <a:srgbClr val="1A1A1A"/>
                </a:solidFill>
                <a:latin typeface="Calibri"/>
              </a:defRPr>
            </a:pPr>
            <a:r>
              <a:t>IRON MAN</a:t>
            </a:r>
          </a:p>
        </p:txBody>
      </p:sp>
      <p:sp>
        <p:nvSpPr>
          <p:cNvPr id="57" name="Rectangle 56"/>
          <p:cNvSpPr/>
          <p:nvPr/>
        </p:nvSpPr>
        <p:spPr>
          <a:xfrm>
            <a:off x="10968228" y="4572000"/>
            <a:ext cx="708659"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968228" y="4572000"/>
            <a:ext cx="708659" cy="320040"/>
          </a:xfrm>
          <a:prstGeom prst="rect">
            <a:avLst/>
          </a:prstGeom>
          <a:noFill/>
        </p:spPr>
        <p:txBody>
          <a:bodyPr wrap="square"/>
          <a:lstStyle/>
          <a:p>
            <a:pPr algn="ctr">
              <a:defRPr sz="800" b="1" i="0">
                <a:solidFill>
                  <a:srgbClr val="1A1A1A"/>
                </a:solidFill>
                <a:latin typeface="Calibri"/>
              </a:defRPr>
            </a:pPr>
            <a:r>
              <a:t>MAKER</a:t>
            </a:r>
          </a:p>
        </p:txBody>
      </p:sp>
      <p:sp>
        <p:nvSpPr>
          <p:cNvPr id="59" name="Rectangle 58"/>
          <p:cNvSpPr/>
          <p:nvPr/>
        </p:nvSpPr>
        <p:spPr>
          <a:xfrm>
            <a:off x="6217920" y="5029200"/>
            <a:ext cx="530352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17920" y="5120640"/>
            <a:ext cx="1645920" cy="182880"/>
          </a:xfrm>
          <a:prstGeom prst="rect">
            <a:avLst/>
          </a:prstGeom>
          <a:noFill/>
        </p:spPr>
        <p:txBody>
          <a:bodyPr wrap="square"/>
          <a:lstStyle/>
          <a:p>
            <a:pPr algn="l">
              <a:defRPr sz="700" b="1" i="0">
                <a:solidFill>
                  <a:srgbClr val="888580"/>
                </a:solidFill>
                <a:latin typeface="Calibri"/>
              </a:defRPr>
            </a:pPr>
            <a:r>
              <a:t>TYPE</a:t>
            </a:r>
          </a:p>
        </p:txBody>
      </p:sp>
      <p:sp>
        <p:nvSpPr>
          <p:cNvPr id="61" name="TextBox 60"/>
          <p:cNvSpPr txBox="1"/>
          <p:nvPr/>
        </p:nvSpPr>
        <p:spPr>
          <a:xfrm>
            <a:off x="6217920" y="5303520"/>
            <a:ext cx="1645920" cy="182880"/>
          </a:xfrm>
          <a:prstGeom prst="rect">
            <a:avLst/>
          </a:prstGeom>
          <a:noFill/>
        </p:spPr>
        <p:txBody>
          <a:bodyPr wrap="square"/>
          <a:lstStyle/>
          <a:p>
            <a:pPr algn="l">
              <a:defRPr sz="900" b="1" i="0">
                <a:solidFill>
                  <a:srgbClr val="1A1A1A"/>
                </a:solidFill>
                <a:latin typeface="Calibri"/>
              </a:defRPr>
            </a:pPr>
            <a:r>
              <a:t>Full-Size Suit</a:t>
            </a:r>
          </a:p>
        </p:txBody>
      </p:sp>
      <p:sp>
        <p:nvSpPr>
          <p:cNvPr id="62" name="TextBox 61"/>
          <p:cNvSpPr txBox="1"/>
          <p:nvPr/>
        </p:nvSpPr>
        <p:spPr>
          <a:xfrm>
            <a:off x="8001000" y="5120640"/>
            <a:ext cx="1645920" cy="182880"/>
          </a:xfrm>
          <a:prstGeom prst="rect">
            <a:avLst/>
          </a:prstGeom>
          <a:noFill/>
        </p:spPr>
        <p:txBody>
          <a:bodyPr wrap="square"/>
          <a:lstStyle/>
          <a:p>
            <a:pPr algn="l">
              <a:defRPr sz="700" b="1" i="0">
                <a:solidFill>
                  <a:srgbClr val="888580"/>
                </a:solidFill>
                <a:latin typeface="Calibri"/>
              </a:defRPr>
            </a:pPr>
            <a:r>
              <a:t>PROCESS</a:t>
            </a:r>
          </a:p>
        </p:txBody>
      </p:sp>
      <p:sp>
        <p:nvSpPr>
          <p:cNvPr id="63" name="TextBox 62"/>
          <p:cNvSpPr txBox="1"/>
          <p:nvPr/>
        </p:nvSpPr>
        <p:spPr>
          <a:xfrm>
            <a:off x="8001000" y="5303520"/>
            <a:ext cx="1645920" cy="182880"/>
          </a:xfrm>
          <a:prstGeom prst="rect">
            <a:avLst/>
          </a:prstGeom>
          <a:noFill/>
        </p:spPr>
        <p:txBody>
          <a:bodyPr wrap="square"/>
          <a:lstStyle/>
          <a:p>
            <a:pPr algn="l">
              <a:defRPr sz="900" b="1" i="0">
                <a:solidFill>
                  <a:srgbClr val="1A1A1A"/>
                </a:solidFill>
                <a:latin typeface="Calibri"/>
              </a:defRPr>
            </a:pPr>
            <a:r>
              <a:t>FDM / Resin</a:t>
            </a:r>
          </a:p>
        </p:txBody>
      </p:sp>
      <p:sp>
        <p:nvSpPr>
          <p:cNvPr id="64" name="TextBox 63"/>
          <p:cNvSpPr txBox="1"/>
          <p:nvPr/>
        </p:nvSpPr>
        <p:spPr>
          <a:xfrm>
            <a:off x="9784080" y="5120640"/>
            <a:ext cx="1645920" cy="182880"/>
          </a:xfrm>
          <a:prstGeom prst="rect">
            <a:avLst/>
          </a:prstGeom>
          <a:noFill/>
        </p:spPr>
        <p:txBody>
          <a:bodyPr wrap="square"/>
          <a:lstStyle/>
          <a:p>
            <a:pPr algn="l">
              <a:defRPr sz="700" b="1" i="0">
                <a:solidFill>
                  <a:srgbClr val="888580"/>
                </a:solidFill>
                <a:latin typeface="Calibri"/>
              </a:defRPr>
            </a:pPr>
            <a:r>
              <a:t>STATUS</a:t>
            </a:r>
          </a:p>
        </p:txBody>
      </p:sp>
      <p:sp>
        <p:nvSpPr>
          <p:cNvPr id="65" name="TextBox 64"/>
          <p:cNvSpPr txBox="1"/>
          <p:nvPr/>
        </p:nvSpPr>
        <p:spPr>
          <a:xfrm>
            <a:off x="9784080" y="5303520"/>
            <a:ext cx="1645920" cy="182880"/>
          </a:xfrm>
          <a:prstGeom prst="rect">
            <a:avLst/>
          </a:prstGeom>
          <a:noFill/>
        </p:spPr>
        <p:txBody>
          <a:bodyPr wrap="square"/>
          <a:lstStyle/>
          <a:p>
            <a:pPr algn="l">
              <a:defRPr sz="900" b="1" i="0">
                <a:solidFill>
                  <a:srgbClr val="1A1A1A"/>
                </a:solidFill>
                <a:latin typeface="Calibri"/>
              </a:defRPr>
            </a:pPr>
            <a:r>
              <a:t>COMPLETED</a:t>
            </a:r>
          </a:p>
        </p:txBody>
      </p:sp>
      <p:sp>
        <p:nvSpPr>
          <p:cNvPr id="66" name="Rectangle 65"/>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69" name="TextBox 68"/>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18  —  CLIMBING</a:t>
            </a:r>
          </a:p>
        </p:txBody>
      </p:sp>
      <p:sp>
        <p:nvSpPr>
          <p:cNvPr id="41" name="Rectangle 40"/>
          <p:cNvSpPr/>
          <p:nvPr/>
        </p:nvSpPr>
        <p:spPr>
          <a:xfrm>
            <a:off x="731520" y="685800"/>
            <a:ext cx="89154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02920"/>
          </a:xfrm>
          <a:prstGeom prst="rect">
            <a:avLst/>
          </a:prstGeom>
          <a:noFill/>
        </p:spPr>
        <p:txBody>
          <a:bodyPr wrap="square"/>
          <a:lstStyle/>
          <a:p>
            <a:pPr algn="l">
              <a:defRPr sz="4000" b="1" i="0">
                <a:solidFill>
                  <a:srgbClr val="1A1A1A"/>
                </a:solidFill>
                <a:latin typeface="Arial Black"/>
              </a:defRPr>
            </a:pPr>
            <a:r>
              <a:t>Routesetter</a:t>
            </a:r>
          </a:p>
        </p:txBody>
      </p:sp>
      <p:sp>
        <p:nvSpPr>
          <p:cNvPr id="43" name="TextBox 42"/>
          <p:cNvSpPr txBox="1"/>
          <p:nvPr/>
        </p:nvSpPr>
        <p:spPr>
          <a:xfrm>
            <a:off x="731520" y="1325880"/>
            <a:ext cx="9144000" cy="457200"/>
          </a:xfrm>
          <a:prstGeom prst="rect">
            <a:avLst/>
          </a:prstGeom>
          <a:noFill/>
        </p:spPr>
        <p:txBody>
          <a:bodyPr wrap="square"/>
          <a:lstStyle/>
          <a:p>
            <a:pPr algn="l">
              <a:defRPr sz="3000" b="1" i="0">
                <a:solidFill>
                  <a:srgbClr val="E88C00"/>
                </a:solidFill>
                <a:latin typeface="Arial Black"/>
              </a:defRPr>
            </a:pPr>
            <a:r>
              <a:t>Stonegoat Climbing</a:t>
            </a:r>
          </a:p>
        </p:txBody>
      </p:sp>
      <p:sp>
        <p:nvSpPr>
          <p:cNvPr id="44" name="TextBox 43"/>
          <p:cNvSpPr txBox="1"/>
          <p:nvPr/>
        </p:nvSpPr>
        <p:spPr>
          <a:xfrm>
            <a:off x="731520" y="1828800"/>
            <a:ext cx="9144000" cy="274320"/>
          </a:xfrm>
          <a:prstGeom prst="rect">
            <a:avLst/>
          </a:prstGeom>
          <a:noFill/>
        </p:spPr>
        <p:txBody>
          <a:bodyPr wrap="square"/>
          <a:lstStyle/>
          <a:p>
            <a:pPr algn="l">
              <a:defRPr sz="1100" b="0" i="0">
                <a:solidFill>
                  <a:srgbClr val="888580"/>
                </a:solidFill>
                <a:latin typeface="Calibri"/>
              </a:defRPr>
            </a:pPr>
            <a:r>
              <a:t>CLIMBING  ·  ROUTE DESIGN  ·  COMMUNITY  —  Bangkok</a:t>
            </a:r>
          </a:p>
        </p:txBody>
      </p:sp>
      <p:sp>
        <p:nvSpPr>
          <p:cNvPr id="45" name="Rectangle 44"/>
          <p:cNvSpPr/>
          <p:nvPr/>
        </p:nvSpPr>
        <p:spPr>
          <a:xfrm>
            <a:off x="640080" y="2286000"/>
            <a:ext cx="5029200" cy="36576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71600" y="3657600"/>
            <a:ext cx="3657600" cy="457200"/>
          </a:xfrm>
          <a:prstGeom prst="rect">
            <a:avLst/>
          </a:prstGeom>
          <a:noFill/>
        </p:spPr>
        <p:txBody>
          <a:bodyPr wrap="square"/>
          <a:lstStyle/>
          <a:p>
            <a:pPr algn="ctr">
              <a:defRPr sz="1300" b="0" i="0">
                <a:solidFill>
                  <a:srgbClr val="AAA7A2"/>
                </a:solidFill>
                <a:latin typeface="Calibri"/>
              </a:defRPr>
            </a:pPr>
            <a:r>
              <a:t>[ ROUTESETTING / CLIMBING PHOTO ]</a:t>
            </a:r>
          </a:p>
        </p:txBody>
      </p:sp>
      <p:sp>
        <p:nvSpPr>
          <p:cNvPr id="47" name="TextBox 46"/>
          <p:cNvSpPr txBox="1"/>
          <p:nvPr/>
        </p:nvSpPr>
        <p:spPr>
          <a:xfrm>
            <a:off x="6217920" y="2286000"/>
            <a:ext cx="5303520" cy="914400"/>
          </a:xfrm>
          <a:prstGeom prst="rect">
            <a:avLst/>
          </a:prstGeom>
          <a:noFill/>
        </p:spPr>
        <p:txBody>
          <a:bodyPr wrap="square"/>
          <a:lstStyle/>
          <a:p>
            <a:pPr algn="l">
              <a:lnSpc>
                <a:spcPts val="1900"/>
              </a:lnSpc>
              <a:defRPr sz="1200" b="0" i="0">
                <a:solidFill>
                  <a:srgbClr val="4A4A4A"/>
                </a:solidFill>
                <a:latin typeface="Calibri"/>
              </a:defRPr>
            </a:pPr>
            <a:r>
              <a:t>Active routesetter at Stonegoat Climbing gym in Bangkok. Designing and setting boulder problems that challenge climbers of all levels — from beginner-friendly introductions to competition-grade test pieces.</a:t>
            </a:r>
          </a:p>
        </p:txBody>
      </p:sp>
      <p:sp>
        <p:nvSpPr>
          <p:cNvPr id="48" name="TextBox 47"/>
          <p:cNvSpPr txBox="1"/>
          <p:nvPr/>
        </p:nvSpPr>
        <p:spPr>
          <a:xfrm>
            <a:off x="6217920" y="3200400"/>
            <a:ext cx="5303520" cy="822960"/>
          </a:xfrm>
          <a:prstGeom prst="rect">
            <a:avLst/>
          </a:prstGeom>
          <a:noFill/>
        </p:spPr>
        <p:txBody>
          <a:bodyPr wrap="square"/>
          <a:lstStyle/>
          <a:p>
            <a:pPr algn="l">
              <a:lnSpc>
                <a:spcPts val="1700"/>
              </a:lnSpc>
              <a:defRPr sz="1100" b="0" i="0">
                <a:solidFill>
                  <a:srgbClr val="888580"/>
                </a:solidFill>
                <a:latin typeface="Calibri"/>
              </a:defRPr>
            </a:pPr>
            <a:r>
              <a:t>Route setting combines creativity, spatial reasoning, and deep knowledge of movement. Each problem is a puzzle designed to teach technique, build strength, and push climbers beyond their comfort zone.</a:t>
            </a:r>
          </a:p>
        </p:txBody>
      </p:sp>
      <p:sp>
        <p:nvSpPr>
          <p:cNvPr id="49" name="TextBox 48"/>
          <p:cNvSpPr txBox="1"/>
          <p:nvPr/>
        </p:nvSpPr>
        <p:spPr>
          <a:xfrm>
            <a:off x="6217920" y="4023360"/>
            <a:ext cx="5303520" cy="731520"/>
          </a:xfrm>
          <a:prstGeom prst="rect">
            <a:avLst/>
          </a:prstGeom>
          <a:noFill/>
        </p:spPr>
        <p:txBody>
          <a:bodyPr wrap="square"/>
          <a:lstStyle/>
          <a:p>
            <a:pPr algn="l">
              <a:lnSpc>
                <a:spcPts val="1700"/>
              </a:lnSpc>
              <a:defRPr sz="1100" b="0" i="0">
                <a:solidFill>
                  <a:srgbClr val="4A4A4A"/>
                </a:solidFill>
                <a:latin typeface="Calibri"/>
              </a:defRPr>
            </a:pPr>
            <a:r>
              <a:t>This hands-on role directly feeds into the climbing community work with Social Climbers and Bangkok Boulderfest — understanding movement helps design better competition scoring and athlete experience.</a:t>
            </a:r>
          </a:p>
        </p:txBody>
      </p:sp>
      <p:sp>
        <p:nvSpPr>
          <p:cNvPr id="50" name="Rectangle 49"/>
          <p:cNvSpPr/>
          <p:nvPr/>
        </p:nvSpPr>
        <p:spPr>
          <a:xfrm>
            <a:off x="6217920" y="4937760"/>
            <a:ext cx="1316736"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17920" y="4937760"/>
            <a:ext cx="1316736" cy="320040"/>
          </a:xfrm>
          <a:prstGeom prst="rect">
            <a:avLst/>
          </a:prstGeom>
          <a:noFill/>
        </p:spPr>
        <p:txBody>
          <a:bodyPr wrap="square"/>
          <a:lstStyle/>
          <a:p>
            <a:pPr algn="ctr">
              <a:defRPr sz="800" b="1" i="0">
                <a:solidFill>
                  <a:srgbClr val="1A1A1A"/>
                </a:solidFill>
                <a:latin typeface="Calibri"/>
              </a:defRPr>
            </a:pPr>
            <a:r>
              <a:t>ROUTESETTING</a:t>
            </a:r>
          </a:p>
        </p:txBody>
      </p:sp>
      <p:sp>
        <p:nvSpPr>
          <p:cNvPr id="52" name="Rectangle 51"/>
          <p:cNvSpPr/>
          <p:nvPr/>
        </p:nvSpPr>
        <p:spPr>
          <a:xfrm>
            <a:off x="7644383" y="4937760"/>
            <a:ext cx="114300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644383" y="4937760"/>
            <a:ext cx="1143000" cy="320040"/>
          </a:xfrm>
          <a:prstGeom prst="rect">
            <a:avLst/>
          </a:prstGeom>
          <a:noFill/>
        </p:spPr>
        <p:txBody>
          <a:bodyPr wrap="square"/>
          <a:lstStyle/>
          <a:p>
            <a:pPr algn="ctr">
              <a:defRPr sz="800" b="1" i="0">
                <a:solidFill>
                  <a:srgbClr val="1A1A1A"/>
                </a:solidFill>
                <a:latin typeface="Calibri"/>
              </a:defRPr>
            </a:pPr>
            <a:r>
              <a:t>BOULDERING</a:t>
            </a:r>
          </a:p>
        </p:txBody>
      </p:sp>
      <p:sp>
        <p:nvSpPr>
          <p:cNvPr id="54" name="Rectangle 53"/>
          <p:cNvSpPr/>
          <p:nvPr/>
        </p:nvSpPr>
        <p:spPr>
          <a:xfrm>
            <a:off x="8897112" y="4937760"/>
            <a:ext cx="105613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97112" y="4937760"/>
            <a:ext cx="1056132" cy="320040"/>
          </a:xfrm>
          <a:prstGeom prst="rect">
            <a:avLst/>
          </a:prstGeom>
          <a:noFill/>
        </p:spPr>
        <p:txBody>
          <a:bodyPr wrap="square"/>
          <a:lstStyle/>
          <a:p>
            <a:pPr algn="ctr">
              <a:defRPr sz="800" b="1" i="0">
                <a:solidFill>
                  <a:srgbClr val="1A1A1A"/>
                </a:solidFill>
                <a:latin typeface="Calibri"/>
              </a:defRPr>
            </a:pPr>
            <a:r>
              <a:t>STONEGOAT</a:t>
            </a:r>
          </a:p>
        </p:txBody>
      </p:sp>
      <p:sp>
        <p:nvSpPr>
          <p:cNvPr id="56" name="Rectangle 55"/>
          <p:cNvSpPr/>
          <p:nvPr/>
        </p:nvSpPr>
        <p:spPr>
          <a:xfrm>
            <a:off x="10062972" y="4937760"/>
            <a:ext cx="105613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062972" y="4937760"/>
            <a:ext cx="1056132" cy="320040"/>
          </a:xfrm>
          <a:prstGeom prst="rect">
            <a:avLst/>
          </a:prstGeom>
          <a:noFill/>
        </p:spPr>
        <p:txBody>
          <a:bodyPr wrap="square"/>
          <a:lstStyle/>
          <a:p>
            <a:pPr algn="ctr">
              <a:defRPr sz="800" b="1" i="0">
                <a:solidFill>
                  <a:srgbClr val="1A1A1A"/>
                </a:solidFill>
                <a:latin typeface="Calibri"/>
              </a:defRPr>
            </a:pPr>
            <a:r>
              <a:t>COMMUNITY</a:t>
            </a:r>
          </a:p>
        </p:txBody>
      </p:sp>
      <p:sp>
        <p:nvSpPr>
          <p:cNvPr id="58" name="Rectangle 57"/>
          <p:cNvSpPr/>
          <p:nvPr/>
        </p:nvSpPr>
        <p:spPr>
          <a:xfrm>
            <a:off x="6217920" y="5349240"/>
            <a:ext cx="530352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217920" y="5440680"/>
            <a:ext cx="1645920" cy="182880"/>
          </a:xfrm>
          <a:prstGeom prst="rect">
            <a:avLst/>
          </a:prstGeom>
          <a:noFill/>
        </p:spPr>
        <p:txBody>
          <a:bodyPr wrap="square"/>
          <a:lstStyle/>
          <a:p>
            <a:pPr algn="l">
              <a:defRPr sz="700" b="1" i="0">
                <a:solidFill>
                  <a:srgbClr val="888580"/>
                </a:solidFill>
                <a:latin typeface="Calibri"/>
              </a:defRPr>
            </a:pPr>
            <a:r>
              <a:t>GYM</a:t>
            </a:r>
          </a:p>
        </p:txBody>
      </p:sp>
      <p:sp>
        <p:nvSpPr>
          <p:cNvPr id="60" name="TextBox 59"/>
          <p:cNvSpPr txBox="1"/>
          <p:nvPr/>
        </p:nvSpPr>
        <p:spPr>
          <a:xfrm>
            <a:off x="6217920" y="5623560"/>
            <a:ext cx="1645920" cy="182880"/>
          </a:xfrm>
          <a:prstGeom prst="rect">
            <a:avLst/>
          </a:prstGeom>
          <a:noFill/>
        </p:spPr>
        <p:txBody>
          <a:bodyPr wrap="square"/>
          <a:lstStyle/>
          <a:p>
            <a:pPr algn="l">
              <a:defRPr sz="900" b="1" i="0">
                <a:solidFill>
                  <a:srgbClr val="1A1A1A"/>
                </a:solidFill>
                <a:latin typeface="Calibri"/>
              </a:defRPr>
            </a:pPr>
            <a:r>
              <a:t>Stonegoat</a:t>
            </a:r>
          </a:p>
        </p:txBody>
      </p:sp>
      <p:sp>
        <p:nvSpPr>
          <p:cNvPr id="61" name="TextBox 60"/>
          <p:cNvSpPr txBox="1"/>
          <p:nvPr/>
        </p:nvSpPr>
        <p:spPr>
          <a:xfrm>
            <a:off x="8001000" y="5440680"/>
            <a:ext cx="1645920" cy="182880"/>
          </a:xfrm>
          <a:prstGeom prst="rect">
            <a:avLst/>
          </a:prstGeom>
          <a:noFill/>
        </p:spPr>
        <p:txBody>
          <a:bodyPr wrap="square"/>
          <a:lstStyle/>
          <a:p>
            <a:pPr algn="l">
              <a:defRPr sz="700" b="1" i="0">
                <a:solidFill>
                  <a:srgbClr val="888580"/>
                </a:solidFill>
                <a:latin typeface="Calibri"/>
              </a:defRPr>
            </a:pPr>
            <a:r>
              <a:t>ROLE</a:t>
            </a:r>
          </a:p>
        </p:txBody>
      </p:sp>
      <p:sp>
        <p:nvSpPr>
          <p:cNvPr id="62" name="TextBox 61"/>
          <p:cNvSpPr txBox="1"/>
          <p:nvPr/>
        </p:nvSpPr>
        <p:spPr>
          <a:xfrm>
            <a:off x="8001000" y="5623560"/>
            <a:ext cx="1645920" cy="182880"/>
          </a:xfrm>
          <a:prstGeom prst="rect">
            <a:avLst/>
          </a:prstGeom>
          <a:noFill/>
        </p:spPr>
        <p:txBody>
          <a:bodyPr wrap="square"/>
          <a:lstStyle/>
          <a:p>
            <a:pPr algn="l">
              <a:defRPr sz="900" b="1" i="0">
                <a:solidFill>
                  <a:srgbClr val="1A1A1A"/>
                </a:solidFill>
                <a:latin typeface="Calibri"/>
              </a:defRPr>
            </a:pPr>
            <a:r>
              <a:t>Routesetter</a:t>
            </a:r>
          </a:p>
        </p:txBody>
      </p:sp>
      <p:sp>
        <p:nvSpPr>
          <p:cNvPr id="63" name="TextBox 62"/>
          <p:cNvSpPr txBox="1"/>
          <p:nvPr/>
        </p:nvSpPr>
        <p:spPr>
          <a:xfrm>
            <a:off x="9784080" y="5440680"/>
            <a:ext cx="1645920" cy="182880"/>
          </a:xfrm>
          <a:prstGeom prst="rect">
            <a:avLst/>
          </a:prstGeom>
          <a:noFill/>
        </p:spPr>
        <p:txBody>
          <a:bodyPr wrap="square"/>
          <a:lstStyle/>
          <a:p>
            <a:pPr algn="l">
              <a:defRPr sz="700" b="1" i="0">
                <a:solidFill>
                  <a:srgbClr val="888580"/>
                </a:solidFill>
                <a:latin typeface="Calibri"/>
              </a:defRPr>
            </a:pPr>
            <a:r>
              <a:t>LOCATION</a:t>
            </a:r>
          </a:p>
        </p:txBody>
      </p:sp>
      <p:sp>
        <p:nvSpPr>
          <p:cNvPr id="64" name="TextBox 63"/>
          <p:cNvSpPr txBox="1"/>
          <p:nvPr/>
        </p:nvSpPr>
        <p:spPr>
          <a:xfrm>
            <a:off x="9784080" y="5623560"/>
            <a:ext cx="1645920" cy="182880"/>
          </a:xfrm>
          <a:prstGeom prst="rect">
            <a:avLst/>
          </a:prstGeom>
          <a:noFill/>
        </p:spPr>
        <p:txBody>
          <a:bodyPr wrap="square"/>
          <a:lstStyle/>
          <a:p>
            <a:pPr algn="l">
              <a:defRPr sz="900" b="1" i="0">
                <a:solidFill>
                  <a:srgbClr val="1A1A1A"/>
                </a:solidFill>
                <a:latin typeface="Calibri"/>
              </a:defRPr>
            </a:pPr>
            <a:r>
              <a:t>Bangkok</a:t>
            </a:r>
          </a:p>
        </p:txBody>
      </p:sp>
      <p:sp>
        <p:nvSpPr>
          <p:cNvPr id="65" name="Rectangle 64"/>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68" name="TextBox 67"/>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18  —  EVENTS</a:t>
            </a:r>
          </a:p>
        </p:txBody>
      </p:sp>
      <p:sp>
        <p:nvSpPr>
          <p:cNvPr id="41" name="Rectangle 40"/>
          <p:cNvSpPr/>
          <p:nvPr/>
        </p:nvSpPr>
        <p:spPr>
          <a:xfrm>
            <a:off x="731520" y="685800"/>
            <a:ext cx="772668"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48640"/>
          </a:xfrm>
          <a:prstGeom prst="rect">
            <a:avLst/>
          </a:prstGeom>
          <a:noFill/>
        </p:spPr>
        <p:txBody>
          <a:bodyPr wrap="square"/>
          <a:lstStyle/>
          <a:p>
            <a:pPr algn="l">
              <a:defRPr sz="3600" b="1" i="0">
                <a:solidFill>
                  <a:srgbClr val="1A1A1A"/>
                </a:solidFill>
                <a:latin typeface="Arial Black"/>
              </a:defRPr>
            </a:pPr>
            <a:r>
              <a:t>Speaking &amp; Events</a:t>
            </a:r>
          </a:p>
        </p:txBody>
      </p:sp>
      <p:sp>
        <p:nvSpPr>
          <p:cNvPr id="43" name="Rectangle 42"/>
          <p:cNvSpPr/>
          <p:nvPr/>
        </p:nvSpPr>
        <p:spPr>
          <a:xfrm>
            <a:off x="640080" y="146304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1417320"/>
            <a:ext cx="4114800" cy="274320"/>
          </a:xfrm>
          <a:prstGeom prst="rect">
            <a:avLst/>
          </a:prstGeom>
          <a:noFill/>
        </p:spPr>
        <p:txBody>
          <a:bodyPr wrap="square"/>
          <a:lstStyle/>
          <a:p>
            <a:pPr algn="l">
              <a:defRPr sz="1300" b="1" i="0">
                <a:solidFill>
                  <a:srgbClr val="1A1A1A"/>
                </a:solidFill>
                <a:latin typeface="Calibri"/>
              </a:defRPr>
            </a:pPr>
            <a:r>
              <a:t>PostToday Cryptocurrency Forum 2021</a:t>
            </a:r>
          </a:p>
        </p:txBody>
      </p:sp>
      <p:sp>
        <p:nvSpPr>
          <p:cNvPr id="45" name="TextBox 44"/>
          <p:cNvSpPr txBox="1"/>
          <p:nvPr/>
        </p:nvSpPr>
        <p:spPr>
          <a:xfrm>
            <a:off x="1005840" y="1664208"/>
            <a:ext cx="4114800" cy="228600"/>
          </a:xfrm>
          <a:prstGeom prst="rect">
            <a:avLst/>
          </a:prstGeom>
          <a:noFill/>
        </p:spPr>
        <p:txBody>
          <a:bodyPr wrap="square"/>
          <a:lstStyle/>
          <a:p>
            <a:pPr algn="l">
              <a:defRPr sz="900" b="1" i="0">
                <a:solidFill>
                  <a:srgbClr val="CC0011"/>
                </a:solidFill>
                <a:latin typeface="Calibri"/>
              </a:defRPr>
            </a:pPr>
            <a:r>
              <a:t>PANEL SPEAKER  ·  LIVE BROADCAST ON BANGKOK POST</a:t>
            </a:r>
          </a:p>
        </p:txBody>
      </p:sp>
      <p:sp>
        <p:nvSpPr>
          <p:cNvPr id="46" name="TextBox 45"/>
          <p:cNvSpPr txBox="1"/>
          <p:nvPr/>
        </p:nvSpPr>
        <p:spPr>
          <a:xfrm>
            <a:off x="5486400" y="1417320"/>
            <a:ext cx="6217920" cy="731520"/>
          </a:xfrm>
          <a:prstGeom prst="rect">
            <a:avLst/>
          </a:prstGeom>
          <a:noFill/>
        </p:spPr>
        <p:txBody>
          <a:bodyPr wrap="square"/>
          <a:lstStyle/>
          <a:p>
            <a:pPr algn="l">
              <a:lnSpc>
                <a:spcPts val="1500"/>
              </a:lnSpc>
              <a:defRPr sz="1000" b="0" i="0">
                <a:solidFill>
                  <a:srgbClr val="4A4A4A"/>
                </a:solidFill>
                <a:latin typeface="Calibri"/>
              </a:defRPr>
            </a:pPr>
            <a:r>
              <a:t>Invited as a panelist representing THG Medical Utility Token. Live-streamed by Bangkok Post. youtube.com/watch?v=Zdm3ES3LZi4</a:t>
            </a:r>
          </a:p>
        </p:txBody>
      </p:sp>
      <p:sp>
        <p:nvSpPr>
          <p:cNvPr id="47" name="Rectangle 46"/>
          <p:cNvSpPr/>
          <p:nvPr/>
        </p:nvSpPr>
        <p:spPr>
          <a:xfrm>
            <a:off x="731520" y="228600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0080" y="242316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2377440"/>
            <a:ext cx="4114800" cy="274320"/>
          </a:xfrm>
          <a:prstGeom prst="rect">
            <a:avLst/>
          </a:prstGeom>
          <a:noFill/>
        </p:spPr>
        <p:txBody>
          <a:bodyPr wrap="square"/>
          <a:lstStyle/>
          <a:p>
            <a:pPr algn="l">
              <a:defRPr sz="1300" b="1" i="0">
                <a:solidFill>
                  <a:srgbClr val="1A1A1A"/>
                </a:solidFill>
                <a:latin typeface="Calibri"/>
              </a:defRPr>
            </a:pPr>
            <a:r>
              <a:t>Comedy Stage Play</a:t>
            </a:r>
          </a:p>
        </p:txBody>
      </p:sp>
      <p:sp>
        <p:nvSpPr>
          <p:cNvPr id="50" name="TextBox 49"/>
          <p:cNvSpPr txBox="1"/>
          <p:nvPr/>
        </p:nvSpPr>
        <p:spPr>
          <a:xfrm>
            <a:off x="1005840" y="2624328"/>
            <a:ext cx="4114800" cy="228600"/>
          </a:xfrm>
          <a:prstGeom prst="rect">
            <a:avLst/>
          </a:prstGeom>
          <a:noFill/>
        </p:spPr>
        <p:txBody>
          <a:bodyPr wrap="square"/>
          <a:lstStyle/>
          <a:p>
            <a:pPr algn="l">
              <a:defRPr sz="900" b="1" i="0">
                <a:solidFill>
                  <a:srgbClr val="CC0011"/>
                </a:solidFill>
                <a:latin typeface="Calibri"/>
              </a:defRPr>
            </a:pPr>
            <a:r>
              <a:t>LEAD ROLE  ·  6+ MONTHS REHEARSAL  ·  2.5 HOURS  ·  100+ AUDIENCE</a:t>
            </a:r>
          </a:p>
        </p:txBody>
      </p:sp>
      <p:sp>
        <p:nvSpPr>
          <p:cNvPr id="51" name="TextBox 50"/>
          <p:cNvSpPr txBox="1"/>
          <p:nvPr/>
        </p:nvSpPr>
        <p:spPr>
          <a:xfrm>
            <a:off x="5486400" y="2377440"/>
            <a:ext cx="6217920" cy="731520"/>
          </a:xfrm>
          <a:prstGeom prst="rect">
            <a:avLst/>
          </a:prstGeom>
          <a:noFill/>
        </p:spPr>
        <p:txBody>
          <a:bodyPr wrap="square"/>
          <a:lstStyle/>
          <a:p>
            <a:pPr algn="l">
              <a:lnSpc>
                <a:spcPts val="1500"/>
              </a:lnSpc>
              <a:defRPr sz="1000" b="0" i="0">
                <a:solidFill>
                  <a:srgbClr val="4A4A4A"/>
                </a:solidFill>
                <a:latin typeface="Calibri"/>
              </a:defRPr>
            </a:pPr>
            <a:r>
              <a:t>Lead role in a 2.5-hour comedy stage play to 100+ audience. 6+ months of rehearsal. youtube.com/watch?v=T4SuexR4Sfs</a:t>
            </a:r>
          </a:p>
        </p:txBody>
      </p:sp>
      <p:sp>
        <p:nvSpPr>
          <p:cNvPr id="52" name="Rectangle 51"/>
          <p:cNvSpPr/>
          <p:nvPr/>
        </p:nvSpPr>
        <p:spPr>
          <a:xfrm>
            <a:off x="731520" y="324612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080" y="338328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05840" y="3337560"/>
            <a:ext cx="4114800" cy="274320"/>
          </a:xfrm>
          <a:prstGeom prst="rect">
            <a:avLst/>
          </a:prstGeom>
          <a:noFill/>
        </p:spPr>
        <p:txBody>
          <a:bodyPr wrap="square"/>
          <a:lstStyle/>
          <a:p>
            <a:pPr algn="l">
              <a:defRPr sz="1300" b="1" i="0">
                <a:solidFill>
                  <a:srgbClr val="1A1A1A"/>
                </a:solidFill>
                <a:latin typeface="Calibri"/>
              </a:defRPr>
            </a:pPr>
            <a:r>
              <a:t>Samaggi Academic Conference 2017</a:t>
            </a:r>
          </a:p>
        </p:txBody>
      </p:sp>
      <p:sp>
        <p:nvSpPr>
          <p:cNvPr id="55" name="TextBox 54"/>
          <p:cNvSpPr txBox="1"/>
          <p:nvPr/>
        </p:nvSpPr>
        <p:spPr>
          <a:xfrm>
            <a:off x="1005840" y="3584448"/>
            <a:ext cx="4114800" cy="228600"/>
          </a:xfrm>
          <a:prstGeom prst="rect">
            <a:avLst/>
          </a:prstGeom>
          <a:noFill/>
        </p:spPr>
        <p:txBody>
          <a:bodyPr wrap="square"/>
          <a:lstStyle/>
          <a:p>
            <a:pPr algn="l">
              <a:defRPr sz="900" b="1" i="0">
                <a:solidFill>
                  <a:srgbClr val="CC0011"/>
                </a:solidFill>
                <a:latin typeface="Calibri"/>
              </a:defRPr>
            </a:pPr>
            <a:r>
              <a:t>RESEARCH PRESENTER  ·  100+ AUDIENCE  ·  IMPERIAL COLLEGE</a:t>
            </a:r>
          </a:p>
        </p:txBody>
      </p:sp>
      <p:sp>
        <p:nvSpPr>
          <p:cNvPr id="56" name="TextBox 55"/>
          <p:cNvSpPr txBox="1"/>
          <p:nvPr/>
        </p:nvSpPr>
        <p:spPr>
          <a:xfrm>
            <a:off x="5486400" y="3337560"/>
            <a:ext cx="6217920" cy="731520"/>
          </a:xfrm>
          <a:prstGeom prst="rect">
            <a:avLst/>
          </a:prstGeom>
          <a:noFill/>
        </p:spPr>
        <p:txBody>
          <a:bodyPr wrap="square"/>
          <a:lstStyle/>
          <a:p>
            <a:pPr algn="l">
              <a:lnSpc>
                <a:spcPts val="1500"/>
              </a:lnSpc>
              <a:defRPr sz="1000" b="0" i="0">
                <a:solidFill>
                  <a:srgbClr val="4A4A4A"/>
                </a:solidFill>
                <a:latin typeface="Calibri"/>
              </a:defRPr>
            </a:pPr>
            <a:r>
              <a:t>Bachelor's project: Hyperloop to decentralise Thailand — Bangkok to Phuket in 40 mins. 100+ attendees at Imperial College. Highly Commended Prize from the Royal Thai Embassy.</a:t>
            </a:r>
          </a:p>
        </p:txBody>
      </p:sp>
      <p:sp>
        <p:nvSpPr>
          <p:cNvPr id="57" name="Rectangle 56"/>
          <p:cNvSpPr/>
          <p:nvPr/>
        </p:nvSpPr>
        <p:spPr>
          <a:xfrm>
            <a:off x="731520" y="42062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40080" y="434340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05840" y="4297680"/>
            <a:ext cx="4114800" cy="274320"/>
          </a:xfrm>
          <a:prstGeom prst="rect">
            <a:avLst/>
          </a:prstGeom>
          <a:noFill/>
        </p:spPr>
        <p:txBody>
          <a:bodyPr wrap="square"/>
          <a:lstStyle/>
          <a:p>
            <a:pPr algn="l">
              <a:defRPr sz="1300" b="1" i="0">
                <a:solidFill>
                  <a:srgbClr val="1A1A1A"/>
                </a:solidFill>
                <a:latin typeface="Calibri"/>
              </a:defRPr>
            </a:pPr>
            <a:r>
              <a:t>AIS Intouch InVent Builder Program</a:t>
            </a:r>
          </a:p>
        </p:txBody>
      </p:sp>
      <p:sp>
        <p:nvSpPr>
          <p:cNvPr id="60" name="TextBox 59"/>
          <p:cNvSpPr txBox="1"/>
          <p:nvPr/>
        </p:nvSpPr>
        <p:spPr>
          <a:xfrm>
            <a:off x="1005840" y="4544568"/>
            <a:ext cx="4114800" cy="228600"/>
          </a:xfrm>
          <a:prstGeom prst="rect">
            <a:avLst/>
          </a:prstGeom>
          <a:noFill/>
        </p:spPr>
        <p:txBody>
          <a:bodyPr wrap="square"/>
          <a:lstStyle/>
          <a:p>
            <a:pPr algn="l">
              <a:defRPr sz="900" b="1" i="0">
                <a:solidFill>
                  <a:srgbClr val="CC0011"/>
                </a:solidFill>
                <a:latin typeface="Calibri"/>
              </a:defRPr>
            </a:pPr>
            <a:r>
              <a:t>STARTUP FINALIST — TOP 12  ·  EXECUTIVES + 50+ EMPLOYEES</a:t>
            </a:r>
          </a:p>
        </p:txBody>
      </p:sp>
      <p:sp>
        <p:nvSpPr>
          <p:cNvPr id="61" name="TextBox 60"/>
          <p:cNvSpPr txBox="1"/>
          <p:nvPr/>
        </p:nvSpPr>
        <p:spPr>
          <a:xfrm>
            <a:off x="5486400" y="4297680"/>
            <a:ext cx="6217920" cy="731520"/>
          </a:xfrm>
          <a:prstGeom prst="rect">
            <a:avLst/>
          </a:prstGeom>
          <a:noFill/>
        </p:spPr>
        <p:txBody>
          <a:bodyPr wrap="square"/>
          <a:lstStyle/>
          <a:p>
            <a:pPr algn="l">
              <a:lnSpc>
                <a:spcPts val="1500"/>
              </a:lnSpc>
              <a:defRPr sz="1000" b="0" i="0">
                <a:solidFill>
                  <a:srgbClr val="4A4A4A"/>
                </a:solidFill>
                <a:latin typeface="Calibri"/>
              </a:defRPr>
            </a:pPr>
            <a:r>
              <a:t>Pitched Motiwatt gamified fitness platform to a panel of AIS executives and 50+ employees. Selected top 12 from hundreds of applicants.</a:t>
            </a:r>
          </a:p>
        </p:txBody>
      </p:sp>
      <p:sp>
        <p:nvSpPr>
          <p:cNvPr id="62" name="Rectangle 61"/>
          <p:cNvSpPr/>
          <p:nvPr/>
        </p:nvSpPr>
        <p:spPr>
          <a:xfrm>
            <a:off x="731520" y="516636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0080" y="530352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5840" y="5257800"/>
            <a:ext cx="4114800" cy="274320"/>
          </a:xfrm>
          <a:prstGeom prst="rect">
            <a:avLst/>
          </a:prstGeom>
          <a:noFill/>
        </p:spPr>
        <p:txBody>
          <a:bodyPr wrap="square"/>
          <a:lstStyle/>
          <a:p>
            <a:pPr algn="l">
              <a:defRPr sz="1300" b="1" i="0">
                <a:solidFill>
                  <a:srgbClr val="1A1A1A"/>
                </a:solidFill>
                <a:latin typeface="Calibri"/>
              </a:defRPr>
            </a:pPr>
            <a:r>
              <a:t>Move It or Lose It — Red Bull Gaming Sphere</a:t>
            </a:r>
          </a:p>
        </p:txBody>
      </p:sp>
      <p:sp>
        <p:nvSpPr>
          <p:cNvPr id="65" name="TextBox 64"/>
          <p:cNvSpPr txBox="1"/>
          <p:nvPr/>
        </p:nvSpPr>
        <p:spPr>
          <a:xfrm>
            <a:off x="1005840" y="5504688"/>
            <a:ext cx="4114800" cy="228600"/>
          </a:xfrm>
          <a:prstGeom prst="rect">
            <a:avLst/>
          </a:prstGeom>
          <a:noFill/>
        </p:spPr>
        <p:txBody>
          <a:bodyPr wrap="square"/>
          <a:lstStyle/>
          <a:p>
            <a:pPr algn="l">
              <a:defRPr sz="900" b="1" i="0">
                <a:solidFill>
                  <a:srgbClr val="CC0011"/>
                </a:solidFill>
                <a:latin typeface="Calibri"/>
              </a:defRPr>
            </a:pPr>
            <a:r>
              <a:t>EVENT ORGANIZER &amp; DESIGNER</a:t>
            </a:r>
          </a:p>
        </p:txBody>
      </p:sp>
      <p:sp>
        <p:nvSpPr>
          <p:cNvPr id="66" name="TextBox 65"/>
          <p:cNvSpPr txBox="1"/>
          <p:nvPr/>
        </p:nvSpPr>
        <p:spPr>
          <a:xfrm>
            <a:off x="5486400" y="5257800"/>
            <a:ext cx="6217920" cy="731520"/>
          </a:xfrm>
          <a:prstGeom prst="rect">
            <a:avLst/>
          </a:prstGeom>
          <a:noFill/>
        </p:spPr>
        <p:txBody>
          <a:bodyPr wrap="square"/>
          <a:lstStyle/>
          <a:p>
            <a:pPr algn="l">
              <a:lnSpc>
                <a:spcPts val="1500"/>
              </a:lnSpc>
              <a:defRPr sz="1000" b="0" i="0">
                <a:solidFill>
                  <a:srgbClr val="4A4A4A"/>
                </a:solidFill>
                <a:latin typeface="Calibri"/>
              </a:defRPr>
            </a:pPr>
            <a:r>
              <a:t>Organized a Just Dance 2024 tournament at Red Bull Gaming Sphere Bangkok. Created all event branding and on-site assets.</a:t>
            </a:r>
          </a:p>
        </p:txBody>
      </p:sp>
      <p:sp>
        <p:nvSpPr>
          <p:cNvPr id="67" name="Rectangle 66"/>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70" name="TextBox 69"/>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18  —  EVENTS — CONTINUED</a:t>
            </a:r>
          </a:p>
        </p:txBody>
      </p:sp>
      <p:sp>
        <p:nvSpPr>
          <p:cNvPr id="41" name="Rectangle 40"/>
          <p:cNvSpPr/>
          <p:nvPr/>
        </p:nvSpPr>
        <p:spPr>
          <a:xfrm>
            <a:off x="731520" y="685800"/>
            <a:ext cx="148590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02920"/>
          </a:xfrm>
          <a:prstGeom prst="rect">
            <a:avLst/>
          </a:prstGeom>
          <a:noFill/>
        </p:spPr>
        <p:txBody>
          <a:bodyPr wrap="square"/>
          <a:lstStyle/>
          <a:p>
            <a:pPr algn="l">
              <a:defRPr sz="3600" b="1" i="0">
                <a:solidFill>
                  <a:srgbClr val="1A1A1A"/>
                </a:solidFill>
                <a:latin typeface="Arial Black"/>
              </a:defRPr>
            </a:pPr>
            <a:r>
              <a:t>Speaking &amp; Events</a:t>
            </a:r>
          </a:p>
        </p:txBody>
      </p:sp>
      <p:sp>
        <p:nvSpPr>
          <p:cNvPr id="43" name="TextBox 42"/>
          <p:cNvSpPr txBox="1"/>
          <p:nvPr/>
        </p:nvSpPr>
        <p:spPr>
          <a:xfrm>
            <a:off x="6858000" y="960120"/>
            <a:ext cx="2743200" cy="320040"/>
          </a:xfrm>
          <a:prstGeom prst="rect">
            <a:avLst/>
          </a:prstGeom>
          <a:noFill/>
        </p:spPr>
        <p:txBody>
          <a:bodyPr wrap="square"/>
          <a:lstStyle/>
          <a:p>
            <a:pPr algn="l">
              <a:defRPr sz="1600" b="0" i="1">
                <a:solidFill>
                  <a:srgbClr val="888580"/>
                </a:solidFill>
                <a:latin typeface="Calibri"/>
              </a:defRPr>
            </a:pPr>
            <a:r>
              <a:t>(continued)</a:t>
            </a:r>
          </a:p>
        </p:txBody>
      </p:sp>
      <p:sp>
        <p:nvSpPr>
          <p:cNvPr id="44" name="Rectangle 43"/>
          <p:cNvSpPr/>
          <p:nvPr/>
        </p:nvSpPr>
        <p:spPr>
          <a:xfrm>
            <a:off x="640080" y="155448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1508760"/>
            <a:ext cx="4114800" cy="274320"/>
          </a:xfrm>
          <a:prstGeom prst="rect">
            <a:avLst/>
          </a:prstGeom>
          <a:noFill/>
        </p:spPr>
        <p:txBody>
          <a:bodyPr wrap="square"/>
          <a:lstStyle/>
          <a:p>
            <a:pPr algn="l">
              <a:defRPr sz="1300" b="1" i="0">
                <a:solidFill>
                  <a:srgbClr val="1A1A1A"/>
                </a:solidFill>
                <a:latin typeface="Calibri"/>
              </a:defRPr>
            </a:pPr>
            <a:r>
              <a:t>NASA Space Apps Hackathon</a:t>
            </a:r>
          </a:p>
        </p:txBody>
      </p:sp>
      <p:sp>
        <p:nvSpPr>
          <p:cNvPr id="46" name="TextBox 45"/>
          <p:cNvSpPr txBox="1"/>
          <p:nvPr/>
        </p:nvSpPr>
        <p:spPr>
          <a:xfrm>
            <a:off x="1005840" y="1755648"/>
            <a:ext cx="4114800" cy="228600"/>
          </a:xfrm>
          <a:prstGeom prst="rect">
            <a:avLst/>
          </a:prstGeom>
          <a:noFill/>
        </p:spPr>
        <p:txBody>
          <a:bodyPr wrap="square"/>
          <a:lstStyle/>
          <a:p>
            <a:pPr algn="l">
              <a:defRPr sz="900" b="1" i="0">
                <a:solidFill>
                  <a:srgbClr val="CC0011"/>
                </a:solidFill>
                <a:latin typeface="Calibri"/>
              </a:defRPr>
            </a:pPr>
            <a:r>
              <a:t>HACKATHON COMPETITOR</a:t>
            </a:r>
          </a:p>
        </p:txBody>
      </p:sp>
      <p:sp>
        <p:nvSpPr>
          <p:cNvPr id="47" name="TextBox 46"/>
          <p:cNvSpPr txBox="1"/>
          <p:nvPr/>
        </p:nvSpPr>
        <p:spPr>
          <a:xfrm>
            <a:off x="5486400" y="1508760"/>
            <a:ext cx="6217920" cy="731520"/>
          </a:xfrm>
          <a:prstGeom prst="rect">
            <a:avLst/>
          </a:prstGeom>
          <a:noFill/>
        </p:spPr>
        <p:txBody>
          <a:bodyPr wrap="square"/>
          <a:lstStyle/>
          <a:p>
            <a:pPr algn="l">
              <a:lnSpc>
                <a:spcPts val="1500"/>
              </a:lnSpc>
              <a:defRPr sz="1000" b="0" i="0">
                <a:solidFill>
                  <a:srgbClr val="4A4A4A"/>
                </a:solidFill>
                <a:latin typeface="Calibri"/>
              </a:defRPr>
            </a:pPr>
            <a:r>
              <a:t>Competed in the NASA Space Apps Challenge — a global hackathon solving real NASA problems with technology and data.</a:t>
            </a:r>
          </a:p>
        </p:txBody>
      </p:sp>
      <p:sp>
        <p:nvSpPr>
          <p:cNvPr id="48" name="Rectangle 47"/>
          <p:cNvSpPr/>
          <p:nvPr/>
        </p:nvSpPr>
        <p:spPr>
          <a:xfrm>
            <a:off x="731520" y="246888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 y="265176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2606040"/>
            <a:ext cx="4114800" cy="274320"/>
          </a:xfrm>
          <a:prstGeom prst="rect">
            <a:avLst/>
          </a:prstGeom>
          <a:noFill/>
        </p:spPr>
        <p:txBody>
          <a:bodyPr wrap="square"/>
          <a:lstStyle/>
          <a:p>
            <a:pPr algn="l">
              <a:defRPr sz="1300" b="1" i="0">
                <a:solidFill>
                  <a:srgbClr val="1A1A1A"/>
                </a:solidFill>
                <a:latin typeface="Calibri"/>
              </a:defRPr>
            </a:pPr>
            <a:r>
              <a:t>3 Day Startup — Wellness Wearable</a:t>
            </a:r>
          </a:p>
        </p:txBody>
      </p:sp>
      <p:sp>
        <p:nvSpPr>
          <p:cNvPr id="51" name="TextBox 50"/>
          <p:cNvSpPr txBox="1"/>
          <p:nvPr/>
        </p:nvSpPr>
        <p:spPr>
          <a:xfrm>
            <a:off x="1005840" y="2852928"/>
            <a:ext cx="4114800" cy="228600"/>
          </a:xfrm>
          <a:prstGeom prst="rect">
            <a:avLst/>
          </a:prstGeom>
          <a:noFill/>
        </p:spPr>
        <p:txBody>
          <a:bodyPr wrap="square"/>
          <a:lstStyle/>
          <a:p>
            <a:pPr algn="l">
              <a:defRPr sz="900" b="1" i="0">
                <a:solidFill>
                  <a:srgbClr val="CC0011"/>
                </a:solidFill>
                <a:latin typeface="Calibri"/>
              </a:defRPr>
            </a:pPr>
            <a:r>
              <a:t>TEAM LEAD &amp; PRESENTER  ·  2016</a:t>
            </a:r>
          </a:p>
        </p:txBody>
      </p:sp>
      <p:sp>
        <p:nvSpPr>
          <p:cNvPr id="52" name="TextBox 51"/>
          <p:cNvSpPr txBox="1"/>
          <p:nvPr/>
        </p:nvSpPr>
        <p:spPr>
          <a:xfrm>
            <a:off x="5486400" y="2606040"/>
            <a:ext cx="6217920" cy="731520"/>
          </a:xfrm>
          <a:prstGeom prst="rect">
            <a:avLst/>
          </a:prstGeom>
          <a:noFill/>
        </p:spPr>
        <p:txBody>
          <a:bodyPr wrap="square"/>
          <a:lstStyle/>
          <a:p>
            <a:pPr algn="l">
              <a:lnSpc>
                <a:spcPts val="1500"/>
              </a:lnSpc>
              <a:defRPr sz="1000" b="0" i="0">
                <a:solidFill>
                  <a:srgbClr val="4A4A4A"/>
                </a:solidFill>
                <a:latin typeface="Calibri"/>
              </a:defRPr>
            </a:pPr>
            <a:r>
              <a:t>Led a team and presented a wellness wearable concept at the 3 Day Startup competition.</a:t>
            </a:r>
          </a:p>
        </p:txBody>
      </p:sp>
      <p:sp>
        <p:nvSpPr>
          <p:cNvPr id="53" name="Rectangle 52"/>
          <p:cNvSpPr/>
          <p:nvPr/>
        </p:nvSpPr>
        <p:spPr>
          <a:xfrm>
            <a:off x="731520" y="356616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40080" y="3749039"/>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05840" y="3703320"/>
            <a:ext cx="4114800" cy="274320"/>
          </a:xfrm>
          <a:prstGeom prst="rect">
            <a:avLst/>
          </a:prstGeom>
          <a:noFill/>
        </p:spPr>
        <p:txBody>
          <a:bodyPr wrap="square"/>
          <a:lstStyle/>
          <a:p>
            <a:pPr algn="l">
              <a:defRPr sz="1300" b="1" i="0">
                <a:solidFill>
                  <a:srgbClr val="1A1A1A"/>
                </a:solidFill>
                <a:latin typeface="Calibri"/>
              </a:defRPr>
            </a:pPr>
            <a:r>
              <a:t>Student Lecturer — Nano &amp; Multi-Agent Robotics</a:t>
            </a:r>
          </a:p>
        </p:txBody>
      </p:sp>
      <p:sp>
        <p:nvSpPr>
          <p:cNvPr id="56" name="TextBox 55"/>
          <p:cNvSpPr txBox="1"/>
          <p:nvPr/>
        </p:nvSpPr>
        <p:spPr>
          <a:xfrm>
            <a:off x="1005840" y="3950207"/>
            <a:ext cx="4114800" cy="228600"/>
          </a:xfrm>
          <a:prstGeom prst="rect">
            <a:avLst/>
          </a:prstGeom>
          <a:noFill/>
        </p:spPr>
        <p:txBody>
          <a:bodyPr wrap="square"/>
          <a:lstStyle/>
          <a:p>
            <a:pPr algn="l">
              <a:defRPr sz="900" b="1" i="0">
                <a:solidFill>
                  <a:srgbClr val="CC0011"/>
                </a:solidFill>
                <a:latin typeface="Calibri"/>
              </a:defRPr>
            </a:pPr>
            <a:r>
              <a:t>LECTURER — BANGKOK PATANA SCHOOL  ·  2013</a:t>
            </a:r>
          </a:p>
        </p:txBody>
      </p:sp>
      <p:sp>
        <p:nvSpPr>
          <p:cNvPr id="57" name="TextBox 56"/>
          <p:cNvSpPr txBox="1"/>
          <p:nvPr/>
        </p:nvSpPr>
        <p:spPr>
          <a:xfrm>
            <a:off x="5486400" y="3703320"/>
            <a:ext cx="6217920" cy="731520"/>
          </a:xfrm>
          <a:prstGeom prst="rect">
            <a:avLst/>
          </a:prstGeom>
          <a:noFill/>
        </p:spPr>
        <p:txBody>
          <a:bodyPr wrap="square"/>
          <a:lstStyle/>
          <a:p>
            <a:pPr algn="l">
              <a:lnSpc>
                <a:spcPts val="1500"/>
              </a:lnSpc>
              <a:defRPr sz="1000" b="0" i="0">
                <a:solidFill>
                  <a:srgbClr val="4A4A4A"/>
                </a:solidFill>
                <a:latin typeface="Calibri"/>
              </a:defRPr>
            </a:pPr>
            <a:r>
              <a:t>Delivered a student lecture on nano robotics and multi-agent robotic systems to peers and faculty.</a:t>
            </a:r>
          </a:p>
        </p:txBody>
      </p:sp>
      <p:sp>
        <p:nvSpPr>
          <p:cNvPr id="58" name="Rectangle 57"/>
          <p:cNvSpPr/>
          <p:nvPr/>
        </p:nvSpPr>
        <p:spPr>
          <a:xfrm>
            <a:off x="731520" y="466344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40080" y="484632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5840" y="4800600"/>
            <a:ext cx="4114800" cy="274320"/>
          </a:xfrm>
          <a:prstGeom prst="rect">
            <a:avLst/>
          </a:prstGeom>
          <a:noFill/>
        </p:spPr>
        <p:txBody>
          <a:bodyPr wrap="square"/>
          <a:lstStyle/>
          <a:p>
            <a:pPr algn="l">
              <a:defRPr sz="1300" b="1" i="0">
                <a:solidFill>
                  <a:srgbClr val="1A1A1A"/>
                </a:solidFill>
                <a:latin typeface="Calibri"/>
              </a:defRPr>
            </a:pPr>
            <a:r>
              <a:t>TechEx Student Speaker 2011</a:t>
            </a:r>
          </a:p>
        </p:txBody>
      </p:sp>
      <p:sp>
        <p:nvSpPr>
          <p:cNvPr id="61" name="TextBox 60"/>
          <p:cNvSpPr txBox="1"/>
          <p:nvPr/>
        </p:nvSpPr>
        <p:spPr>
          <a:xfrm>
            <a:off x="1005840" y="5047488"/>
            <a:ext cx="4114800" cy="228600"/>
          </a:xfrm>
          <a:prstGeom prst="rect">
            <a:avLst/>
          </a:prstGeom>
          <a:noFill/>
        </p:spPr>
        <p:txBody>
          <a:bodyPr wrap="square"/>
          <a:lstStyle/>
          <a:p>
            <a:pPr algn="l">
              <a:defRPr sz="900" b="1" i="0">
                <a:solidFill>
                  <a:srgbClr val="CC0011"/>
                </a:solidFill>
                <a:latin typeface="Calibri"/>
              </a:defRPr>
            </a:pPr>
            <a:r>
              <a:t>STUDENT SPEAKER — BANGKOK PATANA SCHOOL  ·  AGE 18</a:t>
            </a:r>
          </a:p>
        </p:txBody>
      </p:sp>
      <p:sp>
        <p:nvSpPr>
          <p:cNvPr id="62" name="TextBox 61"/>
          <p:cNvSpPr txBox="1"/>
          <p:nvPr/>
        </p:nvSpPr>
        <p:spPr>
          <a:xfrm>
            <a:off x="5486400" y="4800600"/>
            <a:ext cx="6217920" cy="731520"/>
          </a:xfrm>
          <a:prstGeom prst="rect">
            <a:avLst/>
          </a:prstGeom>
          <a:noFill/>
        </p:spPr>
        <p:txBody>
          <a:bodyPr wrap="square"/>
          <a:lstStyle/>
          <a:p>
            <a:pPr algn="l">
              <a:lnSpc>
                <a:spcPts val="1500"/>
              </a:lnSpc>
              <a:defRPr sz="1000" b="0" i="0">
                <a:solidFill>
                  <a:srgbClr val="4A4A4A"/>
                </a:solidFill>
                <a:latin typeface="Calibri"/>
              </a:defRPr>
            </a:pPr>
            <a:r>
              <a:t>During the 2011 Bangkok floods, proposed an AR-enhanced virtual classroom where students could attend school remotely. Presented at his own school's TechEx event — solving a real crisis with emerging technology at age 18.</a:t>
            </a:r>
          </a:p>
        </p:txBody>
      </p:sp>
      <p:sp>
        <p:nvSpPr>
          <p:cNvPr id="63" name="Rectangle 62"/>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66" name="TextBox 65"/>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0"/>
            <a:ext cx="12191695" cy="54864"/>
          </a:xfrm>
          <a:prstGeom prst="rect">
            <a:avLst/>
          </a:prstGeom>
          <a:solidFill>
            <a:srgbClr val="F0B9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365760"/>
            <a:ext cx="5486400" cy="274320"/>
          </a:xfrm>
          <a:prstGeom prst="rect">
            <a:avLst/>
          </a:prstGeom>
          <a:noFill/>
        </p:spPr>
        <p:txBody>
          <a:bodyPr wrap="square"/>
          <a:lstStyle/>
          <a:p>
            <a:pPr algn="l">
              <a:defRPr sz="1000" b="1" i="0">
                <a:solidFill>
                  <a:srgbClr val="555555"/>
                </a:solidFill>
                <a:latin typeface="Calibri"/>
              </a:defRPr>
            </a:pPr>
            <a:r>
              <a:t>19  —  PANEL SPEAKER</a:t>
            </a:r>
          </a:p>
        </p:txBody>
      </p:sp>
      <p:sp>
        <p:nvSpPr>
          <p:cNvPr id="42" name="TextBox 41"/>
          <p:cNvSpPr txBox="1"/>
          <p:nvPr/>
        </p:nvSpPr>
        <p:spPr>
          <a:xfrm>
            <a:off x="731520" y="731520"/>
            <a:ext cx="9144000" cy="594360"/>
          </a:xfrm>
          <a:prstGeom prst="rect">
            <a:avLst/>
          </a:prstGeom>
          <a:noFill/>
        </p:spPr>
        <p:txBody>
          <a:bodyPr wrap="square"/>
          <a:lstStyle/>
          <a:p>
            <a:pPr algn="l">
              <a:defRPr sz="4600" b="1" i="0">
                <a:solidFill>
                  <a:srgbClr val="FFFFFF"/>
                </a:solidFill>
                <a:latin typeface="Arial Black"/>
              </a:defRPr>
            </a:pPr>
            <a:r>
              <a:t>PostToday</a:t>
            </a:r>
          </a:p>
        </p:txBody>
      </p:sp>
      <p:sp>
        <p:nvSpPr>
          <p:cNvPr id="43" name="TextBox 42"/>
          <p:cNvSpPr txBox="1"/>
          <p:nvPr/>
        </p:nvSpPr>
        <p:spPr>
          <a:xfrm>
            <a:off x="731520" y="1371600"/>
            <a:ext cx="9144000" cy="457200"/>
          </a:xfrm>
          <a:prstGeom prst="rect">
            <a:avLst/>
          </a:prstGeom>
          <a:noFill/>
        </p:spPr>
        <p:txBody>
          <a:bodyPr wrap="square"/>
          <a:lstStyle/>
          <a:p>
            <a:pPr algn="l">
              <a:defRPr sz="2800" b="1" i="0">
                <a:solidFill>
                  <a:srgbClr val="F0B90B"/>
                </a:solidFill>
                <a:latin typeface="Arial Black"/>
              </a:defRPr>
            </a:pPr>
            <a:r>
              <a:t>Cryptocurrency Forum 2021</a:t>
            </a:r>
          </a:p>
        </p:txBody>
      </p:sp>
      <p:sp>
        <p:nvSpPr>
          <p:cNvPr id="44" name="Rectangle 43"/>
          <p:cNvSpPr/>
          <p:nvPr/>
        </p:nvSpPr>
        <p:spPr>
          <a:xfrm>
            <a:off x="731520" y="196596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2194560"/>
            <a:ext cx="6583680" cy="822960"/>
          </a:xfrm>
          <a:prstGeom prst="rect">
            <a:avLst/>
          </a:prstGeom>
          <a:noFill/>
        </p:spPr>
        <p:txBody>
          <a:bodyPr wrap="square"/>
          <a:lstStyle/>
          <a:p>
            <a:pPr algn="l">
              <a:lnSpc>
                <a:spcPts val="2100"/>
              </a:lnSpc>
              <a:defRPr sz="1300" b="0" i="0">
                <a:solidFill>
                  <a:srgbClr val="BBBBBB"/>
                </a:solidFill>
                <a:latin typeface="Calibri"/>
              </a:defRPr>
            </a:pPr>
            <a:r>
              <a:t>Invited as a panelist at the Bangkok Post / PostToday Cryptocurrency Forum, representing Thonburi Health Group's Medical Utility Token project. The event was live-streamed by Bangkok Post to a national audience.</a:t>
            </a:r>
          </a:p>
        </p:txBody>
      </p:sp>
      <p:sp>
        <p:nvSpPr>
          <p:cNvPr id="46" name="TextBox 45"/>
          <p:cNvSpPr txBox="1"/>
          <p:nvPr/>
        </p:nvSpPr>
        <p:spPr>
          <a:xfrm>
            <a:off x="731520" y="3017520"/>
            <a:ext cx="6583680" cy="822960"/>
          </a:xfrm>
          <a:prstGeom prst="rect">
            <a:avLst/>
          </a:prstGeom>
          <a:noFill/>
        </p:spPr>
        <p:txBody>
          <a:bodyPr wrap="square"/>
          <a:lstStyle/>
          <a:p>
            <a:pPr algn="l">
              <a:lnSpc>
                <a:spcPts val="1900"/>
              </a:lnSpc>
              <a:defRPr sz="1200" b="0" i="0">
                <a:solidFill>
                  <a:srgbClr val="888888"/>
                </a:solidFill>
                <a:latin typeface="Calibri"/>
              </a:defRPr>
            </a:pPr>
            <a:r>
              <a:t>Discussed the future of cryptocurrency in healthcare, blockchain for medical records, token economics for patient loyalty systems, and the vision for a utility token super app that would transform how patients interact with healthcare services.</a:t>
            </a:r>
          </a:p>
        </p:txBody>
      </p:sp>
      <p:sp>
        <p:nvSpPr>
          <p:cNvPr id="47" name="TextBox 46"/>
          <p:cNvSpPr txBox="1"/>
          <p:nvPr/>
        </p:nvSpPr>
        <p:spPr>
          <a:xfrm>
            <a:off x="731520" y="3840480"/>
            <a:ext cx="6583680" cy="731520"/>
          </a:xfrm>
          <a:prstGeom prst="rect">
            <a:avLst/>
          </a:prstGeom>
          <a:noFill/>
        </p:spPr>
        <p:txBody>
          <a:bodyPr wrap="square"/>
          <a:lstStyle/>
          <a:p>
            <a:pPr algn="l">
              <a:lnSpc>
                <a:spcPts val="1700"/>
              </a:lnSpc>
              <a:defRPr sz="1100" b="0" i="0">
                <a:solidFill>
                  <a:srgbClr val="666666"/>
                </a:solidFill>
                <a:latin typeface="Calibri"/>
              </a:defRPr>
            </a:pPr>
            <a:r>
              <a:t>As Project Director for THG's Medical Utility Token, presented the technical architecture and business model to an audience of crypto investors, healthcare executives, and technology leaders.</a:t>
            </a:r>
          </a:p>
        </p:txBody>
      </p:sp>
      <p:sp>
        <p:nvSpPr>
          <p:cNvPr id="48" name="Rectangle 47"/>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0" y="2231136"/>
            <a:ext cx="1371600" cy="182880"/>
          </a:xfrm>
          <a:prstGeom prst="rect">
            <a:avLst/>
          </a:prstGeom>
          <a:noFill/>
        </p:spPr>
        <p:txBody>
          <a:bodyPr wrap="square"/>
          <a:lstStyle/>
          <a:p>
            <a:pPr algn="l">
              <a:defRPr sz="800" b="1" i="0">
                <a:solidFill>
                  <a:srgbClr val="F0B90B"/>
                </a:solidFill>
                <a:latin typeface="Calibri"/>
              </a:defRPr>
            </a:pPr>
            <a:r>
              <a:t>EVENT</a:t>
            </a:r>
          </a:p>
        </p:txBody>
      </p:sp>
      <p:sp>
        <p:nvSpPr>
          <p:cNvPr id="50" name="TextBox 49"/>
          <p:cNvSpPr txBox="1"/>
          <p:nvPr/>
        </p:nvSpPr>
        <p:spPr>
          <a:xfrm>
            <a:off x="8046720" y="2395728"/>
            <a:ext cx="3474720" cy="219456"/>
          </a:xfrm>
          <a:prstGeom prst="rect">
            <a:avLst/>
          </a:prstGeom>
          <a:noFill/>
        </p:spPr>
        <p:txBody>
          <a:bodyPr wrap="square"/>
          <a:lstStyle/>
          <a:p>
            <a:pPr algn="l">
              <a:defRPr sz="1000" b="1" i="0">
                <a:solidFill>
                  <a:srgbClr val="FFFFFF"/>
                </a:solidFill>
                <a:latin typeface="Calibri"/>
              </a:defRPr>
            </a:pPr>
            <a:r>
              <a:t>PostToday Cryptocurrency Forum 2021</a:t>
            </a:r>
          </a:p>
        </p:txBody>
      </p:sp>
      <p:sp>
        <p:nvSpPr>
          <p:cNvPr id="51" name="Rectangle 50"/>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0" y="2779776"/>
            <a:ext cx="1371600" cy="182880"/>
          </a:xfrm>
          <a:prstGeom prst="rect">
            <a:avLst/>
          </a:prstGeom>
          <a:noFill/>
        </p:spPr>
        <p:txBody>
          <a:bodyPr wrap="square"/>
          <a:lstStyle/>
          <a:p>
            <a:pPr algn="l">
              <a:defRPr sz="800" b="1" i="0">
                <a:solidFill>
                  <a:srgbClr val="F0B90B"/>
                </a:solidFill>
                <a:latin typeface="Calibri"/>
              </a:defRPr>
            </a:pPr>
            <a:r>
              <a:t>ROLE</a:t>
            </a:r>
          </a:p>
        </p:txBody>
      </p:sp>
      <p:sp>
        <p:nvSpPr>
          <p:cNvPr id="53" name="TextBox 52"/>
          <p:cNvSpPr txBox="1"/>
          <p:nvPr/>
        </p:nvSpPr>
        <p:spPr>
          <a:xfrm>
            <a:off x="8046720" y="2944368"/>
            <a:ext cx="3474720" cy="219456"/>
          </a:xfrm>
          <a:prstGeom prst="rect">
            <a:avLst/>
          </a:prstGeom>
          <a:noFill/>
        </p:spPr>
        <p:txBody>
          <a:bodyPr wrap="square"/>
          <a:lstStyle/>
          <a:p>
            <a:pPr algn="l">
              <a:defRPr sz="1000" b="1" i="0">
                <a:solidFill>
                  <a:srgbClr val="FFFFFF"/>
                </a:solidFill>
                <a:latin typeface="Calibri"/>
              </a:defRPr>
            </a:pPr>
            <a:r>
              <a:t>Panel Speaker</a:t>
            </a:r>
          </a:p>
        </p:txBody>
      </p:sp>
      <p:sp>
        <p:nvSpPr>
          <p:cNvPr id="54" name="Rectangle 53"/>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46720" y="3328415"/>
            <a:ext cx="1371600" cy="182880"/>
          </a:xfrm>
          <a:prstGeom prst="rect">
            <a:avLst/>
          </a:prstGeom>
          <a:noFill/>
        </p:spPr>
        <p:txBody>
          <a:bodyPr wrap="square"/>
          <a:lstStyle/>
          <a:p>
            <a:pPr algn="l">
              <a:defRPr sz="800" b="1" i="0">
                <a:solidFill>
                  <a:srgbClr val="F0B90B"/>
                </a:solidFill>
                <a:latin typeface="Calibri"/>
              </a:defRPr>
            </a:pPr>
            <a:r>
              <a:t>REPRESENTING</a:t>
            </a:r>
          </a:p>
        </p:txBody>
      </p:sp>
      <p:sp>
        <p:nvSpPr>
          <p:cNvPr id="56" name="TextBox 55"/>
          <p:cNvSpPr txBox="1"/>
          <p:nvPr/>
        </p:nvSpPr>
        <p:spPr>
          <a:xfrm>
            <a:off x="8046720" y="3493008"/>
            <a:ext cx="3474720" cy="219456"/>
          </a:xfrm>
          <a:prstGeom prst="rect">
            <a:avLst/>
          </a:prstGeom>
          <a:noFill/>
        </p:spPr>
        <p:txBody>
          <a:bodyPr wrap="square"/>
          <a:lstStyle/>
          <a:p>
            <a:pPr algn="l">
              <a:defRPr sz="1000" b="1" i="0">
                <a:solidFill>
                  <a:srgbClr val="FFFFFF"/>
                </a:solidFill>
                <a:latin typeface="Calibri"/>
              </a:defRPr>
            </a:pPr>
            <a:r>
              <a:t>Thonburi Health Group (THG)</a:t>
            </a:r>
          </a:p>
        </p:txBody>
      </p:sp>
      <p:sp>
        <p:nvSpPr>
          <p:cNvPr id="57" name="Rectangle 56"/>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046720" y="3877055"/>
            <a:ext cx="1371600" cy="182880"/>
          </a:xfrm>
          <a:prstGeom prst="rect">
            <a:avLst/>
          </a:prstGeom>
          <a:noFill/>
        </p:spPr>
        <p:txBody>
          <a:bodyPr wrap="square"/>
          <a:lstStyle/>
          <a:p>
            <a:pPr algn="l">
              <a:defRPr sz="800" b="1" i="0">
                <a:solidFill>
                  <a:srgbClr val="F0B90B"/>
                </a:solidFill>
                <a:latin typeface="Calibri"/>
              </a:defRPr>
            </a:pPr>
            <a:r>
              <a:t>PROJECT</a:t>
            </a:r>
          </a:p>
        </p:txBody>
      </p:sp>
      <p:sp>
        <p:nvSpPr>
          <p:cNvPr id="59" name="TextBox 58"/>
          <p:cNvSpPr txBox="1"/>
          <p:nvPr/>
        </p:nvSpPr>
        <p:spPr>
          <a:xfrm>
            <a:off x="8046720" y="4041647"/>
            <a:ext cx="3474720" cy="219456"/>
          </a:xfrm>
          <a:prstGeom prst="rect">
            <a:avLst/>
          </a:prstGeom>
          <a:noFill/>
        </p:spPr>
        <p:txBody>
          <a:bodyPr wrap="square"/>
          <a:lstStyle/>
          <a:p>
            <a:pPr algn="l">
              <a:defRPr sz="1000" b="1" i="0">
                <a:solidFill>
                  <a:srgbClr val="FFFFFF"/>
                </a:solidFill>
                <a:latin typeface="Calibri"/>
              </a:defRPr>
            </a:pPr>
            <a:r>
              <a:t>Medical Utility Token</a:t>
            </a:r>
          </a:p>
        </p:txBody>
      </p:sp>
      <p:sp>
        <p:nvSpPr>
          <p:cNvPr id="60" name="Rectangle 59"/>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46720" y="4425696"/>
            <a:ext cx="1371600" cy="182880"/>
          </a:xfrm>
          <a:prstGeom prst="rect">
            <a:avLst/>
          </a:prstGeom>
          <a:noFill/>
        </p:spPr>
        <p:txBody>
          <a:bodyPr wrap="square"/>
          <a:lstStyle/>
          <a:p>
            <a:pPr algn="l">
              <a:defRPr sz="800" b="1" i="0">
                <a:solidFill>
                  <a:srgbClr val="F0B90B"/>
                </a:solidFill>
                <a:latin typeface="Calibri"/>
              </a:defRPr>
            </a:pPr>
            <a:r>
              <a:t>BROADCAST</a:t>
            </a:r>
          </a:p>
        </p:txBody>
      </p:sp>
      <p:sp>
        <p:nvSpPr>
          <p:cNvPr id="62" name="TextBox 61"/>
          <p:cNvSpPr txBox="1"/>
          <p:nvPr/>
        </p:nvSpPr>
        <p:spPr>
          <a:xfrm>
            <a:off x="8046720" y="4590288"/>
            <a:ext cx="3474720" cy="219456"/>
          </a:xfrm>
          <a:prstGeom prst="rect">
            <a:avLst/>
          </a:prstGeom>
          <a:noFill/>
        </p:spPr>
        <p:txBody>
          <a:bodyPr wrap="square"/>
          <a:lstStyle/>
          <a:p>
            <a:pPr algn="l">
              <a:defRPr sz="1000" b="1" i="0">
                <a:solidFill>
                  <a:srgbClr val="FFFFFF"/>
                </a:solidFill>
                <a:latin typeface="Calibri"/>
              </a:defRPr>
            </a:pPr>
            <a:r>
              <a:t>Live on Bangkok Post  ·  2,000-3,000 Live Viewers</a:t>
            </a:r>
          </a:p>
        </p:txBody>
      </p:sp>
      <p:sp>
        <p:nvSpPr>
          <p:cNvPr id="63" name="Rectangle 62"/>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46720" y="4974336"/>
            <a:ext cx="1371600" cy="182880"/>
          </a:xfrm>
          <a:prstGeom prst="rect">
            <a:avLst/>
          </a:prstGeom>
          <a:noFill/>
        </p:spPr>
        <p:txBody>
          <a:bodyPr wrap="square"/>
          <a:lstStyle/>
          <a:p>
            <a:pPr algn="l">
              <a:defRPr sz="800" b="1" i="0">
                <a:solidFill>
                  <a:srgbClr val="F0B90B"/>
                </a:solidFill>
                <a:latin typeface="Calibri"/>
              </a:defRPr>
            </a:pPr>
            <a:r>
              <a:t>TOPICS</a:t>
            </a:r>
          </a:p>
        </p:txBody>
      </p:sp>
      <p:sp>
        <p:nvSpPr>
          <p:cNvPr id="65" name="TextBox 64"/>
          <p:cNvSpPr txBox="1"/>
          <p:nvPr/>
        </p:nvSpPr>
        <p:spPr>
          <a:xfrm>
            <a:off x="8046720" y="5138928"/>
            <a:ext cx="3474720" cy="219456"/>
          </a:xfrm>
          <a:prstGeom prst="rect">
            <a:avLst/>
          </a:prstGeom>
          <a:noFill/>
        </p:spPr>
        <p:txBody>
          <a:bodyPr wrap="square"/>
          <a:lstStyle/>
          <a:p>
            <a:pPr algn="l">
              <a:defRPr sz="1000" b="1" i="0">
                <a:solidFill>
                  <a:srgbClr val="FFFFFF"/>
                </a:solidFill>
                <a:latin typeface="Calibri"/>
              </a:defRPr>
            </a:pPr>
            <a:r>
              <a:t>Blockchain · Healthcare · Token Economics</a:t>
            </a:r>
          </a:p>
        </p:txBody>
      </p:sp>
      <p:sp>
        <p:nvSpPr>
          <p:cNvPr id="66" name="Rectangle 65"/>
          <p:cNvSpPr/>
          <p:nvPr/>
        </p:nvSpPr>
        <p:spPr>
          <a:xfrm>
            <a:off x="731520" y="4754880"/>
            <a:ext cx="6583680" cy="10972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86000" y="4892040"/>
            <a:ext cx="3657600" cy="274320"/>
          </a:xfrm>
          <a:prstGeom prst="rect">
            <a:avLst/>
          </a:prstGeom>
          <a:noFill/>
        </p:spPr>
        <p:txBody>
          <a:bodyPr wrap="square"/>
          <a:lstStyle/>
          <a:p>
            <a:pPr algn="ctr">
              <a:defRPr sz="900" b="1" i="0">
                <a:solidFill>
                  <a:srgbClr val="F0B90B"/>
                </a:solidFill>
                <a:latin typeface="Calibri"/>
              </a:defRPr>
            </a:pPr>
            <a:r>
              <a:t>WATCH LIVE BROADCAST</a:t>
            </a:r>
          </a:p>
        </p:txBody>
      </p:sp>
      <p:sp>
        <p:nvSpPr>
          <p:cNvPr id="68" name="TextBox 67"/>
          <p:cNvSpPr txBox="1"/>
          <p:nvPr/>
        </p:nvSpPr>
        <p:spPr>
          <a:xfrm>
            <a:off x="2286000" y="5120640"/>
            <a:ext cx="3657600" cy="274320"/>
          </a:xfrm>
          <a:prstGeom prst="rect">
            <a:avLst/>
          </a:prstGeom>
          <a:noFill/>
        </p:spPr>
        <p:txBody>
          <a:bodyPr wrap="square"/>
          <a:lstStyle/>
          <a:p>
            <a:pPr algn="ctr">
              <a:defRPr sz="1200" b="1" i="0">
                <a:solidFill>
                  <a:srgbClr val="FFFFFF"/>
                </a:solidFill>
                <a:latin typeface="Calibri"/>
              </a:defRPr>
            </a:pPr>
            <a:r>
              <a:t>youtube.com/watch?v=Zdm3ES3LZi4</a:t>
            </a:r>
          </a:p>
        </p:txBody>
      </p:sp>
      <p:sp>
        <p:nvSpPr>
          <p:cNvPr id="69" name="TextBox 68"/>
          <p:cNvSpPr txBox="1"/>
          <p:nvPr/>
        </p:nvSpPr>
        <p:spPr>
          <a:xfrm>
            <a:off x="2286000" y="5440680"/>
            <a:ext cx="3657600" cy="274320"/>
          </a:xfrm>
          <a:prstGeom prst="rect">
            <a:avLst/>
          </a:prstGeom>
          <a:noFill/>
        </p:spPr>
        <p:txBody>
          <a:bodyPr wrap="square"/>
          <a:lstStyle/>
          <a:p>
            <a:pPr algn="ctr">
              <a:defRPr sz="900" b="0" i="0">
                <a:solidFill>
                  <a:srgbClr val="444444"/>
                </a:solidFill>
                <a:latin typeface="Calibri"/>
              </a:defRPr>
            </a:pPr>
            <a:r>
              <a:t>[ INSERT VIDEO STILL / SCREENSHOT ]</a:t>
            </a:r>
          </a:p>
        </p:txBody>
      </p:sp>
      <p:sp>
        <p:nvSpPr>
          <p:cNvPr id="70" name="Rectangle 69"/>
          <p:cNvSpPr/>
          <p:nvPr/>
        </p:nvSpPr>
        <p:spPr>
          <a:xfrm>
            <a:off x="731520" y="6035040"/>
            <a:ext cx="1097280"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20" y="6035040"/>
            <a:ext cx="1097280" cy="320040"/>
          </a:xfrm>
          <a:prstGeom prst="rect">
            <a:avLst/>
          </a:prstGeom>
          <a:noFill/>
        </p:spPr>
        <p:txBody>
          <a:bodyPr wrap="square"/>
          <a:lstStyle/>
          <a:p>
            <a:pPr algn="ctr">
              <a:defRPr sz="800" b="1" i="0">
                <a:solidFill>
                  <a:srgbClr val="F0B90B"/>
                </a:solidFill>
                <a:latin typeface="Calibri"/>
              </a:defRPr>
            </a:pPr>
            <a:r>
              <a:t>BLOCKCHAIN</a:t>
            </a:r>
          </a:p>
        </p:txBody>
      </p:sp>
      <p:sp>
        <p:nvSpPr>
          <p:cNvPr id="72" name="Rectangle 71"/>
          <p:cNvSpPr/>
          <p:nvPr/>
        </p:nvSpPr>
        <p:spPr>
          <a:xfrm>
            <a:off x="1965960" y="6035040"/>
            <a:ext cx="1426464"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965960" y="6035040"/>
            <a:ext cx="1426464" cy="320040"/>
          </a:xfrm>
          <a:prstGeom prst="rect">
            <a:avLst/>
          </a:prstGeom>
          <a:noFill/>
        </p:spPr>
        <p:txBody>
          <a:bodyPr wrap="square"/>
          <a:lstStyle/>
          <a:p>
            <a:pPr algn="ctr">
              <a:defRPr sz="800" b="1" i="0">
                <a:solidFill>
                  <a:srgbClr val="F0B90B"/>
                </a:solidFill>
                <a:latin typeface="Calibri"/>
              </a:defRPr>
            </a:pPr>
            <a:r>
              <a:t>CRYPTOCURRENCY</a:t>
            </a:r>
          </a:p>
        </p:txBody>
      </p:sp>
      <p:sp>
        <p:nvSpPr>
          <p:cNvPr id="74" name="Rectangle 73"/>
          <p:cNvSpPr/>
          <p:nvPr/>
        </p:nvSpPr>
        <p:spPr>
          <a:xfrm>
            <a:off x="3529584" y="6035040"/>
            <a:ext cx="1097280"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529584" y="6035040"/>
            <a:ext cx="1097280" cy="320040"/>
          </a:xfrm>
          <a:prstGeom prst="rect">
            <a:avLst/>
          </a:prstGeom>
          <a:noFill/>
        </p:spPr>
        <p:txBody>
          <a:bodyPr wrap="square"/>
          <a:lstStyle/>
          <a:p>
            <a:pPr algn="ctr">
              <a:defRPr sz="800" b="1" i="0">
                <a:solidFill>
                  <a:srgbClr val="F0B90B"/>
                </a:solidFill>
                <a:latin typeface="Calibri"/>
              </a:defRPr>
            </a:pPr>
            <a:r>
              <a:t>HEALTHCARE</a:t>
            </a:r>
          </a:p>
        </p:txBody>
      </p:sp>
      <p:sp>
        <p:nvSpPr>
          <p:cNvPr id="76" name="Rectangle 75"/>
          <p:cNvSpPr/>
          <p:nvPr/>
        </p:nvSpPr>
        <p:spPr>
          <a:xfrm>
            <a:off x="4764024" y="6035040"/>
            <a:ext cx="1344168"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764024" y="6035040"/>
            <a:ext cx="1344168" cy="320040"/>
          </a:xfrm>
          <a:prstGeom prst="rect">
            <a:avLst/>
          </a:prstGeom>
          <a:noFill/>
        </p:spPr>
        <p:txBody>
          <a:bodyPr wrap="square"/>
          <a:lstStyle/>
          <a:p>
            <a:pPr algn="ctr">
              <a:defRPr sz="800" b="1" i="0">
                <a:solidFill>
                  <a:srgbClr val="F0B90B"/>
                </a:solidFill>
                <a:latin typeface="Calibri"/>
              </a:defRPr>
            </a:pPr>
            <a:r>
              <a:t>PANEL SPEAKER</a:t>
            </a:r>
          </a:p>
        </p:txBody>
      </p:sp>
      <p:sp>
        <p:nvSpPr>
          <p:cNvPr id="78" name="Rectangle 77"/>
          <p:cNvSpPr/>
          <p:nvPr/>
        </p:nvSpPr>
        <p:spPr>
          <a:xfrm>
            <a:off x="6245352" y="6035040"/>
            <a:ext cx="1426464"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45352" y="6035040"/>
            <a:ext cx="1426464" cy="320040"/>
          </a:xfrm>
          <a:prstGeom prst="rect">
            <a:avLst/>
          </a:prstGeom>
          <a:noFill/>
        </p:spPr>
        <p:txBody>
          <a:bodyPr wrap="square"/>
          <a:lstStyle/>
          <a:p>
            <a:pPr algn="ctr">
              <a:defRPr sz="800" b="1" i="0">
                <a:solidFill>
                  <a:srgbClr val="F0B90B"/>
                </a:solidFill>
                <a:latin typeface="Calibri"/>
              </a:defRPr>
            </a:pPr>
            <a:r>
              <a:t>LIVE BROADCAST</a:t>
            </a:r>
          </a:p>
        </p:txBody>
      </p:sp>
      <p:sp>
        <p:nvSpPr>
          <p:cNvPr id="80" name="Rectangle 79"/>
          <p:cNvSpPr/>
          <p:nvPr/>
        </p:nvSpPr>
        <p:spPr>
          <a:xfrm>
            <a:off x="0" y="6803136"/>
            <a:ext cx="12191695" cy="54864"/>
          </a:xfrm>
          <a:prstGeom prst="rect">
            <a:avLst/>
          </a:prstGeom>
          <a:solidFill>
            <a:srgbClr val="F0B9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40080" y="6446520"/>
            <a:ext cx="365760" cy="1828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51560" y="6446520"/>
            <a:ext cx="1046988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 y="6537959"/>
            <a:ext cx="4572000" cy="228600"/>
          </a:xfrm>
          <a:prstGeom prst="rect">
            <a:avLst/>
          </a:prstGeom>
          <a:noFill/>
        </p:spPr>
        <p:txBody>
          <a:bodyPr wrap="square"/>
          <a:lstStyle/>
          <a:p>
            <a:pPr algn="l">
              <a:defRPr sz="800" b="1" i="0">
                <a:solidFill>
                  <a:srgbClr val="555555"/>
                </a:solidFill>
                <a:latin typeface="Calibri"/>
              </a:defRPr>
            </a:pPr>
            <a:r>
              <a:t>AUGMA IMAGINARIUM  |  PRESS KIT 2026</a:t>
            </a:r>
          </a:p>
        </p:txBody>
      </p:sp>
      <p:sp>
        <p:nvSpPr>
          <p:cNvPr id="84" name="TextBox 83"/>
          <p:cNvSpPr txBox="1"/>
          <p:nvPr/>
        </p:nvSpPr>
        <p:spPr>
          <a:xfrm>
            <a:off x="8321040" y="6537959"/>
            <a:ext cx="3200400" cy="228600"/>
          </a:xfrm>
          <a:prstGeom prst="rect">
            <a:avLst/>
          </a:prstGeom>
          <a:noFill/>
        </p:spPr>
        <p:txBody>
          <a:bodyPr wrap="square"/>
          <a:lstStyle/>
          <a:p>
            <a:pPr algn="r">
              <a:defRPr sz="800" b="0" i="0">
                <a:solidFill>
                  <a:srgbClr val="555555"/>
                </a:solidFill>
                <a:latin typeface="Calibri"/>
              </a:defRPr>
            </a:pPr>
            <a:r>
              <a:t>mlhariras.tongyai@gmail.com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20  —  BACHELOR'S PROJECT — AWARD-WINNING RESEARCH</a:t>
            </a:r>
          </a:p>
        </p:txBody>
      </p:sp>
      <p:sp>
        <p:nvSpPr>
          <p:cNvPr id="41" name="Rectangle 40"/>
          <p:cNvSpPr/>
          <p:nvPr/>
        </p:nvSpPr>
        <p:spPr>
          <a:xfrm>
            <a:off x="731520" y="685800"/>
            <a:ext cx="274320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02920"/>
          </a:xfrm>
          <a:prstGeom prst="rect">
            <a:avLst/>
          </a:prstGeom>
          <a:noFill/>
        </p:spPr>
        <p:txBody>
          <a:bodyPr wrap="square"/>
          <a:lstStyle/>
          <a:p>
            <a:pPr algn="l">
              <a:defRPr sz="4000" b="1" i="0">
                <a:solidFill>
                  <a:srgbClr val="1A1A1A"/>
                </a:solidFill>
                <a:latin typeface="Arial Black"/>
              </a:defRPr>
            </a:pPr>
            <a:r>
              <a:t>Hyperloop for Thailand</a:t>
            </a:r>
          </a:p>
        </p:txBody>
      </p:sp>
      <p:sp>
        <p:nvSpPr>
          <p:cNvPr id="43" name="TextBox 42"/>
          <p:cNvSpPr txBox="1"/>
          <p:nvPr/>
        </p:nvSpPr>
        <p:spPr>
          <a:xfrm>
            <a:off x="731520" y="1325880"/>
            <a:ext cx="9144000" cy="457200"/>
          </a:xfrm>
          <a:prstGeom prst="rect">
            <a:avLst/>
          </a:prstGeom>
          <a:noFill/>
        </p:spPr>
        <p:txBody>
          <a:bodyPr wrap="square"/>
          <a:lstStyle/>
          <a:p>
            <a:pPr algn="l">
              <a:defRPr sz="2000" b="1" i="0">
                <a:solidFill>
                  <a:srgbClr val="00337A"/>
                </a:solidFill>
                <a:latin typeface="Arial Black"/>
              </a:defRPr>
            </a:pPr>
            <a:r>
              <a:t>Innovation Award — Imperial College London</a:t>
            </a:r>
          </a:p>
        </p:txBody>
      </p:sp>
      <p:sp>
        <p:nvSpPr>
          <p:cNvPr id="44" name="TextBox 43"/>
          <p:cNvSpPr txBox="1"/>
          <p:nvPr/>
        </p:nvSpPr>
        <p:spPr>
          <a:xfrm>
            <a:off x="731520" y="1828800"/>
            <a:ext cx="9144000" cy="274320"/>
          </a:xfrm>
          <a:prstGeom prst="rect">
            <a:avLst/>
          </a:prstGeom>
          <a:noFill/>
        </p:spPr>
        <p:txBody>
          <a:bodyPr wrap="square"/>
          <a:lstStyle/>
          <a:p>
            <a:pPr algn="l">
              <a:defRPr sz="1100" b="0" i="0">
                <a:solidFill>
                  <a:srgbClr val="888580"/>
                </a:solidFill>
                <a:latin typeface="Calibri"/>
              </a:defRPr>
            </a:pPr>
            <a:r>
              <a:t>SAMAGGI ACADEMIC CONFERENCE 2017  —  ROYAL THAI EMBASSY LONDON</a:t>
            </a:r>
          </a:p>
        </p:txBody>
      </p:sp>
      <p:sp>
        <p:nvSpPr>
          <p:cNvPr id="45" name="Rectangle 44"/>
          <p:cNvSpPr/>
          <p:nvPr/>
        </p:nvSpPr>
        <p:spPr>
          <a:xfrm>
            <a:off x="640080" y="2286000"/>
            <a:ext cx="5486400" cy="3200400"/>
          </a:xfrm>
          <a:prstGeom prst="rect">
            <a:avLst/>
          </a:prstGeom>
          <a:solidFill>
            <a:srgbClr val="E8E5E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71600" y="3474720"/>
            <a:ext cx="4114800" cy="457200"/>
          </a:xfrm>
          <a:prstGeom prst="rect">
            <a:avLst/>
          </a:prstGeom>
          <a:noFill/>
        </p:spPr>
        <p:txBody>
          <a:bodyPr wrap="square"/>
          <a:lstStyle/>
          <a:p>
            <a:pPr algn="ctr">
              <a:defRPr sz="1200" b="0" i="0">
                <a:solidFill>
                  <a:srgbClr val="AAA7A2"/>
                </a:solidFill>
                <a:latin typeface="Calibri"/>
              </a:defRPr>
            </a:pPr>
            <a:r>
              <a:t>[ INSERT HYPERLOOP PRESENTATION PHOTO ]</a:t>
            </a:r>
          </a:p>
        </p:txBody>
      </p:sp>
      <p:sp>
        <p:nvSpPr>
          <p:cNvPr id="47" name="TextBox 46"/>
          <p:cNvSpPr txBox="1"/>
          <p:nvPr/>
        </p:nvSpPr>
        <p:spPr>
          <a:xfrm>
            <a:off x="6583680" y="2286000"/>
            <a:ext cx="5029200" cy="914400"/>
          </a:xfrm>
          <a:prstGeom prst="rect">
            <a:avLst/>
          </a:prstGeom>
          <a:noFill/>
        </p:spPr>
        <p:txBody>
          <a:bodyPr wrap="square"/>
          <a:lstStyle/>
          <a:p>
            <a:pPr algn="l">
              <a:lnSpc>
                <a:spcPts val="1900"/>
              </a:lnSpc>
              <a:defRPr sz="1200" b="0" i="0">
                <a:solidFill>
                  <a:srgbClr val="4A4A4A"/>
                </a:solidFill>
                <a:latin typeface="Calibri"/>
              </a:defRPr>
            </a:pPr>
            <a:r>
              <a:t>Bachelor's project built upon Elon Musk's open-source Hyperloop Alpha white paper (2013), adapted for Thailand. The core idea: if people could travel from Bangkok to Phuket or Chiang Mai within 40 minutes, resources and development would spread beyond the capital. People could live anywhere and still access opportunity. Presented to 100+ at Imperial College London.</a:t>
            </a:r>
          </a:p>
        </p:txBody>
      </p:sp>
      <p:sp>
        <p:nvSpPr>
          <p:cNvPr id="48" name="TextBox 47"/>
          <p:cNvSpPr txBox="1"/>
          <p:nvPr/>
        </p:nvSpPr>
        <p:spPr>
          <a:xfrm>
            <a:off x="6583680" y="3246120"/>
            <a:ext cx="5029200" cy="640080"/>
          </a:xfrm>
          <a:prstGeom prst="rect">
            <a:avLst/>
          </a:prstGeom>
          <a:noFill/>
        </p:spPr>
        <p:txBody>
          <a:bodyPr wrap="square"/>
          <a:lstStyle/>
          <a:p>
            <a:pPr algn="l">
              <a:lnSpc>
                <a:spcPts val="1900"/>
              </a:lnSpc>
              <a:defRPr sz="1200" b="0" i="0">
                <a:solidFill>
                  <a:srgbClr val="4A4A4A"/>
                </a:solidFill>
                <a:latin typeface="Calibri"/>
              </a:defRPr>
            </a:pPr>
            <a:r>
              <a:t>Received the Highly Commended Prize (Innovation Award) from the Royal Thai Embassy London — recognising the research's vision to decentralise Thailand's development through high-speed transit.</a:t>
            </a:r>
          </a:p>
        </p:txBody>
      </p:sp>
      <p:sp>
        <p:nvSpPr>
          <p:cNvPr id="49" name="Rectangle 48"/>
          <p:cNvSpPr/>
          <p:nvPr/>
        </p:nvSpPr>
        <p:spPr>
          <a:xfrm>
            <a:off x="6583680" y="3931920"/>
            <a:ext cx="4846320" cy="329184"/>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66560" y="3968496"/>
            <a:ext cx="1645920" cy="182880"/>
          </a:xfrm>
          <a:prstGeom prst="rect">
            <a:avLst/>
          </a:prstGeom>
          <a:noFill/>
        </p:spPr>
        <p:txBody>
          <a:bodyPr wrap="square"/>
          <a:lstStyle/>
          <a:p>
            <a:pPr algn="l">
              <a:defRPr sz="800" b="1" i="0">
                <a:solidFill>
                  <a:srgbClr val="00337A"/>
                </a:solidFill>
                <a:latin typeface="Calibri"/>
              </a:defRPr>
            </a:pPr>
            <a:r>
              <a:t>VENUE</a:t>
            </a:r>
          </a:p>
        </p:txBody>
      </p:sp>
      <p:sp>
        <p:nvSpPr>
          <p:cNvPr id="51" name="TextBox 50"/>
          <p:cNvSpPr txBox="1"/>
          <p:nvPr/>
        </p:nvSpPr>
        <p:spPr>
          <a:xfrm>
            <a:off x="8412480" y="3968496"/>
            <a:ext cx="2834640" cy="182880"/>
          </a:xfrm>
          <a:prstGeom prst="rect">
            <a:avLst/>
          </a:prstGeom>
          <a:noFill/>
        </p:spPr>
        <p:txBody>
          <a:bodyPr wrap="square"/>
          <a:lstStyle/>
          <a:p>
            <a:pPr algn="l">
              <a:defRPr sz="1000" b="1" i="0">
                <a:solidFill>
                  <a:srgbClr val="1A1A1A"/>
                </a:solidFill>
                <a:latin typeface="Calibri"/>
              </a:defRPr>
            </a:pPr>
            <a:r>
              <a:t>Imperial College London</a:t>
            </a:r>
          </a:p>
        </p:txBody>
      </p:sp>
      <p:sp>
        <p:nvSpPr>
          <p:cNvPr id="52" name="Rectangle 51"/>
          <p:cNvSpPr/>
          <p:nvPr/>
        </p:nvSpPr>
        <p:spPr>
          <a:xfrm>
            <a:off x="6583680" y="4315968"/>
            <a:ext cx="4846320" cy="329184"/>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66560" y="4352544"/>
            <a:ext cx="1645920" cy="182880"/>
          </a:xfrm>
          <a:prstGeom prst="rect">
            <a:avLst/>
          </a:prstGeom>
          <a:noFill/>
        </p:spPr>
        <p:txBody>
          <a:bodyPr wrap="square"/>
          <a:lstStyle/>
          <a:p>
            <a:pPr algn="l">
              <a:defRPr sz="800" b="1" i="0">
                <a:solidFill>
                  <a:srgbClr val="00337A"/>
                </a:solidFill>
                <a:latin typeface="Calibri"/>
              </a:defRPr>
            </a:pPr>
            <a:r>
              <a:t>AUDIENCE</a:t>
            </a:r>
          </a:p>
        </p:txBody>
      </p:sp>
      <p:sp>
        <p:nvSpPr>
          <p:cNvPr id="54" name="TextBox 53"/>
          <p:cNvSpPr txBox="1"/>
          <p:nvPr/>
        </p:nvSpPr>
        <p:spPr>
          <a:xfrm>
            <a:off x="8412480" y="4352544"/>
            <a:ext cx="2834640" cy="182880"/>
          </a:xfrm>
          <a:prstGeom prst="rect">
            <a:avLst/>
          </a:prstGeom>
          <a:noFill/>
        </p:spPr>
        <p:txBody>
          <a:bodyPr wrap="square"/>
          <a:lstStyle/>
          <a:p>
            <a:pPr algn="l">
              <a:defRPr sz="1000" b="1" i="0">
                <a:solidFill>
                  <a:srgbClr val="1A1A1A"/>
                </a:solidFill>
                <a:latin typeface="Calibri"/>
              </a:defRPr>
            </a:pPr>
            <a:r>
              <a:t>100+ Attendees</a:t>
            </a:r>
          </a:p>
        </p:txBody>
      </p:sp>
      <p:sp>
        <p:nvSpPr>
          <p:cNvPr id="55" name="Rectangle 54"/>
          <p:cNvSpPr/>
          <p:nvPr/>
        </p:nvSpPr>
        <p:spPr>
          <a:xfrm>
            <a:off x="6583680" y="4700016"/>
            <a:ext cx="4846320" cy="329184"/>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66560" y="4736592"/>
            <a:ext cx="1645920" cy="182880"/>
          </a:xfrm>
          <a:prstGeom prst="rect">
            <a:avLst/>
          </a:prstGeom>
          <a:noFill/>
        </p:spPr>
        <p:txBody>
          <a:bodyPr wrap="square"/>
          <a:lstStyle/>
          <a:p>
            <a:pPr algn="l">
              <a:defRPr sz="800" b="1" i="0">
                <a:solidFill>
                  <a:srgbClr val="00337A"/>
                </a:solidFill>
                <a:latin typeface="Calibri"/>
              </a:defRPr>
            </a:pPr>
            <a:r>
              <a:t>AWARD</a:t>
            </a:r>
          </a:p>
        </p:txBody>
      </p:sp>
      <p:sp>
        <p:nvSpPr>
          <p:cNvPr id="57" name="TextBox 56"/>
          <p:cNvSpPr txBox="1"/>
          <p:nvPr/>
        </p:nvSpPr>
        <p:spPr>
          <a:xfrm>
            <a:off x="8412480" y="4736592"/>
            <a:ext cx="2834640" cy="182880"/>
          </a:xfrm>
          <a:prstGeom prst="rect">
            <a:avLst/>
          </a:prstGeom>
          <a:noFill/>
        </p:spPr>
        <p:txBody>
          <a:bodyPr wrap="square"/>
          <a:lstStyle/>
          <a:p>
            <a:pPr algn="l">
              <a:defRPr sz="1000" b="1" i="0">
                <a:solidFill>
                  <a:srgbClr val="1A1A1A"/>
                </a:solidFill>
                <a:latin typeface="Calibri"/>
              </a:defRPr>
            </a:pPr>
            <a:r>
              <a:t>Highly Commended Prize</a:t>
            </a:r>
          </a:p>
        </p:txBody>
      </p:sp>
      <p:sp>
        <p:nvSpPr>
          <p:cNvPr id="58" name="Rectangle 57"/>
          <p:cNvSpPr/>
          <p:nvPr/>
        </p:nvSpPr>
        <p:spPr>
          <a:xfrm>
            <a:off x="6583680" y="5084064"/>
            <a:ext cx="4846320" cy="329184"/>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766560" y="5120640"/>
            <a:ext cx="1645920" cy="182880"/>
          </a:xfrm>
          <a:prstGeom prst="rect">
            <a:avLst/>
          </a:prstGeom>
          <a:noFill/>
        </p:spPr>
        <p:txBody>
          <a:bodyPr wrap="square"/>
          <a:lstStyle/>
          <a:p>
            <a:pPr algn="l">
              <a:defRPr sz="800" b="1" i="0">
                <a:solidFill>
                  <a:srgbClr val="00337A"/>
                </a:solidFill>
                <a:latin typeface="Calibri"/>
              </a:defRPr>
            </a:pPr>
            <a:r>
              <a:t>PRESENTED BY</a:t>
            </a:r>
          </a:p>
        </p:txBody>
      </p:sp>
      <p:sp>
        <p:nvSpPr>
          <p:cNvPr id="60" name="TextBox 59"/>
          <p:cNvSpPr txBox="1"/>
          <p:nvPr/>
        </p:nvSpPr>
        <p:spPr>
          <a:xfrm>
            <a:off x="8412480" y="5120640"/>
            <a:ext cx="2834640" cy="182880"/>
          </a:xfrm>
          <a:prstGeom prst="rect">
            <a:avLst/>
          </a:prstGeom>
          <a:noFill/>
        </p:spPr>
        <p:txBody>
          <a:bodyPr wrap="square"/>
          <a:lstStyle/>
          <a:p>
            <a:pPr algn="l">
              <a:defRPr sz="1000" b="1" i="0">
                <a:solidFill>
                  <a:srgbClr val="1A1A1A"/>
                </a:solidFill>
                <a:latin typeface="Calibri"/>
              </a:defRPr>
            </a:pPr>
            <a:r>
              <a:t>Royal Thai Embassy London</a:t>
            </a:r>
          </a:p>
        </p:txBody>
      </p:sp>
      <p:sp>
        <p:nvSpPr>
          <p:cNvPr id="61" name="Rectangle 60"/>
          <p:cNvSpPr/>
          <p:nvPr/>
        </p:nvSpPr>
        <p:spPr>
          <a:xfrm>
            <a:off x="6583680" y="5468112"/>
            <a:ext cx="4846320" cy="329184"/>
          </a:xfrm>
          <a:prstGeom prst="rect">
            <a:avLst/>
          </a:prstGeom>
          <a:solidFill>
            <a:srgbClr val="F5F3F0"/>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66560" y="5504688"/>
            <a:ext cx="1645920" cy="182880"/>
          </a:xfrm>
          <a:prstGeom prst="rect">
            <a:avLst/>
          </a:prstGeom>
          <a:noFill/>
        </p:spPr>
        <p:txBody>
          <a:bodyPr wrap="square"/>
          <a:lstStyle/>
          <a:p>
            <a:pPr algn="l">
              <a:defRPr sz="800" b="1" i="0">
                <a:solidFill>
                  <a:srgbClr val="00337A"/>
                </a:solidFill>
                <a:latin typeface="Calibri"/>
              </a:defRPr>
            </a:pPr>
            <a:r>
              <a:t>ORGANISER</a:t>
            </a:r>
          </a:p>
        </p:txBody>
      </p:sp>
      <p:sp>
        <p:nvSpPr>
          <p:cNvPr id="63" name="TextBox 62"/>
          <p:cNvSpPr txBox="1"/>
          <p:nvPr/>
        </p:nvSpPr>
        <p:spPr>
          <a:xfrm>
            <a:off x="8412480" y="5504688"/>
            <a:ext cx="2834640" cy="182880"/>
          </a:xfrm>
          <a:prstGeom prst="rect">
            <a:avLst/>
          </a:prstGeom>
          <a:noFill/>
        </p:spPr>
        <p:txBody>
          <a:bodyPr wrap="square"/>
          <a:lstStyle/>
          <a:p>
            <a:pPr algn="l">
              <a:defRPr sz="1000" b="1" i="0">
                <a:solidFill>
                  <a:srgbClr val="1A1A1A"/>
                </a:solidFill>
                <a:latin typeface="Calibri"/>
              </a:defRPr>
            </a:pPr>
            <a:r>
              <a:t>Samaggi Samagom (SACC)</a:t>
            </a:r>
          </a:p>
        </p:txBody>
      </p:sp>
      <p:sp>
        <p:nvSpPr>
          <p:cNvPr id="64" name="Rectangle 63"/>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67" name="TextBox 66"/>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19  —  CLIMBING TECH</a:t>
            </a:r>
          </a:p>
        </p:txBody>
      </p:sp>
      <p:sp>
        <p:nvSpPr>
          <p:cNvPr id="41" name="Rectangle 40"/>
          <p:cNvSpPr/>
          <p:nvPr/>
        </p:nvSpPr>
        <p:spPr>
          <a:xfrm>
            <a:off x="731520" y="685800"/>
            <a:ext cx="118872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02920"/>
          </a:xfrm>
          <a:prstGeom prst="rect">
            <a:avLst/>
          </a:prstGeom>
          <a:noFill/>
        </p:spPr>
        <p:txBody>
          <a:bodyPr wrap="square"/>
          <a:lstStyle/>
          <a:p>
            <a:pPr algn="l">
              <a:defRPr sz="4000" b="1" i="0">
                <a:solidFill>
                  <a:srgbClr val="1A1A1A"/>
                </a:solidFill>
                <a:latin typeface="Arial Black"/>
              </a:defRPr>
            </a:pPr>
            <a:r>
              <a:t>Social Climbers</a:t>
            </a:r>
          </a:p>
        </p:txBody>
      </p:sp>
      <p:sp>
        <p:nvSpPr>
          <p:cNvPr id="43" name="TextBox 42"/>
          <p:cNvSpPr txBox="1"/>
          <p:nvPr/>
        </p:nvSpPr>
        <p:spPr>
          <a:xfrm>
            <a:off x="731520" y="1325880"/>
            <a:ext cx="9144000" cy="457200"/>
          </a:xfrm>
          <a:prstGeom prst="rect">
            <a:avLst/>
          </a:prstGeom>
          <a:noFill/>
        </p:spPr>
        <p:txBody>
          <a:bodyPr wrap="square"/>
          <a:lstStyle/>
          <a:p>
            <a:pPr algn="l">
              <a:defRPr sz="2600" b="1" i="0">
                <a:solidFill>
                  <a:srgbClr val="CC0011"/>
                </a:solidFill>
                <a:latin typeface="Arial Black"/>
              </a:defRPr>
            </a:pPr>
            <a:r>
              <a:t>Nexus Competition App</a:t>
            </a:r>
          </a:p>
        </p:txBody>
      </p:sp>
      <p:sp>
        <p:nvSpPr>
          <p:cNvPr id="44" name="TextBox 43"/>
          <p:cNvSpPr txBox="1"/>
          <p:nvPr/>
        </p:nvSpPr>
        <p:spPr>
          <a:xfrm>
            <a:off x="731520" y="1828800"/>
            <a:ext cx="9144000" cy="274320"/>
          </a:xfrm>
          <a:prstGeom prst="rect">
            <a:avLst/>
          </a:prstGeom>
          <a:noFill/>
        </p:spPr>
        <p:txBody>
          <a:bodyPr wrap="square"/>
          <a:lstStyle/>
          <a:p>
            <a:pPr algn="l">
              <a:defRPr sz="1100" b="0" i="0">
                <a:solidFill>
                  <a:srgbClr val="888580"/>
                </a:solidFill>
                <a:latin typeface="Calibri"/>
              </a:defRPr>
            </a:pPr>
            <a:r>
              <a:t>FOUNDER &amp; LEAD DEVELOPER  —  socialclimbersapp.com</a:t>
            </a:r>
          </a:p>
        </p:txBody>
      </p:sp>
      <p:sp>
        <p:nvSpPr>
          <p:cNvPr id="45" name="Rectangle 44"/>
          <p:cNvSpPr/>
          <p:nvPr/>
        </p:nvSpPr>
        <p:spPr>
          <a:xfrm>
            <a:off x="640080" y="2286000"/>
            <a:ext cx="5486400" cy="32004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645920" y="3474720"/>
            <a:ext cx="3657600" cy="365760"/>
          </a:xfrm>
          <a:prstGeom prst="rect">
            <a:avLst/>
          </a:prstGeom>
          <a:noFill/>
        </p:spPr>
        <p:txBody>
          <a:bodyPr wrap="square"/>
          <a:lstStyle/>
          <a:p>
            <a:pPr algn="ctr">
              <a:defRPr sz="1200" b="0" i="0">
                <a:solidFill>
                  <a:srgbClr val="AAA7A2"/>
                </a:solidFill>
                <a:latin typeface="Calibri"/>
              </a:defRPr>
            </a:pPr>
            <a:r>
              <a:t>[ SOCIAL CLIMBERS APP SCREENSHOT ]</a:t>
            </a:r>
          </a:p>
        </p:txBody>
      </p:sp>
      <p:sp>
        <p:nvSpPr>
          <p:cNvPr id="47" name="TextBox 46"/>
          <p:cNvSpPr txBox="1"/>
          <p:nvPr/>
        </p:nvSpPr>
        <p:spPr>
          <a:xfrm>
            <a:off x="6583680" y="2286000"/>
            <a:ext cx="5029200" cy="822960"/>
          </a:xfrm>
          <a:prstGeom prst="rect">
            <a:avLst/>
          </a:prstGeom>
          <a:noFill/>
        </p:spPr>
        <p:txBody>
          <a:bodyPr wrap="square"/>
          <a:lstStyle/>
          <a:p>
            <a:pPr algn="l">
              <a:lnSpc>
                <a:spcPts val="1900"/>
              </a:lnSpc>
              <a:defRPr sz="1200" b="0" i="0">
                <a:solidFill>
                  <a:srgbClr val="4A4A4A"/>
                </a:solidFill>
                <a:latin typeface="Calibri"/>
              </a:defRPr>
            </a:pPr>
            <a:r>
              <a:t>A one-stop tech solution for climbers in Thailand. Social Climbers provides white-label climbing competition solutions for climbing gyms and the climbing community nationwide. Launched alongside Bangkok Boulderfest 2024.</a:t>
            </a:r>
          </a:p>
        </p:txBody>
      </p:sp>
      <p:sp>
        <p:nvSpPr>
          <p:cNvPr id="48" name="Rectangle 47"/>
          <p:cNvSpPr/>
          <p:nvPr/>
        </p:nvSpPr>
        <p:spPr>
          <a:xfrm>
            <a:off x="6583680" y="32735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0" y="3200400"/>
            <a:ext cx="4572000" cy="274320"/>
          </a:xfrm>
          <a:prstGeom prst="rect">
            <a:avLst/>
          </a:prstGeom>
          <a:noFill/>
        </p:spPr>
        <p:txBody>
          <a:bodyPr wrap="square"/>
          <a:lstStyle/>
          <a:p>
            <a:pPr algn="l">
              <a:defRPr sz="1100" b="0" i="0">
                <a:solidFill>
                  <a:srgbClr val="4A4A4A"/>
                </a:solidFill>
                <a:latin typeface="Calibri"/>
              </a:defRPr>
            </a:pPr>
            <a:r>
              <a:t>Personal score tracking across all events</a:t>
            </a:r>
          </a:p>
        </p:txBody>
      </p:sp>
      <p:sp>
        <p:nvSpPr>
          <p:cNvPr id="50" name="Rectangle 49"/>
          <p:cNvSpPr/>
          <p:nvPr/>
        </p:nvSpPr>
        <p:spPr>
          <a:xfrm>
            <a:off x="6583680" y="359359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0" y="3520440"/>
            <a:ext cx="4572000" cy="274320"/>
          </a:xfrm>
          <a:prstGeom prst="rect">
            <a:avLst/>
          </a:prstGeom>
          <a:noFill/>
        </p:spPr>
        <p:txBody>
          <a:bodyPr wrap="square"/>
          <a:lstStyle/>
          <a:p>
            <a:pPr algn="l">
              <a:defRPr sz="1100" b="0" i="0">
                <a:solidFill>
                  <a:srgbClr val="4A4A4A"/>
                </a:solidFill>
                <a:latin typeface="Calibri"/>
              </a:defRPr>
            </a:pPr>
            <a:r>
              <a:t>Team &amp; gym rankings</a:t>
            </a:r>
          </a:p>
        </p:txBody>
      </p:sp>
      <p:sp>
        <p:nvSpPr>
          <p:cNvPr id="52" name="Rectangle 51"/>
          <p:cNvSpPr/>
          <p:nvPr/>
        </p:nvSpPr>
        <p:spPr>
          <a:xfrm>
            <a:off x="6583680" y="391363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0" y="3840480"/>
            <a:ext cx="4572000" cy="274320"/>
          </a:xfrm>
          <a:prstGeom prst="rect">
            <a:avLst/>
          </a:prstGeom>
          <a:noFill/>
        </p:spPr>
        <p:txBody>
          <a:bodyPr wrap="square"/>
          <a:lstStyle/>
          <a:p>
            <a:pPr algn="l">
              <a:defRPr sz="1100" b="0" i="0">
                <a:solidFill>
                  <a:srgbClr val="4A4A4A"/>
                </a:solidFill>
                <a:latin typeface="Calibri"/>
              </a:defRPr>
            </a:pPr>
            <a:r>
              <a:t>Real-time overall leaderboard</a:t>
            </a:r>
          </a:p>
        </p:txBody>
      </p:sp>
      <p:sp>
        <p:nvSpPr>
          <p:cNvPr id="54" name="Rectangle 53"/>
          <p:cNvSpPr/>
          <p:nvPr/>
        </p:nvSpPr>
        <p:spPr>
          <a:xfrm>
            <a:off x="6583680" y="42336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58000" y="4160520"/>
            <a:ext cx="4572000" cy="274320"/>
          </a:xfrm>
          <a:prstGeom prst="rect">
            <a:avLst/>
          </a:prstGeom>
          <a:noFill/>
        </p:spPr>
        <p:txBody>
          <a:bodyPr wrap="square"/>
          <a:lstStyle/>
          <a:p>
            <a:pPr algn="l">
              <a:defRPr sz="1100" b="0" i="0">
                <a:solidFill>
                  <a:srgbClr val="4A4A4A"/>
                </a:solidFill>
                <a:latin typeface="Calibri"/>
              </a:defRPr>
            </a:pPr>
            <a:r>
              <a:t>Weekly slot booking</a:t>
            </a:r>
          </a:p>
        </p:txBody>
      </p:sp>
      <p:sp>
        <p:nvSpPr>
          <p:cNvPr id="56" name="Rectangle 55"/>
          <p:cNvSpPr/>
          <p:nvPr/>
        </p:nvSpPr>
        <p:spPr>
          <a:xfrm>
            <a:off x="6583680" y="455371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58000" y="4480560"/>
            <a:ext cx="4572000" cy="274320"/>
          </a:xfrm>
          <a:prstGeom prst="rect">
            <a:avLst/>
          </a:prstGeom>
          <a:noFill/>
        </p:spPr>
        <p:txBody>
          <a:bodyPr wrap="square"/>
          <a:lstStyle/>
          <a:p>
            <a:pPr algn="l">
              <a:defRPr sz="1100" b="0" i="0">
                <a:solidFill>
                  <a:srgbClr val="4A4A4A"/>
                </a:solidFill>
                <a:latin typeface="Calibri"/>
              </a:defRPr>
            </a:pPr>
            <a:r>
              <a:t>Persistent climber profiles across entire series</a:t>
            </a:r>
          </a:p>
        </p:txBody>
      </p:sp>
      <p:sp>
        <p:nvSpPr>
          <p:cNvPr id="58" name="Rectangle 57"/>
          <p:cNvSpPr/>
          <p:nvPr/>
        </p:nvSpPr>
        <p:spPr>
          <a:xfrm>
            <a:off x="6583680" y="4846320"/>
            <a:ext cx="882396"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0" y="4846320"/>
            <a:ext cx="882396" cy="320040"/>
          </a:xfrm>
          <a:prstGeom prst="rect">
            <a:avLst/>
          </a:prstGeom>
          <a:noFill/>
        </p:spPr>
        <p:txBody>
          <a:bodyPr wrap="square"/>
          <a:lstStyle/>
          <a:p>
            <a:pPr algn="ctr">
              <a:defRPr sz="800" b="1" i="0">
                <a:solidFill>
                  <a:srgbClr val="1A1A1A"/>
                </a:solidFill>
                <a:latin typeface="Calibri"/>
              </a:defRPr>
            </a:pPr>
            <a:r>
              <a:t>FLUTTER</a:t>
            </a:r>
          </a:p>
        </p:txBody>
      </p:sp>
      <p:sp>
        <p:nvSpPr>
          <p:cNvPr id="60" name="Rectangle 59"/>
          <p:cNvSpPr/>
          <p:nvPr/>
        </p:nvSpPr>
        <p:spPr>
          <a:xfrm>
            <a:off x="7575804" y="4846320"/>
            <a:ext cx="9692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75804" y="4846320"/>
            <a:ext cx="969264" cy="320040"/>
          </a:xfrm>
          <a:prstGeom prst="rect">
            <a:avLst/>
          </a:prstGeom>
          <a:noFill/>
        </p:spPr>
        <p:txBody>
          <a:bodyPr wrap="square"/>
          <a:lstStyle/>
          <a:p>
            <a:pPr algn="ctr">
              <a:defRPr sz="800" b="1" i="0">
                <a:solidFill>
                  <a:srgbClr val="1A1A1A"/>
                </a:solidFill>
                <a:latin typeface="Calibri"/>
              </a:defRPr>
            </a:pPr>
            <a:r>
              <a:t>FIREBASE</a:t>
            </a:r>
          </a:p>
        </p:txBody>
      </p:sp>
      <p:sp>
        <p:nvSpPr>
          <p:cNvPr id="62" name="Rectangle 61"/>
          <p:cNvSpPr/>
          <p:nvPr/>
        </p:nvSpPr>
        <p:spPr>
          <a:xfrm>
            <a:off x="8654796" y="4846320"/>
            <a:ext cx="166420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654796" y="4846320"/>
            <a:ext cx="1664208" cy="320040"/>
          </a:xfrm>
          <a:prstGeom prst="rect">
            <a:avLst/>
          </a:prstGeom>
          <a:noFill/>
        </p:spPr>
        <p:txBody>
          <a:bodyPr wrap="square"/>
          <a:lstStyle/>
          <a:p>
            <a:pPr algn="ctr">
              <a:defRPr sz="800" b="1" i="0">
                <a:solidFill>
                  <a:srgbClr val="1A1A1A"/>
                </a:solidFill>
                <a:latin typeface="Calibri"/>
              </a:defRPr>
            </a:pPr>
            <a:r>
              <a:t>COMPETITION TECH</a:t>
            </a:r>
          </a:p>
        </p:txBody>
      </p:sp>
      <p:sp>
        <p:nvSpPr>
          <p:cNvPr id="64" name="Rectangle 63"/>
          <p:cNvSpPr/>
          <p:nvPr/>
        </p:nvSpPr>
        <p:spPr>
          <a:xfrm>
            <a:off x="10428732" y="4846320"/>
            <a:ext cx="122986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428732" y="4846320"/>
            <a:ext cx="1229868" cy="320040"/>
          </a:xfrm>
          <a:prstGeom prst="rect">
            <a:avLst/>
          </a:prstGeom>
          <a:noFill/>
        </p:spPr>
        <p:txBody>
          <a:bodyPr wrap="square"/>
          <a:lstStyle/>
          <a:p>
            <a:pPr algn="ctr">
              <a:defRPr sz="800" b="1" i="0">
                <a:solidFill>
                  <a:srgbClr val="1A1A1A"/>
                </a:solidFill>
                <a:latin typeface="Calibri"/>
              </a:defRPr>
            </a:pPr>
            <a:r>
              <a:t>WHITE LABEL</a:t>
            </a:r>
          </a:p>
        </p:txBody>
      </p:sp>
      <p:sp>
        <p:nvSpPr>
          <p:cNvPr id="66" name="Rectangle 65"/>
          <p:cNvSpPr/>
          <p:nvPr/>
        </p:nvSpPr>
        <p:spPr>
          <a:xfrm>
            <a:off x="11768328" y="4846320"/>
            <a:ext cx="882396"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768328" y="4846320"/>
            <a:ext cx="882396" cy="320040"/>
          </a:xfrm>
          <a:prstGeom prst="rect">
            <a:avLst/>
          </a:prstGeom>
          <a:noFill/>
        </p:spPr>
        <p:txBody>
          <a:bodyPr wrap="square"/>
          <a:lstStyle/>
          <a:p>
            <a:pPr algn="ctr">
              <a:defRPr sz="800" b="1" i="0">
                <a:solidFill>
                  <a:srgbClr val="1A1A1A"/>
                </a:solidFill>
                <a:latin typeface="Calibri"/>
              </a:defRPr>
            </a:pPr>
            <a:r>
              <a:t>WEB APP</a:t>
            </a:r>
          </a:p>
        </p:txBody>
      </p:sp>
      <p:sp>
        <p:nvSpPr>
          <p:cNvPr id="68" name="Rectangle 67"/>
          <p:cNvSpPr/>
          <p:nvPr/>
        </p:nvSpPr>
        <p:spPr>
          <a:xfrm>
            <a:off x="640080" y="566928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1520" y="5806440"/>
            <a:ext cx="1371600" cy="411480"/>
          </a:xfrm>
          <a:prstGeom prst="rect">
            <a:avLst/>
          </a:prstGeom>
          <a:noFill/>
        </p:spPr>
        <p:txBody>
          <a:bodyPr wrap="square"/>
          <a:lstStyle/>
          <a:p>
            <a:pPr algn="l">
              <a:defRPr sz="3200" b="1" i="0">
                <a:solidFill>
                  <a:srgbClr val="CC0011"/>
                </a:solidFill>
                <a:latin typeface="Arial Black"/>
              </a:defRPr>
            </a:pPr>
            <a:r>
              <a:t>117+</a:t>
            </a:r>
          </a:p>
        </p:txBody>
      </p:sp>
      <p:sp>
        <p:nvSpPr>
          <p:cNvPr id="70" name="TextBox 69"/>
          <p:cNvSpPr txBox="1"/>
          <p:nvPr/>
        </p:nvSpPr>
        <p:spPr>
          <a:xfrm>
            <a:off x="1828800" y="5852160"/>
            <a:ext cx="1828800" cy="365760"/>
          </a:xfrm>
          <a:prstGeom prst="rect">
            <a:avLst/>
          </a:prstGeom>
          <a:noFill/>
        </p:spPr>
        <p:txBody>
          <a:bodyPr wrap="square"/>
          <a:lstStyle/>
          <a:p>
            <a:pPr algn="l">
              <a:lnSpc>
                <a:spcPts val="1200"/>
              </a:lnSpc>
              <a:defRPr sz="800" b="1" i="0">
                <a:solidFill>
                  <a:srgbClr val="888580"/>
                </a:solidFill>
                <a:latin typeface="Calibri"/>
              </a:defRPr>
            </a:pPr>
            <a:r>
              <a:t>CLIMBERS</a:t>
            </a:r>
          </a:p>
        </p:txBody>
      </p:sp>
      <p:sp>
        <p:nvSpPr>
          <p:cNvPr id="71" name="TextBox 70"/>
          <p:cNvSpPr txBox="1"/>
          <p:nvPr/>
        </p:nvSpPr>
        <p:spPr>
          <a:xfrm>
            <a:off x="3566160" y="5806440"/>
            <a:ext cx="1371600" cy="411480"/>
          </a:xfrm>
          <a:prstGeom prst="rect">
            <a:avLst/>
          </a:prstGeom>
          <a:noFill/>
        </p:spPr>
        <p:txBody>
          <a:bodyPr wrap="square"/>
          <a:lstStyle/>
          <a:p>
            <a:pPr algn="l">
              <a:defRPr sz="3200" b="1" i="0">
                <a:solidFill>
                  <a:srgbClr val="CC0011"/>
                </a:solidFill>
                <a:latin typeface="Arial Black"/>
              </a:defRPr>
            </a:pPr>
            <a:r>
              <a:t>8</a:t>
            </a:r>
          </a:p>
        </p:txBody>
      </p:sp>
      <p:sp>
        <p:nvSpPr>
          <p:cNvPr id="72" name="TextBox 71"/>
          <p:cNvSpPr txBox="1"/>
          <p:nvPr/>
        </p:nvSpPr>
        <p:spPr>
          <a:xfrm>
            <a:off x="4663440" y="5852160"/>
            <a:ext cx="1828800" cy="365760"/>
          </a:xfrm>
          <a:prstGeom prst="rect">
            <a:avLst/>
          </a:prstGeom>
          <a:noFill/>
        </p:spPr>
        <p:txBody>
          <a:bodyPr wrap="square"/>
          <a:lstStyle/>
          <a:p>
            <a:pPr algn="l">
              <a:lnSpc>
                <a:spcPts val="1200"/>
              </a:lnSpc>
              <a:defRPr sz="800" b="1" i="0">
                <a:solidFill>
                  <a:srgbClr val="888580"/>
                </a:solidFill>
                <a:latin typeface="Calibri"/>
              </a:defRPr>
            </a:pPr>
            <a:r>
              <a:t>PARTNER</a:t>
            </a:r>
            <a:br/>
            <a:r>
              <a:t>GYMS</a:t>
            </a:r>
          </a:p>
        </p:txBody>
      </p:sp>
      <p:sp>
        <p:nvSpPr>
          <p:cNvPr id="73" name="TextBox 72"/>
          <p:cNvSpPr txBox="1"/>
          <p:nvPr/>
        </p:nvSpPr>
        <p:spPr>
          <a:xfrm>
            <a:off x="6400800" y="5806440"/>
            <a:ext cx="1371600" cy="411480"/>
          </a:xfrm>
          <a:prstGeom prst="rect">
            <a:avLst/>
          </a:prstGeom>
          <a:noFill/>
        </p:spPr>
        <p:txBody>
          <a:bodyPr wrap="square"/>
          <a:lstStyle/>
          <a:p>
            <a:pPr algn="l">
              <a:defRPr sz="3200" b="1" i="0">
                <a:solidFill>
                  <a:srgbClr val="CC0011"/>
                </a:solidFill>
                <a:latin typeface="Arial Black"/>
              </a:defRPr>
            </a:pPr>
            <a:r>
              <a:t>1</a:t>
            </a:r>
          </a:p>
        </p:txBody>
      </p:sp>
      <p:sp>
        <p:nvSpPr>
          <p:cNvPr id="74" name="TextBox 73"/>
          <p:cNvSpPr txBox="1"/>
          <p:nvPr/>
        </p:nvSpPr>
        <p:spPr>
          <a:xfrm>
            <a:off x="7498079" y="5852160"/>
            <a:ext cx="1828800" cy="365760"/>
          </a:xfrm>
          <a:prstGeom prst="rect">
            <a:avLst/>
          </a:prstGeom>
          <a:noFill/>
        </p:spPr>
        <p:txBody>
          <a:bodyPr wrap="square"/>
          <a:lstStyle/>
          <a:p>
            <a:pPr algn="l">
              <a:lnSpc>
                <a:spcPts val="1200"/>
              </a:lnSpc>
              <a:defRPr sz="800" b="1" i="0">
                <a:solidFill>
                  <a:srgbClr val="888580"/>
                </a:solidFill>
                <a:latin typeface="Calibri"/>
              </a:defRPr>
            </a:pPr>
            <a:r>
              <a:t>UNIFIED</a:t>
            </a:r>
            <a:br/>
            <a:r>
              <a:t>PLATFORM</a:t>
            </a:r>
          </a:p>
        </p:txBody>
      </p:sp>
      <p:sp>
        <p:nvSpPr>
          <p:cNvPr id="75" name="TextBox 74"/>
          <p:cNvSpPr txBox="1"/>
          <p:nvPr/>
        </p:nvSpPr>
        <p:spPr>
          <a:xfrm>
            <a:off x="9235440" y="5806440"/>
            <a:ext cx="1371600" cy="411480"/>
          </a:xfrm>
          <a:prstGeom prst="rect">
            <a:avLst/>
          </a:prstGeom>
          <a:noFill/>
        </p:spPr>
        <p:txBody>
          <a:bodyPr wrap="square"/>
          <a:lstStyle/>
          <a:p>
            <a:pPr algn="l">
              <a:defRPr sz="3200" b="1" i="0">
                <a:solidFill>
                  <a:srgbClr val="CC0011"/>
                </a:solidFill>
                <a:latin typeface="Arial Black"/>
              </a:defRPr>
            </a:pPr>
            <a:r>
              <a:t>2024</a:t>
            </a:r>
          </a:p>
        </p:txBody>
      </p:sp>
      <p:sp>
        <p:nvSpPr>
          <p:cNvPr id="76" name="TextBox 75"/>
          <p:cNvSpPr txBox="1"/>
          <p:nvPr/>
        </p:nvSpPr>
        <p:spPr>
          <a:xfrm>
            <a:off x="10332720" y="5852160"/>
            <a:ext cx="1828800" cy="365760"/>
          </a:xfrm>
          <a:prstGeom prst="rect">
            <a:avLst/>
          </a:prstGeom>
          <a:noFill/>
        </p:spPr>
        <p:txBody>
          <a:bodyPr wrap="square"/>
          <a:lstStyle/>
          <a:p>
            <a:pPr algn="l">
              <a:lnSpc>
                <a:spcPts val="1200"/>
              </a:lnSpc>
              <a:defRPr sz="800" b="1" i="0">
                <a:solidFill>
                  <a:srgbClr val="888580"/>
                </a:solidFill>
                <a:latin typeface="Calibri"/>
              </a:defRPr>
            </a:pPr>
            <a:r>
              <a:t>LAUNCH</a:t>
            </a:r>
            <a:br/>
            <a:r>
              <a:t>YEAR</a:t>
            </a:r>
          </a:p>
        </p:txBody>
      </p:sp>
      <p:sp>
        <p:nvSpPr>
          <p:cNvPr id="77" name="Rectangle 76"/>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80" name="TextBox 79"/>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338560" y="0"/>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78640" y="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338560" y="0"/>
            <a:ext cx="27432" cy="22860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73152"/>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41280"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2448"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5"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844784"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045952" y="54864"/>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84280" y="731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6830568"/>
            <a:ext cx="853135"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6400800"/>
            <a:ext cx="27432" cy="4572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 y="6803136"/>
            <a:ext cx="27432" cy="54864"/>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6766560"/>
            <a:ext cx="320040" cy="27432"/>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97280"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98448"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99616"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700784"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01952" y="6766560"/>
            <a:ext cx="36576" cy="36576"/>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67482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972800" y="36576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08208" y="438912"/>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643616" y="512064"/>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479024" y="585216"/>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314432" y="658368"/>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149840" y="731520"/>
            <a:ext cx="109728" cy="18288"/>
          </a:xfrm>
          <a:prstGeom prst="rect">
            <a:avLst/>
          </a:prstGeom>
          <a:solidFill>
            <a:srgbClr val="F2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78992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2708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06424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201400" y="612648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78992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92708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6424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201400" y="626364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78992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92708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06424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201400" y="6400800"/>
            <a:ext cx="27432" cy="27432"/>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20  —  CLIMBING COMMUNITY</a:t>
            </a:r>
          </a:p>
        </p:txBody>
      </p:sp>
      <p:sp>
        <p:nvSpPr>
          <p:cNvPr id="41" name="Rectangle 40"/>
          <p:cNvSpPr/>
          <p:nvPr/>
        </p:nvSpPr>
        <p:spPr>
          <a:xfrm>
            <a:off x="731520" y="685800"/>
            <a:ext cx="1485900"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822960"/>
            <a:ext cx="9144000" cy="502920"/>
          </a:xfrm>
          <a:prstGeom prst="rect">
            <a:avLst/>
          </a:prstGeom>
          <a:noFill/>
        </p:spPr>
        <p:txBody>
          <a:bodyPr wrap="square"/>
          <a:lstStyle/>
          <a:p>
            <a:pPr algn="l">
              <a:defRPr sz="4000" b="1" i="0">
                <a:solidFill>
                  <a:srgbClr val="1A1A1A"/>
                </a:solidFill>
                <a:latin typeface="Arial Black"/>
              </a:defRPr>
            </a:pPr>
            <a:r>
              <a:t>Bangkok</a:t>
            </a:r>
          </a:p>
        </p:txBody>
      </p:sp>
      <p:sp>
        <p:nvSpPr>
          <p:cNvPr id="43" name="TextBox 42"/>
          <p:cNvSpPr txBox="1"/>
          <p:nvPr/>
        </p:nvSpPr>
        <p:spPr>
          <a:xfrm>
            <a:off x="731520" y="1325880"/>
            <a:ext cx="9144000" cy="457200"/>
          </a:xfrm>
          <a:prstGeom prst="rect">
            <a:avLst/>
          </a:prstGeom>
          <a:noFill/>
        </p:spPr>
        <p:txBody>
          <a:bodyPr wrap="square"/>
          <a:lstStyle/>
          <a:p>
            <a:pPr algn="l">
              <a:defRPr sz="4000" b="1" i="0">
                <a:solidFill>
                  <a:srgbClr val="CC0011"/>
                </a:solidFill>
                <a:latin typeface="Arial Black"/>
              </a:defRPr>
            </a:pPr>
            <a:r>
              <a:t>Boulderfest 2024</a:t>
            </a:r>
          </a:p>
        </p:txBody>
      </p:sp>
      <p:sp>
        <p:nvSpPr>
          <p:cNvPr id="44" name="TextBox 43"/>
          <p:cNvSpPr txBox="1"/>
          <p:nvPr/>
        </p:nvSpPr>
        <p:spPr>
          <a:xfrm>
            <a:off x="731520" y="1828800"/>
            <a:ext cx="9144000" cy="274320"/>
          </a:xfrm>
          <a:prstGeom prst="rect">
            <a:avLst/>
          </a:prstGeom>
          <a:noFill/>
        </p:spPr>
        <p:txBody>
          <a:bodyPr wrap="square"/>
          <a:lstStyle/>
          <a:p>
            <a:pPr algn="l">
              <a:defRPr sz="1100" b="0" i="0">
                <a:solidFill>
                  <a:srgbClr val="888580"/>
                </a:solidFill>
                <a:latin typeface="Calibri"/>
              </a:defRPr>
            </a:pPr>
            <a:r>
              <a:t>TCDA  ×  SOCIAL CLIMBERS  —  THE FIRST EVER  —  8 GYMS  —  Nov 2024</a:t>
            </a:r>
          </a:p>
        </p:txBody>
      </p:sp>
      <p:sp>
        <p:nvSpPr>
          <p:cNvPr id="45" name="Rectangle 44"/>
          <p:cNvSpPr/>
          <p:nvPr/>
        </p:nvSpPr>
        <p:spPr>
          <a:xfrm>
            <a:off x="640080" y="2286000"/>
            <a:ext cx="5486400" cy="32004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71600" y="3474720"/>
            <a:ext cx="4114800" cy="365760"/>
          </a:xfrm>
          <a:prstGeom prst="rect">
            <a:avLst/>
          </a:prstGeom>
          <a:noFill/>
        </p:spPr>
        <p:txBody>
          <a:bodyPr wrap="square"/>
          <a:lstStyle/>
          <a:p>
            <a:pPr algn="ctr">
              <a:defRPr sz="1200" b="0" i="0">
                <a:solidFill>
                  <a:srgbClr val="AAA7A2"/>
                </a:solidFill>
                <a:latin typeface="Calibri"/>
              </a:defRPr>
            </a:pPr>
            <a:r>
              <a:t>[ BANGKOK BOULDERFEST EVENT PHOTO ]</a:t>
            </a:r>
          </a:p>
        </p:txBody>
      </p:sp>
      <p:sp>
        <p:nvSpPr>
          <p:cNvPr id="47" name="TextBox 46"/>
          <p:cNvSpPr txBox="1"/>
          <p:nvPr/>
        </p:nvSpPr>
        <p:spPr>
          <a:xfrm>
            <a:off x="6583680" y="2286000"/>
            <a:ext cx="5029200" cy="1005840"/>
          </a:xfrm>
          <a:prstGeom prst="rect">
            <a:avLst/>
          </a:prstGeom>
          <a:noFill/>
        </p:spPr>
        <p:txBody>
          <a:bodyPr wrap="square"/>
          <a:lstStyle/>
          <a:p>
            <a:pPr algn="l">
              <a:lnSpc>
                <a:spcPts val="1900"/>
              </a:lnSpc>
              <a:defRPr sz="1200" b="0" i="0">
                <a:solidFill>
                  <a:srgbClr val="4A4A4A"/>
                </a:solidFill>
                <a:latin typeface="Calibri"/>
              </a:defRPr>
            </a:pPr>
            <a:r>
              <a:t>The first-ever Bangkok Boulder Fest — a 3-month, multi-weekend bouldering series that brought together 117 climbers from across the city. Climbers travelled between gyms, climbed shared routes set by Bangkok's top setters, and competed both individually and as teams.</a:t>
            </a:r>
          </a:p>
        </p:txBody>
      </p:sp>
      <p:sp>
        <p:nvSpPr>
          <p:cNvPr id="48" name="TextBox 47"/>
          <p:cNvSpPr txBox="1"/>
          <p:nvPr/>
        </p:nvSpPr>
        <p:spPr>
          <a:xfrm>
            <a:off x="6583680" y="3291840"/>
            <a:ext cx="5029200" cy="548640"/>
          </a:xfrm>
          <a:prstGeom prst="rect">
            <a:avLst/>
          </a:prstGeom>
          <a:noFill/>
        </p:spPr>
        <p:txBody>
          <a:bodyPr wrap="square"/>
          <a:lstStyle/>
          <a:p>
            <a:pPr algn="l">
              <a:lnSpc>
                <a:spcPts val="1700"/>
              </a:lnSpc>
              <a:defRPr sz="1100" b="0" i="1">
                <a:solidFill>
                  <a:srgbClr val="888580"/>
                </a:solidFill>
                <a:latin typeface="Calibri"/>
              </a:defRPr>
            </a:pPr>
            <a:r>
              <a:t>Winners received free passes to participating gyms — but what everyone gained was a stronger, more connected climbing community.</a:t>
            </a:r>
          </a:p>
        </p:txBody>
      </p:sp>
      <p:sp>
        <p:nvSpPr>
          <p:cNvPr id="49" name="TextBox 48"/>
          <p:cNvSpPr txBox="1"/>
          <p:nvPr/>
        </p:nvSpPr>
        <p:spPr>
          <a:xfrm>
            <a:off x="6583680" y="4023360"/>
            <a:ext cx="5029200" cy="228600"/>
          </a:xfrm>
          <a:prstGeom prst="rect">
            <a:avLst/>
          </a:prstGeom>
          <a:noFill/>
        </p:spPr>
        <p:txBody>
          <a:bodyPr wrap="square"/>
          <a:lstStyle/>
          <a:p>
            <a:pPr algn="l">
              <a:defRPr sz="900" b="1" i="0">
                <a:solidFill>
                  <a:srgbClr val="CC0011"/>
                </a:solidFill>
                <a:latin typeface="Calibri"/>
              </a:defRPr>
            </a:pPr>
            <a:r>
              <a:t>PARTICIPATING GYMS</a:t>
            </a:r>
          </a:p>
        </p:txBody>
      </p:sp>
      <p:sp>
        <p:nvSpPr>
          <p:cNvPr id="50" name="Rectangle 49"/>
          <p:cNvSpPr/>
          <p:nvPr/>
        </p:nvSpPr>
        <p:spPr>
          <a:xfrm>
            <a:off x="6583680" y="43525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0" y="4297680"/>
            <a:ext cx="2286000" cy="201168"/>
          </a:xfrm>
          <a:prstGeom prst="rect">
            <a:avLst/>
          </a:prstGeom>
          <a:noFill/>
        </p:spPr>
        <p:txBody>
          <a:bodyPr wrap="square"/>
          <a:lstStyle/>
          <a:p>
            <a:pPr algn="l">
              <a:defRPr sz="900" b="0" i="0">
                <a:solidFill>
                  <a:srgbClr val="4A4A4A"/>
                </a:solidFill>
                <a:latin typeface="Calibri"/>
              </a:defRPr>
            </a:pPr>
            <a:r>
              <a:t>Stonegoat</a:t>
            </a:r>
          </a:p>
        </p:txBody>
      </p:sp>
      <p:sp>
        <p:nvSpPr>
          <p:cNvPr id="52" name="Rectangle 51"/>
          <p:cNvSpPr/>
          <p:nvPr/>
        </p:nvSpPr>
        <p:spPr>
          <a:xfrm>
            <a:off x="6583680" y="45811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766560" y="4526280"/>
            <a:ext cx="2286000" cy="201168"/>
          </a:xfrm>
          <a:prstGeom prst="rect">
            <a:avLst/>
          </a:prstGeom>
          <a:noFill/>
        </p:spPr>
        <p:txBody>
          <a:bodyPr wrap="square"/>
          <a:lstStyle/>
          <a:p>
            <a:pPr algn="l">
              <a:defRPr sz="900" b="0" i="0">
                <a:solidFill>
                  <a:srgbClr val="4A4A4A"/>
                </a:solidFill>
                <a:latin typeface="Calibri"/>
              </a:defRPr>
            </a:pPr>
            <a:r>
              <a:t>Boulder Planet</a:t>
            </a:r>
          </a:p>
        </p:txBody>
      </p:sp>
      <p:sp>
        <p:nvSpPr>
          <p:cNvPr id="54" name="Rectangle 53"/>
          <p:cNvSpPr/>
          <p:nvPr/>
        </p:nvSpPr>
        <p:spPr>
          <a:xfrm>
            <a:off x="6583680" y="48097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766560" y="4754880"/>
            <a:ext cx="2286000" cy="201168"/>
          </a:xfrm>
          <a:prstGeom prst="rect">
            <a:avLst/>
          </a:prstGeom>
          <a:noFill/>
        </p:spPr>
        <p:txBody>
          <a:bodyPr wrap="square"/>
          <a:lstStyle/>
          <a:p>
            <a:pPr algn="l">
              <a:defRPr sz="900" b="0" i="0">
                <a:solidFill>
                  <a:srgbClr val="4A4A4A"/>
                </a:solidFill>
                <a:latin typeface="Calibri"/>
              </a:defRPr>
            </a:pPr>
            <a:r>
              <a:t>Eagle Eye Climbing Gym</a:t>
            </a:r>
          </a:p>
        </p:txBody>
      </p:sp>
      <p:sp>
        <p:nvSpPr>
          <p:cNvPr id="56" name="Rectangle 55"/>
          <p:cNvSpPr/>
          <p:nvPr/>
        </p:nvSpPr>
        <p:spPr>
          <a:xfrm>
            <a:off x="6583680" y="50383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0" y="4983480"/>
            <a:ext cx="2286000" cy="201168"/>
          </a:xfrm>
          <a:prstGeom prst="rect">
            <a:avLst/>
          </a:prstGeom>
          <a:noFill/>
        </p:spPr>
        <p:txBody>
          <a:bodyPr wrap="square"/>
          <a:lstStyle/>
          <a:p>
            <a:pPr algn="l">
              <a:defRPr sz="900" b="0" i="0">
                <a:solidFill>
                  <a:srgbClr val="4A4A4A"/>
                </a:solidFill>
                <a:latin typeface="Calibri"/>
              </a:defRPr>
            </a:pPr>
            <a:r>
              <a:t>Gravity Lab</a:t>
            </a:r>
          </a:p>
        </p:txBody>
      </p:sp>
      <p:sp>
        <p:nvSpPr>
          <p:cNvPr id="58" name="Rectangle 57"/>
          <p:cNvSpPr/>
          <p:nvPr/>
        </p:nvSpPr>
        <p:spPr>
          <a:xfrm>
            <a:off x="9144000" y="43525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326880" y="4297680"/>
            <a:ext cx="2286000" cy="201168"/>
          </a:xfrm>
          <a:prstGeom prst="rect">
            <a:avLst/>
          </a:prstGeom>
          <a:noFill/>
        </p:spPr>
        <p:txBody>
          <a:bodyPr wrap="square"/>
          <a:lstStyle/>
          <a:p>
            <a:pPr algn="l">
              <a:defRPr sz="900" b="0" i="0">
                <a:solidFill>
                  <a:srgbClr val="4A4A4A"/>
                </a:solidFill>
                <a:latin typeface="Calibri"/>
              </a:defRPr>
            </a:pPr>
            <a:r>
              <a:t>Rock Domain</a:t>
            </a:r>
          </a:p>
        </p:txBody>
      </p:sp>
      <p:sp>
        <p:nvSpPr>
          <p:cNvPr id="60" name="Rectangle 59"/>
          <p:cNvSpPr/>
          <p:nvPr/>
        </p:nvSpPr>
        <p:spPr>
          <a:xfrm>
            <a:off x="9144000" y="45811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326880" y="4526280"/>
            <a:ext cx="2286000" cy="201168"/>
          </a:xfrm>
          <a:prstGeom prst="rect">
            <a:avLst/>
          </a:prstGeom>
          <a:noFill/>
        </p:spPr>
        <p:txBody>
          <a:bodyPr wrap="square"/>
          <a:lstStyle/>
          <a:p>
            <a:pPr algn="l">
              <a:defRPr sz="900" b="0" i="0">
                <a:solidFill>
                  <a:srgbClr val="4A4A4A"/>
                </a:solidFill>
                <a:latin typeface="Calibri"/>
              </a:defRPr>
            </a:pPr>
            <a:r>
              <a:t>Balance Climbing</a:t>
            </a:r>
          </a:p>
        </p:txBody>
      </p:sp>
      <p:sp>
        <p:nvSpPr>
          <p:cNvPr id="62" name="Rectangle 61"/>
          <p:cNvSpPr/>
          <p:nvPr/>
        </p:nvSpPr>
        <p:spPr>
          <a:xfrm>
            <a:off x="9144000" y="48097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26880" y="4754880"/>
            <a:ext cx="2286000" cy="201168"/>
          </a:xfrm>
          <a:prstGeom prst="rect">
            <a:avLst/>
          </a:prstGeom>
          <a:noFill/>
        </p:spPr>
        <p:txBody>
          <a:bodyPr wrap="square"/>
          <a:lstStyle/>
          <a:p>
            <a:pPr algn="l">
              <a:defRPr sz="900" b="0" i="0">
                <a:solidFill>
                  <a:srgbClr val="4A4A4A"/>
                </a:solidFill>
                <a:latin typeface="Calibri"/>
              </a:defRPr>
            </a:pPr>
            <a:r>
              <a:t>Climb Central Bangkok</a:t>
            </a:r>
          </a:p>
        </p:txBody>
      </p:sp>
      <p:sp>
        <p:nvSpPr>
          <p:cNvPr id="64" name="Rectangle 63"/>
          <p:cNvSpPr/>
          <p:nvPr/>
        </p:nvSpPr>
        <p:spPr>
          <a:xfrm>
            <a:off x="9144000" y="503834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326880" y="4983480"/>
            <a:ext cx="2286000" cy="201168"/>
          </a:xfrm>
          <a:prstGeom prst="rect">
            <a:avLst/>
          </a:prstGeom>
          <a:noFill/>
        </p:spPr>
        <p:txBody>
          <a:bodyPr wrap="square"/>
          <a:lstStyle/>
          <a:p>
            <a:pPr algn="l">
              <a:defRPr sz="900" b="0" i="0">
                <a:solidFill>
                  <a:srgbClr val="4A4A4A"/>
                </a:solidFill>
                <a:latin typeface="Calibri"/>
              </a:defRPr>
            </a:pPr>
            <a:r>
              <a:t>Urban Playground Climbing</a:t>
            </a:r>
          </a:p>
        </p:txBody>
      </p:sp>
      <p:sp>
        <p:nvSpPr>
          <p:cNvPr id="66" name="Rectangle 65"/>
          <p:cNvSpPr/>
          <p:nvPr/>
        </p:nvSpPr>
        <p:spPr>
          <a:xfrm>
            <a:off x="6583680" y="5303520"/>
            <a:ext cx="114300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83680" y="5303520"/>
            <a:ext cx="1143000" cy="320040"/>
          </a:xfrm>
          <a:prstGeom prst="rect">
            <a:avLst/>
          </a:prstGeom>
          <a:noFill/>
        </p:spPr>
        <p:txBody>
          <a:bodyPr wrap="square"/>
          <a:lstStyle/>
          <a:p>
            <a:pPr algn="ctr">
              <a:defRPr sz="800" b="1" i="0">
                <a:solidFill>
                  <a:srgbClr val="1A1A1A"/>
                </a:solidFill>
                <a:latin typeface="Calibri"/>
              </a:defRPr>
            </a:pPr>
            <a:r>
              <a:t>BOULDERING</a:t>
            </a:r>
          </a:p>
        </p:txBody>
      </p:sp>
      <p:sp>
        <p:nvSpPr>
          <p:cNvPr id="68" name="Rectangle 67"/>
          <p:cNvSpPr/>
          <p:nvPr/>
        </p:nvSpPr>
        <p:spPr>
          <a:xfrm>
            <a:off x="7836408" y="5303520"/>
            <a:ext cx="105613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836408" y="5303520"/>
            <a:ext cx="1056132" cy="320040"/>
          </a:xfrm>
          <a:prstGeom prst="rect">
            <a:avLst/>
          </a:prstGeom>
          <a:noFill/>
        </p:spPr>
        <p:txBody>
          <a:bodyPr wrap="square"/>
          <a:lstStyle/>
          <a:p>
            <a:pPr algn="ctr">
              <a:defRPr sz="800" b="1" i="0">
                <a:solidFill>
                  <a:srgbClr val="1A1A1A"/>
                </a:solidFill>
                <a:latin typeface="Calibri"/>
              </a:defRPr>
            </a:pPr>
            <a:r>
              <a:t>MULTI-GYM</a:t>
            </a:r>
          </a:p>
        </p:txBody>
      </p:sp>
      <p:sp>
        <p:nvSpPr>
          <p:cNvPr id="70" name="Rectangle 69"/>
          <p:cNvSpPr/>
          <p:nvPr/>
        </p:nvSpPr>
        <p:spPr>
          <a:xfrm>
            <a:off x="9002268" y="5303520"/>
            <a:ext cx="122986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02268" y="5303520"/>
            <a:ext cx="1229868" cy="320040"/>
          </a:xfrm>
          <a:prstGeom prst="rect">
            <a:avLst/>
          </a:prstGeom>
          <a:noFill/>
        </p:spPr>
        <p:txBody>
          <a:bodyPr wrap="square"/>
          <a:lstStyle/>
          <a:p>
            <a:pPr algn="ctr">
              <a:defRPr sz="800" b="1" i="0">
                <a:solidFill>
                  <a:srgbClr val="1A1A1A"/>
                </a:solidFill>
                <a:latin typeface="Calibri"/>
              </a:defRPr>
            </a:pPr>
            <a:r>
              <a:t>COMPETITION</a:t>
            </a:r>
          </a:p>
        </p:txBody>
      </p:sp>
      <p:sp>
        <p:nvSpPr>
          <p:cNvPr id="72" name="Rectangle 71"/>
          <p:cNvSpPr/>
          <p:nvPr/>
        </p:nvSpPr>
        <p:spPr>
          <a:xfrm>
            <a:off x="10341864" y="5303520"/>
            <a:ext cx="105613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341864" y="5303520"/>
            <a:ext cx="1056132" cy="320040"/>
          </a:xfrm>
          <a:prstGeom prst="rect">
            <a:avLst/>
          </a:prstGeom>
          <a:noFill/>
        </p:spPr>
        <p:txBody>
          <a:bodyPr wrap="square"/>
          <a:lstStyle/>
          <a:p>
            <a:pPr algn="ctr">
              <a:defRPr sz="800" b="1" i="0">
                <a:solidFill>
                  <a:srgbClr val="1A1A1A"/>
                </a:solidFill>
                <a:latin typeface="Calibri"/>
              </a:defRPr>
            </a:pPr>
            <a:r>
              <a:t>COMMUNITY</a:t>
            </a:r>
          </a:p>
        </p:txBody>
      </p:sp>
      <p:sp>
        <p:nvSpPr>
          <p:cNvPr id="74" name="Rectangle 73"/>
          <p:cNvSpPr/>
          <p:nvPr/>
        </p:nvSpPr>
        <p:spPr>
          <a:xfrm>
            <a:off x="11507724" y="5303520"/>
            <a:ext cx="9692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507724" y="5303520"/>
            <a:ext cx="969264" cy="320040"/>
          </a:xfrm>
          <a:prstGeom prst="rect">
            <a:avLst/>
          </a:prstGeom>
          <a:noFill/>
        </p:spPr>
        <p:txBody>
          <a:bodyPr wrap="square"/>
          <a:lstStyle/>
          <a:p>
            <a:pPr algn="ctr">
              <a:defRPr sz="800" b="1" i="0">
                <a:solidFill>
                  <a:srgbClr val="1A1A1A"/>
                </a:solidFill>
                <a:latin typeface="Calibri"/>
              </a:defRPr>
            </a:pPr>
            <a:r>
              <a:t>3 MONTHS</a:t>
            </a:r>
          </a:p>
        </p:txBody>
      </p:sp>
      <p:sp>
        <p:nvSpPr>
          <p:cNvPr id="76" name="Rectangle 75"/>
          <p:cNvSpPr/>
          <p:nvPr/>
        </p:nvSpPr>
        <p:spPr>
          <a:xfrm>
            <a:off x="640080" y="5669280"/>
            <a:ext cx="10881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1520" y="5806440"/>
            <a:ext cx="1371600" cy="411480"/>
          </a:xfrm>
          <a:prstGeom prst="rect">
            <a:avLst/>
          </a:prstGeom>
          <a:noFill/>
        </p:spPr>
        <p:txBody>
          <a:bodyPr wrap="square"/>
          <a:lstStyle/>
          <a:p>
            <a:pPr algn="l">
              <a:defRPr sz="3200" b="1" i="0">
                <a:solidFill>
                  <a:srgbClr val="CC0011"/>
                </a:solidFill>
                <a:latin typeface="Arial Black"/>
              </a:defRPr>
            </a:pPr>
            <a:r>
              <a:t>117</a:t>
            </a:r>
          </a:p>
        </p:txBody>
      </p:sp>
      <p:sp>
        <p:nvSpPr>
          <p:cNvPr id="78" name="TextBox 77"/>
          <p:cNvSpPr txBox="1"/>
          <p:nvPr/>
        </p:nvSpPr>
        <p:spPr>
          <a:xfrm>
            <a:off x="1828800" y="5852160"/>
            <a:ext cx="1828800" cy="365760"/>
          </a:xfrm>
          <a:prstGeom prst="rect">
            <a:avLst/>
          </a:prstGeom>
          <a:noFill/>
        </p:spPr>
        <p:txBody>
          <a:bodyPr wrap="square"/>
          <a:lstStyle/>
          <a:p>
            <a:pPr algn="l">
              <a:lnSpc>
                <a:spcPts val="1200"/>
              </a:lnSpc>
              <a:defRPr sz="800" b="1" i="0">
                <a:solidFill>
                  <a:srgbClr val="888580"/>
                </a:solidFill>
                <a:latin typeface="Calibri"/>
              </a:defRPr>
            </a:pPr>
            <a:r>
              <a:t>CLIMBERS</a:t>
            </a:r>
            <a:br/>
            <a:r>
              <a:t>REGISTERED</a:t>
            </a:r>
          </a:p>
        </p:txBody>
      </p:sp>
      <p:sp>
        <p:nvSpPr>
          <p:cNvPr id="79" name="TextBox 78"/>
          <p:cNvSpPr txBox="1"/>
          <p:nvPr/>
        </p:nvSpPr>
        <p:spPr>
          <a:xfrm>
            <a:off x="3566160" y="5806440"/>
            <a:ext cx="1371600" cy="411480"/>
          </a:xfrm>
          <a:prstGeom prst="rect">
            <a:avLst/>
          </a:prstGeom>
          <a:noFill/>
        </p:spPr>
        <p:txBody>
          <a:bodyPr wrap="square"/>
          <a:lstStyle/>
          <a:p>
            <a:pPr algn="l">
              <a:defRPr sz="3200" b="1" i="0">
                <a:solidFill>
                  <a:srgbClr val="CC0011"/>
                </a:solidFill>
                <a:latin typeface="Arial Black"/>
              </a:defRPr>
            </a:pPr>
            <a:r>
              <a:t>8</a:t>
            </a:r>
          </a:p>
        </p:txBody>
      </p:sp>
      <p:sp>
        <p:nvSpPr>
          <p:cNvPr id="80" name="TextBox 79"/>
          <p:cNvSpPr txBox="1"/>
          <p:nvPr/>
        </p:nvSpPr>
        <p:spPr>
          <a:xfrm>
            <a:off x="4663440" y="5852160"/>
            <a:ext cx="1828800" cy="365760"/>
          </a:xfrm>
          <a:prstGeom prst="rect">
            <a:avLst/>
          </a:prstGeom>
          <a:noFill/>
        </p:spPr>
        <p:txBody>
          <a:bodyPr wrap="square"/>
          <a:lstStyle/>
          <a:p>
            <a:pPr algn="l">
              <a:lnSpc>
                <a:spcPts val="1200"/>
              </a:lnSpc>
              <a:defRPr sz="800" b="1" i="0">
                <a:solidFill>
                  <a:srgbClr val="888580"/>
                </a:solidFill>
                <a:latin typeface="Calibri"/>
              </a:defRPr>
            </a:pPr>
            <a:r>
              <a:t>PARTNER</a:t>
            </a:r>
            <a:br/>
            <a:r>
              <a:t>GYMS</a:t>
            </a:r>
          </a:p>
        </p:txBody>
      </p:sp>
      <p:sp>
        <p:nvSpPr>
          <p:cNvPr id="81" name="TextBox 80"/>
          <p:cNvSpPr txBox="1"/>
          <p:nvPr/>
        </p:nvSpPr>
        <p:spPr>
          <a:xfrm>
            <a:off x="6400800" y="5806440"/>
            <a:ext cx="1371600" cy="411480"/>
          </a:xfrm>
          <a:prstGeom prst="rect">
            <a:avLst/>
          </a:prstGeom>
          <a:noFill/>
        </p:spPr>
        <p:txBody>
          <a:bodyPr wrap="square"/>
          <a:lstStyle/>
          <a:p>
            <a:pPr algn="l">
              <a:defRPr sz="3200" b="1" i="0">
                <a:solidFill>
                  <a:srgbClr val="CC0011"/>
                </a:solidFill>
                <a:latin typeface="Arial Black"/>
              </a:defRPr>
            </a:pPr>
            <a:r>
              <a:t>15</a:t>
            </a:r>
          </a:p>
        </p:txBody>
      </p:sp>
      <p:sp>
        <p:nvSpPr>
          <p:cNvPr id="82" name="TextBox 81"/>
          <p:cNvSpPr txBox="1"/>
          <p:nvPr/>
        </p:nvSpPr>
        <p:spPr>
          <a:xfrm>
            <a:off x="7498079" y="5852160"/>
            <a:ext cx="1828800" cy="365760"/>
          </a:xfrm>
          <a:prstGeom prst="rect">
            <a:avLst/>
          </a:prstGeom>
          <a:noFill/>
        </p:spPr>
        <p:txBody>
          <a:bodyPr wrap="square"/>
          <a:lstStyle/>
          <a:p>
            <a:pPr algn="l">
              <a:lnSpc>
                <a:spcPts val="1200"/>
              </a:lnSpc>
              <a:defRPr sz="800" b="1" i="0">
                <a:solidFill>
                  <a:srgbClr val="888580"/>
                </a:solidFill>
                <a:latin typeface="Calibri"/>
              </a:defRPr>
            </a:pPr>
            <a:r>
              <a:t>PROBLEMS</a:t>
            </a:r>
            <a:br/>
            <a:r>
              <a:t>PER EVENT</a:t>
            </a:r>
          </a:p>
        </p:txBody>
      </p:sp>
      <p:sp>
        <p:nvSpPr>
          <p:cNvPr id="83" name="TextBox 82"/>
          <p:cNvSpPr txBox="1"/>
          <p:nvPr/>
        </p:nvSpPr>
        <p:spPr>
          <a:xfrm>
            <a:off x="9235440" y="5806440"/>
            <a:ext cx="1371600" cy="411480"/>
          </a:xfrm>
          <a:prstGeom prst="rect">
            <a:avLst/>
          </a:prstGeom>
          <a:noFill/>
        </p:spPr>
        <p:txBody>
          <a:bodyPr wrap="square"/>
          <a:lstStyle/>
          <a:p>
            <a:pPr algn="l">
              <a:defRPr sz="3200" b="1" i="0">
                <a:solidFill>
                  <a:srgbClr val="CC0011"/>
                </a:solidFill>
                <a:latin typeface="Arial Black"/>
              </a:defRPr>
            </a:pPr>
            <a:r>
              <a:t>3</a:t>
            </a:r>
          </a:p>
        </p:txBody>
      </p:sp>
      <p:sp>
        <p:nvSpPr>
          <p:cNvPr id="84" name="TextBox 83"/>
          <p:cNvSpPr txBox="1"/>
          <p:nvPr/>
        </p:nvSpPr>
        <p:spPr>
          <a:xfrm>
            <a:off x="10332720" y="5852160"/>
            <a:ext cx="1828800" cy="365760"/>
          </a:xfrm>
          <a:prstGeom prst="rect">
            <a:avLst/>
          </a:prstGeom>
          <a:noFill/>
        </p:spPr>
        <p:txBody>
          <a:bodyPr wrap="square"/>
          <a:lstStyle/>
          <a:p>
            <a:pPr algn="l">
              <a:lnSpc>
                <a:spcPts val="1200"/>
              </a:lnSpc>
              <a:defRPr sz="800" b="1" i="0">
                <a:solidFill>
                  <a:srgbClr val="888580"/>
                </a:solidFill>
                <a:latin typeface="Calibri"/>
              </a:defRPr>
            </a:pPr>
            <a:r>
              <a:t>MONTHS</a:t>
            </a:r>
            <a:br/>
            <a:r>
              <a:t>SERIES</a:t>
            </a:r>
          </a:p>
        </p:txBody>
      </p:sp>
      <p:sp>
        <p:nvSpPr>
          <p:cNvPr id="85" name="Rectangle 84"/>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88" name="TextBox 87"/>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274320"/>
          </a:xfrm>
          <a:prstGeom prst="rect">
            <a:avLst/>
          </a:prstGeom>
          <a:noFill/>
        </p:spPr>
        <p:txBody>
          <a:bodyPr wrap="square"/>
          <a:lstStyle/>
          <a:p>
            <a:pPr algn="l">
              <a:defRPr sz="1000" b="1" i="0">
                <a:solidFill>
                  <a:srgbClr val="555555"/>
                </a:solidFill>
                <a:latin typeface="Calibri"/>
              </a:defRPr>
            </a:pPr>
            <a:r>
              <a:t>17  —  NATIONAL LEVEL</a:t>
            </a:r>
          </a:p>
        </p:txBody>
      </p:sp>
      <p:sp>
        <p:nvSpPr>
          <p:cNvPr id="5" name="TextBox 4"/>
          <p:cNvSpPr txBox="1"/>
          <p:nvPr/>
        </p:nvSpPr>
        <p:spPr>
          <a:xfrm>
            <a:off x="731520" y="731520"/>
            <a:ext cx="9144000" cy="594360"/>
          </a:xfrm>
          <a:prstGeom prst="rect">
            <a:avLst/>
          </a:prstGeom>
          <a:noFill/>
        </p:spPr>
        <p:txBody>
          <a:bodyPr wrap="square"/>
          <a:lstStyle/>
          <a:p>
            <a:pPr algn="l">
              <a:defRPr sz="4600" b="1" i="0">
                <a:solidFill>
                  <a:srgbClr val="FFFFFF"/>
                </a:solidFill>
                <a:latin typeface="Arial Black"/>
              </a:defRPr>
            </a:pPr>
            <a:r>
              <a:t>SEA Games 2025</a:t>
            </a:r>
          </a:p>
        </p:txBody>
      </p:sp>
      <p:sp>
        <p:nvSpPr>
          <p:cNvPr id="6" name="TextBox 5"/>
          <p:cNvSpPr txBox="1"/>
          <p:nvPr/>
        </p:nvSpPr>
        <p:spPr>
          <a:xfrm>
            <a:off x="731520" y="1371600"/>
            <a:ext cx="9144000" cy="457200"/>
          </a:xfrm>
          <a:prstGeom prst="rect">
            <a:avLst/>
          </a:prstGeom>
          <a:noFill/>
        </p:spPr>
        <p:txBody>
          <a:bodyPr wrap="square"/>
          <a:lstStyle/>
          <a:p>
            <a:pPr algn="l">
              <a:defRPr sz="2800" b="1" i="0">
                <a:solidFill>
                  <a:srgbClr val="FF8C00"/>
                </a:solidFill>
                <a:latin typeface="Arial Black"/>
              </a:defRPr>
            </a:pPr>
            <a:r>
              <a:t>Extreme Sports — Climbing Thailand</a:t>
            </a:r>
          </a:p>
        </p:txBody>
      </p:sp>
      <p:sp>
        <p:nvSpPr>
          <p:cNvPr id="7" name="Rectangle 6"/>
          <p:cNvSpPr/>
          <p:nvPr/>
        </p:nvSpPr>
        <p:spPr>
          <a:xfrm>
            <a:off x="731520" y="196596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48840"/>
            <a:ext cx="6858000" cy="320040"/>
          </a:xfrm>
          <a:prstGeom prst="rect">
            <a:avLst/>
          </a:prstGeom>
          <a:noFill/>
        </p:spPr>
        <p:txBody>
          <a:bodyPr wrap="square"/>
          <a:lstStyle/>
          <a:p>
            <a:pPr algn="l">
              <a:defRPr sz="1300" b="1" i="0">
                <a:solidFill>
                  <a:srgbClr val="FF8C00"/>
                </a:solidFill>
                <a:latin typeface="Calibri"/>
              </a:defRPr>
            </a:pPr>
            <a:r>
              <a:t>HEAD OF PROTOCOL TECHNOLOGY, MARKETING</a:t>
            </a:r>
          </a:p>
        </p:txBody>
      </p:sp>
      <p:sp>
        <p:nvSpPr>
          <p:cNvPr id="9" name="TextBox 8"/>
          <p:cNvSpPr txBox="1"/>
          <p:nvPr/>
        </p:nvSpPr>
        <p:spPr>
          <a:xfrm>
            <a:off x="731520" y="2423160"/>
            <a:ext cx="6858000" cy="320040"/>
          </a:xfrm>
          <a:prstGeom prst="rect">
            <a:avLst/>
          </a:prstGeom>
          <a:noFill/>
        </p:spPr>
        <p:txBody>
          <a:bodyPr wrap="square"/>
          <a:lstStyle/>
          <a:p>
            <a:pPr algn="l">
              <a:defRPr sz="1300" b="1" i="0">
                <a:solidFill>
                  <a:srgbClr val="FF8C00"/>
                </a:solidFill>
                <a:latin typeface="Calibri"/>
              </a:defRPr>
            </a:pPr>
            <a:r>
              <a:t>&amp; LIAISON WITH IFSC (NOW WORLD CLIMBING)</a:t>
            </a:r>
          </a:p>
        </p:txBody>
      </p:sp>
      <p:sp>
        <p:nvSpPr>
          <p:cNvPr id="10" name="TextBox 9"/>
          <p:cNvSpPr txBox="1"/>
          <p:nvPr/>
        </p:nvSpPr>
        <p:spPr>
          <a:xfrm>
            <a:off x="731520" y="2880360"/>
            <a:ext cx="6583680" cy="1188720"/>
          </a:xfrm>
          <a:prstGeom prst="rect">
            <a:avLst/>
          </a:prstGeom>
          <a:noFill/>
        </p:spPr>
        <p:txBody>
          <a:bodyPr wrap="square"/>
          <a:lstStyle/>
          <a:p>
            <a:pPr algn="l">
              <a:lnSpc>
                <a:spcPts val="1900"/>
              </a:lnSpc>
              <a:defRPr sz="1200" b="0" i="0">
                <a:solidFill>
                  <a:srgbClr val="BBBBBB"/>
                </a:solidFill>
                <a:latin typeface="Calibri"/>
              </a:defRPr>
            </a:pPr>
            <a:r>
              <a:t>Serving as Head of Protocol Technology, Marketing, and Liaison with the International Federation of Sport Climbing (IFSC, now rebranded as World Climbing) for Sport Climbing at the 33rd SEA Games in Bangkok, Thailand. Overseeing competition technology systems, event marketing, and coordination between TSCA and international delegations from across Southeast Asia.</a:t>
            </a:r>
          </a:p>
        </p:txBody>
      </p:sp>
      <p:sp>
        <p:nvSpPr>
          <p:cNvPr id="11" name="TextBox 10"/>
          <p:cNvSpPr txBox="1"/>
          <p:nvPr/>
        </p:nvSpPr>
        <p:spPr>
          <a:xfrm>
            <a:off x="731520" y="3977639"/>
            <a:ext cx="6583680" cy="822960"/>
          </a:xfrm>
          <a:prstGeom prst="rect">
            <a:avLst/>
          </a:prstGeom>
          <a:noFill/>
        </p:spPr>
        <p:txBody>
          <a:bodyPr wrap="square"/>
          <a:lstStyle/>
          <a:p>
            <a:pPr algn="l">
              <a:lnSpc>
                <a:spcPts val="1700"/>
              </a:lnSpc>
              <a:defRPr sz="1100" b="0" i="0">
                <a:solidFill>
                  <a:srgbClr val="777777"/>
                </a:solidFill>
                <a:latin typeface="Calibri"/>
              </a:defRPr>
            </a:pPr>
            <a:r>
              <a:t>Delivering world-class sport climbing competitions featuring Speed, Lead, and Boulder disciplines at the Bangkok Sport Climbing Center. Leveraging Social Climbers technology for competition management, live scoring, and international broadcast.</a:t>
            </a:r>
          </a:p>
        </p:txBody>
      </p:sp>
      <p:sp>
        <p:nvSpPr>
          <p:cNvPr id="12" name="Rectangle 11"/>
          <p:cNvSpPr/>
          <p:nvPr/>
        </p:nvSpPr>
        <p:spPr>
          <a:xfrm>
            <a:off x="7863840" y="2148840"/>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185416"/>
            <a:ext cx="1371600" cy="182880"/>
          </a:xfrm>
          <a:prstGeom prst="rect">
            <a:avLst/>
          </a:prstGeom>
          <a:noFill/>
        </p:spPr>
        <p:txBody>
          <a:bodyPr wrap="square"/>
          <a:lstStyle/>
          <a:p>
            <a:pPr algn="l">
              <a:defRPr sz="800" b="1" i="0">
                <a:solidFill>
                  <a:srgbClr val="FF8C00"/>
                </a:solidFill>
                <a:latin typeface="Calibri"/>
              </a:defRPr>
            </a:pPr>
            <a:r>
              <a:t>ROLE</a:t>
            </a:r>
          </a:p>
        </p:txBody>
      </p:sp>
      <p:sp>
        <p:nvSpPr>
          <p:cNvPr id="14" name="TextBox 13"/>
          <p:cNvSpPr txBox="1"/>
          <p:nvPr/>
        </p:nvSpPr>
        <p:spPr>
          <a:xfrm>
            <a:off x="8046720" y="2350008"/>
            <a:ext cx="3474720" cy="256032"/>
          </a:xfrm>
          <a:prstGeom prst="rect">
            <a:avLst/>
          </a:prstGeom>
          <a:noFill/>
        </p:spPr>
        <p:txBody>
          <a:bodyPr wrap="square"/>
          <a:lstStyle/>
          <a:p>
            <a:pPr algn="l">
              <a:defRPr sz="1000" b="1" i="0">
                <a:solidFill>
                  <a:srgbClr val="FFFFFF"/>
                </a:solidFill>
                <a:latin typeface="Calibri"/>
              </a:defRPr>
            </a:pPr>
            <a:r>
              <a:t>Head of Protocol Technology,</a:t>
            </a:r>
            <a:br/>
            <a:r>
              <a:t>Marketing &amp; IFSC Liaison</a:t>
            </a:r>
          </a:p>
        </p:txBody>
      </p:sp>
      <p:sp>
        <p:nvSpPr>
          <p:cNvPr id="15" name="Rectangle 14"/>
          <p:cNvSpPr/>
          <p:nvPr/>
        </p:nvSpPr>
        <p:spPr>
          <a:xfrm>
            <a:off x="7863840" y="2715768"/>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2752344"/>
            <a:ext cx="1371600" cy="182880"/>
          </a:xfrm>
          <a:prstGeom prst="rect">
            <a:avLst/>
          </a:prstGeom>
          <a:noFill/>
        </p:spPr>
        <p:txBody>
          <a:bodyPr wrap="square"/>
          <a:lstStyle/>
          <a:p>
            <a:pPr algn="l">
              <a:defRPr sz="800" b="1" i="0">
                <a:solidFill>
                  <a:srgbClr val="FF8C00"/>
                </a:solidFill>
                <a:latin typeface="Calibri"/>
              </a:defRPr>
            </a:pPr>
            <a:r>
              <a:t>EVENT</a:t>
            </a:r>
          </a:p>
        </p:txBody>
      </p:sp>
      <p:sp>
        <p:nvSpPr>
          <p:cNvPr id="17" name="TextBox 16"/>
          <p:cNvSpPr txBox="1"/>
          <p:nvPr/>
        </p:nvSpPr>
        <p:spPr>
          <a:xfrm>
            <a:off x="8046720" y="2916936"/>
            <a:ext cx="3474720" cy="256032"/>
          </a:xfrm>
          <a:prstGeom prst="rect">
            <a:avLst/>
          </a:prstGeom>
          <a:noFill/>
        </p:spPr>
        <p:txBody>
          <a:bodyPr wrap="square"/>
          <a:lstStyle/>
          <a:p>
            <a:pPr algn="l">
              <a:defRPr sz="1000" b="1" i="0">
                <a:solidFill>
                  <a:srgbClr val="FFFFFF"/>
                </a:solidFill>
                <a:latin typeface="Calibri"/>
              </a:defRPr>
            </a:pPr>
            <a:r>
              <a:t>33rd SEA Games — Bangkok, Thailand</a:t>
            </a:r>
          </a:p>
        </p:txBody>
      </p:sp>
      <p:sp>
        <p:nvSpPr>
          <p:cNvPr id="18" name="Rectangle 17"/>
          <p:cNvSpPr/>
          <p:nvPr/>
        </p:nvSpPr>
        <p:spPr>
          <a:xfrm>
            <a:off x="7863840" y="3282696"/>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3319272"/>
            <a:ext cx="1371600" cy="182880"/>
          </a:xfrm>
          <a:prstGeom prst="rect">
            <a:avLst/>
          </a:prstGeom>
          <a:noFill/>
        </p:spPr>
        <p:txBody>
          <a:bodyPr wrap="square"/>
          <a:lstStyle/>
          <a:p>
            <a:pPr algn="l">
              <a:defRPr sz="800" b="1" i="0">
                <a:solidFill>
                  <a:srgbClr val="FF8C00"/>
                </a:solidFill>
                <a:latin typeface="Calibri"/>
              </a:defRPr>
            </a:pPr>
            <a:r>
              <a:t>VENUE</a:t>
            </a:r>
          </a:p>
        </p:txBody>
      </p:sp>
      <p:sp>
        <p:nvSpPr>
          <p:cNvPr id="20" name="TextBox 19"/>
          <p:cNvSpPr txBox="1"/>
          <p:nvPr/>
        </p:nvSpPr>
        <p:spPr>
          <a:xfrm>
            <a:off x="8046720" y="3483864"/>
            <a:ext cx="3474720" cy="256032"/>
          </a:xfrm>
          <a:prstGeom prst="rect">
            <a:avLst/>
          </a:prstGeom>
          <a:noFill/>
        </p:spPr>
        <p:txBody>
          <a:bodyPr wrap="square"/>
          <a:lstStyle/>
          <a:p>
            <a:pPr algn="l">
              <a:defRPr sz="1000" b="1" i="0">
                <a:solidFill>
                  <a:srgbClr val="FFFFFF"/>
                </a:solidFill>
                <a:latin typeface="Calibri"/>
              </a:defRPr>
            </a:pPr>
            <a:r>
              <a:t>Bangkok Sport Climbing Center</a:t>
            </a:r>
          </a:p>
        </p:txBody>
      </p:sp>
      <p:sp>
        <p:nvSpPr>
          <p:cNvPr id="21" name="Rectangle 20"/>
          <p:cNvSpPr/>
          <p:nvPr/>
        </p:nvSpPr>
        <p:spPr>
          <a:xfrm>
            <a:off x="7863840" y="3849624"/>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3886200"/>
            <a:ext cx="1371600" cy="182880"/>
          </a:xfrm>
          <a:prstGeom prst="rect">
            <a:avLst/>
          </a:prstGeom>
          <a:noFill/>
        </p:spPr>
        <p:txBody>
          <a:bodyPr wrap="square"/>
          <a:lstStyle/>
          <a:p>
            <a:pPr algn="l">
              <a:defRPr sz="800" b="1" i="0">
                <a:solidFill>
                  <a:srgbClr val="FF8C00"/>
                </a:solidFill>
                <a:latin typeface="Calibri"/>
              </a:defRPr>
            </a:pPr>
            <a:r>
              <a:t>ORGANISER</a:t>
            </a:r>
          </a:p>
        </p:txBody>
      </p:sp>
      <p:sp>
        <p:nvSpPr>
          <p:cNvPr id="23" name="TextBox 22"/>
          <p:cNvSpPr txBox="1"/>
          <p:nvPr/>
        </p:nvSpPr>
        <p:spPr>
          <a:xfrm>
            <a:off x="8046720" y="4050791"/>
            <a:ext cx="3474720" cy="256032"/>
          </a:xfrm>
          <a:prstGeom prst="rect">
            <a:avLst/>
          </a:prstGeom>
          <a:noFill/>
        </p:spPr>
        <p:txBody>
          <a:bodyPr wrap="square"/>
          <a:lstStyle/>
          <a:p>
            <a:pPr algn="l">
              <a:defRPr sz="1000" b="1" i="0">
                <a:solidFill>
                  <a:srgbClr val="FFFFFF"/>
                </a:solidFill>
                <a:latin typeface="Calibri"/>
              </a:defRPr>
            </a:pPr>
            <a:r>
              <a:t>Thailand Sport Climbing Association (TSCA)</a:t>
            </a:r>
          </a:p>
        </p:txBody>
      </p:sp>
      <p:sp>
        <p:nvSpPr>
          <p:cNvPr id="24" name="Rectangle 23"/>
          <p:cNvSpPr/>
          <p:nvPr/>
        </p:nvSpPr>
        <p:spPr>
          <a:xfrm>
            <a:off x="7863840" y="4416552"/>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4453128"/>
            <a:ext cx="1371600" cy="182880"/>
          </a:xfrm>
          <a:prstGeom prst="rect">
            <a:avLst/>
          </a:prstGeom>
          <a:noFill/>
        </p:spPr>
        <p:txBody>
          <a:bodyPr wrap="square"/>
          <a:lstStyle/>
          <a:p>
            <a:pPr algn="l">
              <a:defRPr sz="800" b="1" i="0">
                <a:solidFill>
                  <a:srgbClr val="FF8C00"/>
                </a:solidFill>
                <a:latin typeface="Calibri"/>
              </a:defRPr>
            </a:pPr>
            <a:r>
              <a:t>FEDERATION</a:t>
            </a:r>
          </a:p>
        </p:txBody>
      </p:sp>
      <p:sp>
        <p:nvSpPr>
          <p:cNvPr id="26" name="TextBox 25"/>
          <p:cNvSpPr txBox="1"/>
          <p:nvPr/>
        </p:nvSpPr>
        <p:spPr>
          <a:xfrm>
            <a:off x="8046720" y="4617720"/>
            <a:ext cx="3474720" cy="256032"/>
          </a:xfrm>
          <a:prstGeom prst="rect">
            <a:avLst/>
          </a:prstGeom>
          <a:noFill/>
        </p:spPr>
        <p:txBody>
          <a:bodyPr wrap="square"/>
          <a:lstStyle/>
          <a:p>
            <a:pPr algn="l">
              <a:defRPr sz="1000" b="1" i="0">
                <a:solidFill>
                  <a:srgbClr val="FFFFFF"/>
                </a:solidFill>
                <a:latin typeface="Calibri"/>
              </a:defRPr>
            </a:pPr>
            <a:r>
              <a:t>IFSC / World Climbing</a:t>
            </a:r>
          </a:p>
        </p:txBody>
      </p:sp>
      <p:sp>
        <p:nvSpPr>
          <p:cNvPr id="27" name="Rectangle 26"/>
          <p:cNvSpPr/>
          <p:nvPr/>
        </p:nvSpPr>
        <p:spPr>
          <a:xfrm>
            <a:off x="7863840" y="4983480"/>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5020056"/>
            <a:ext cx="1371600" cy="182880"/>
          </a:xfrm>
          <a:prstGeom prst="rect">
            <a:avLst/>
          </a:prstGeom>
          <a:noFill/>
        </p:spPr>
        <p:txBody>
          <a:bodyPr wrap="square"/>
          <a:lstStyle/>
          <a:p>
            <a:pPr algn="l">
              <a:defRPr sz="800" b="1" i="0">
                <a:solidFill>
                  <a:srgbClr val="FF8C00"/>
                </a:solidFill>
                <a:latin typeface="Calibri"/>
              </a:defRPr>
            </a:pPr>
            <a:r>
              <a:t>DATES</a:t>
            </a:r>
          </a:p>
        </p:txBody>
      </p:sp>
      <p:sp>
        <p:nvSpPr>
          <p:cNvPr id="29" name="TextBox 28"/>
          <p:cNvSpPr txBox="1"/>
          <p:nvPr/>
        </p:nvSpPr>
        <p:spPr>
          <a:xfrm>
            <a:off x="8046720" y="5184648"/>
            <a:ext cx="3474720" cy="256032"/>
          </a:xfrm>
          <a:prstGeom prst="rect">
            <a:avLst/>
          </a:prstGeom>
          <a:noFill/>
        </p:spPr>
        <p:txBody>
          <a:bodyPr wrap="square"/>
          <a:lstStyle/>
          <a:p>
            <a:pPr algn="l">
              <a:defRPr sz="1000" b="1" i="0">
                <a:solidFill>
                  <a:srgbClr val="FFFFFF"/>
                </a:solidFill>
                <a:latin typeface="Calibri"/>
              </a:defRPr>
            </a:pPr>
            <a:r>
              <a:t>December 12 — 14, 2025</a:t>
            </a:r>
          </a:p>
        </p:txBody>
      </p:sp>
      <p:sp>
        <p:nvSpPr>
          <p:cNvPr id="30" name="Rectangle 29"/>
          <p:cNvSpPr/>
          <p:nvPr/>
        </p:nvSpPr>
        <p:spPr>
          <a:xfrm>
            <a:off x="7863840" y="5550408"/>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0" y="5586984"/>
            <a:ext cx="1371600" cy="182880"/>
          </a:xfrm>
          <a:prstGeom prst="rect">
            <a:avLst/>
          </a:prstGeom>
          <a:noFill/>
        </p:spPr>
        <p:txBody>
          <a:bodyPr wrap="square"/>
          <a:lstStyle/>
          <a:p>
            <a:pPr algn="l">
              <a:defRPr sz="800" b="1" i="0">
                <a:solidFill>
                  <a:srgbClr val="FF8C00"/>
                </a:solidFill>
                <a:latin typeface="Calibri"/>
              </a:defRPr>
            </a:pPr>
            <a:r>
              <a:t>DISCIPLINES</a:t>
            </a:r>
          </a:p>
        </p:txBody>
      </p:sp>
      <p:sp>
        <p:nvSpPr>
          <p:cNvPr id="32" name="TextBox 31"/>
          <p:cNvSpPr txBox="1"/>
          <p:nvPr/>
        </p:nvSpPr>
        <p:spPr>
          <a:xfrm>
            <a:off x="8046720" y="5751576"/>
            <a:ext cx="3474720" cy="256032"/>
          </a:xfrm>
          <a:prstGeom prst="rect">
            <a:avLst/>
          </a:prstGeom>
          <a:noFill/>
        </p:spPr>
        <p:txBody>
          <a:bodyPr wrap="square"/>
          <a:lstStyle/>
          <a:p>
            <a:pPr algn="l">
              <a:defRPr sz="1000" b="1" i="0">
                <a:solidFill>
                  <a:srgbClr val="FFFFFF"/>
                </a:solidFill>
                <a:latin typeface="Calibri"/>
              </a:defRPr>
            </a:pPr>
            <a:r>
              <a:t>Speed  ·  Lead  ·  Boulder</a:t>
            </a:r>
          </a:p>
        </p:txBody>
      </p:sp>
      <p:sp>
        <p:nvSpPr>
          <p:cNvPr id="33" name="Rectangle 32"/>
          <p:cNvSpPr/>
          <p:nvPr/>
        </p:nvSpPr>
        <p:spPr>
          <a:xfrm>
            <a:off x="731520" y="5029200"/>
            <a:ext cx="1014983"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029200"/>
            <a:ext cx="1014983" cy="320040"/>
          </a:xfrm>
          <a:prstGeom prst="rect">
            <a:avLst/>
          </a:prstGeom>
          <a:noFill/>
        </p:spPr>
        <p:txBody>
          <a:bodyPr wrap="square"/>
          <a:lstStyle/>
          <a:p>
            <a:pPr algn="ctr">
              <a:defRPr sz="800" b="1" i="0">
                <a:solidFill>
                  <a:srgbClr val="FFA533"/>
                </a:solidFill>
                <a:latin typeface="Calibri"/>
              </a:defRPr>
            </a:pPr>
            <a:r>
              <a:t>SEA GAMES</a:t>
            </a:r>
          </a:p>
        </p:txBody>
      </p:sp>
      <p:sp>
        <p:nvSpPr>
          <p:cNvPr id="35" name="Rectangle 34"/>
          <p:cNvSpPr/>
          <p:nvPr/>
        </p:nvSpPr>
        <p:spPr>
          <a:xfrm>
            <a:off x="1883663" y="5029200"/>
            <a:ext cx="1426464"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83663" y="5029200"/>
            <a:ext cx="1426464" cy="320040"/>
          </a:xfrm>
          <a:prstGeom prst="rect">
            <a:avLst/>
          </a:prstGeom>
          <a:noFill/>
        </p:spPr>
        <p:txBody>
          <a:bodyPr wrap="square"/>
          <a:lstStyle/>
          <a:p>
            <a:pPr algn="ctr">
              <a:defRPr sz="800" b="1" i="0">
                <a:solidFill>
                  <a:srgbClr val="FFA533"/>
                </a:solidFill>
                <a:latin typeface="Calibri"/>
              </a:defRPr>
            </a:pPr>
            <a:r>
              <a:t>SPORT CLIMBING</a:t>
            </a:r>
          </a:p>
        </p:txBody>
      </p:sp>
      <p:sp>
        <p:nvSpPr>
          <p:cNvPr id="37" name="Rectangle 36"/>
          <p:cNvSpPr/>
          <p:nvPr/>
        </p:nvSpPr>
        <p:spPr>
          <a:xfrm>
            <a:off x="3447287" y="5029200"/>
            <a:ext cx="1426464"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47287" y="5029200"/>
            <a:ext cx="1426464" cy="320040"/>
          </a:xfrm>
          <a:prstGeom prst="rect">
            <a:avLst/>
          </a:prstGeom>
          <a:noFill/>
        </p:spPr>
        <p:txBody>
          <a:bodyPr wrap="square"/>
          <a:lstStyle/>
          <a:p>
            <a:pPr algn="ctr">
              <a:defRPr sz="800" b="1" i="0">
                <a:solidFill>
                  <a:srgbClr val="FFA533"/>
                </a:solidFill>
                <a:latin typeface="Calibri"/>
              </a:defRPr>
            </a:pPr>
            <a:r>
              <a:t>WORLD CLIMBING</a:t>
            </a:r>
          </a:p>
        </p:txBody>
      </p:sp>
      <p:sp>
        <p:nvSpPr>
          <p:cNvPr id="39" name="Rectangle 38"/>
          <p:cNvSpPr/>
          <p:nvPr/>
        </p:nvSpPr>
        <p:spPr>
          <a:xfrm>
            <a:off x="5010912" y="5029200"/>
            <a:ext cx="603503"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10912" y="5029200"/>
            <a:ext cx="603503" cy="320040"/>
          </a:xfrm>
          <a:prstGeom prst="rect">
            <a:avLst/>
          </a:prstGeom>
          <a:noFill/>
        </p:spPr>
        <p:txBody>
          <a:bodyPr wrap="square"/>
          <a:lstStyle/>
          <a:p>
            <a:pPr algn="ctr">
              <a:defRPr sz="800" b="1" i="0">
                <a:solidFill>
                  <a:srgbClr val="FFA533"/>
                </a:solidFill>
                <a:latin typeface="Calibri"/>
              </a:defRPr>
            </a:pPr>
            <a:r>
              <a:t>IFSC</a:t>
            </a:r>
          </a:p>
        </p:txBody>
      </p:sp>
      <p:sp>
        <p:nvSpPr>
          <p:cNvPr id="41" name="Rectangle 40"/>
          <p:cNvSpPr/>
          <p:nvPr/>
        </p:nvSpPr>
        <p:spPr>
          <a:xfrm>
            <a:off x="5751575" y="5029200"/>
            <a:ext cx="1344168"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51575" y="5029200"/>
            <a:ext cx="1344168" cy="320040"/>
          </a:xfrm>
          <a:prstGeom prst="rect">
            <a:avLst/>
          </a:prstGeom>
          <a:noFill/>
        </p:spPr>
        <p:txBody>
          <a:bodyPr wrap="square"/>
          <a:lstStyle/>
          <a:p>
            <a:pPr algn="ctr">
              <a:defRPr sz="800" b="1" i="0">
                <a:solidFill>
                  <a:srgbClr val="FFA533"/>
                </a:solidFill>
                <a:latin typeface="Calibri"/>
              </a:defRPr>
            </a:pPr>
            <a:r>
              <a:t>PROTOCOL TECH</a:t>
            </a:r>
          </a:p>
        </p:txBody>
      </p:sp>
      <p:sp>
        <p:nvSpPr>
          <p:cNvPr id="43" name="Rectangle 42"/>
          <p:cNvSpPr/>
          <p:nvPr/>
        </p:nvSpPr>
        <p:spPr>
          <a:xfrm>
            <a:off x="7232903" y="5029200"/>
            <a:ext cx="603503"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232903" y="5029200"/>
            <a:ext cx="603503" cy="320040"/>
          </a:xfrm>
          <a:prstGeom prst="rect">
            <a:avLst/>
          </a:prstGeom>
          <a:noFill/>
        </p:spPr>
        <p:txBody>
          <a:bodyPr wrap="square"/>
          <a:lstStyle/>
          <a:p>
            <a:pPr algn="ctr">
              <a:defRPr sz="800" b="1" i="0">
                <a:solidFill>
                  <a:srgbClr val="FFA533"/>
                </a:solidFill>
                <a:latin typeface="Calibri"/>
              </a:defRPr>
            </a:pPr>
            <a:r>
              <a:t>TSCA</a:t>
            </a:r>
          </a:p>
        </p:txBody>
      </p:sp>
      <p:sp>
        <p:nvSpPr>
          <p:cNvPr id="45" name="Rectangle 44"/>
          <p:cNvSpPr/>
          <p:nvPr/>
        </p:nvSpPr>
        <p:spPr>
          <a:xfrm>
            <a:off x="731520" y="5577840"/>
            <a:ext cx="1069848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5715000"/>
            <a:ext cx="1371600" cy="457200"/>
          </a:xfrm>
          <a:prstGeom prst="rect">
            <a:avLst/>
          </a:prstGeom>
          <a:noFill/>
        </p:spPr>
        <p:txBody>
          <a:bodyPr wrap="square"/>
          <a:lstStyle/>
          <a:p>
            <a:pPr algn="l">
              <a:defRPr sz="3600" b="1" i="0">
                <a:solidFill>
                  <a:srgbClr val="FF8C00"/>
                </a:solidFill>
                <a:latin typeface="Arial Black"/>
              </a:defRPr>
            </a:pPr>
            <a:r>
              <a:t>11</a:t>
            </a:r>
          </a:p>
        </p:txBody>
      </p:sp>
      <p:sp>
        <p:nvSpPr>
          <p:cNvPr id="47" name="TextBox 46"/>
          <p:cNvSpPr txBox="1"/>
          <p:nvPr/>
        </p:nvSpPr>
        <p:spPr>
          <a:xfrm>
            <a:off x="1828800" y="5760720"/>
            <a:ext cx="1828800" cy="457200"/>
          </a:xfrm>
          <a:prstGeom prst="rect">
            <a:avLst/>
          </a:prstGeom>
          <a:noFill/>
        </p:spPr>
        <p:txBody>
          <a:bodyPr wrap="square"/>
          <a:lstStyle/>
          <a:p>
            <a:pPr algn="l">
              <a:lnSpc>
                <a:spcPts val="1200"/>
              </a:lnSpc>
              <a:defRPr sz="800" b="1" i="0">
                <a:solidFill>
                  <a:srgbClr val="555555"/>
                </a:solidFill>
                <a:latin typeface="Calibri"/>
              </a:defRPr>
            </a:pPr>
            <a:r>
              <a:t>COMPETING</a:t>
            </a:r>
            <a:br/>
            <a:r>
              <a:t>NATIONS</a:t>
            </a:r>
          </a:p>
        </p:txBody>
      </p:sp>
      <p:sp>
        <p:nvSpPr>
          <p:cNvPr id="48" name="TextBox 47"/>
          <p:cNvSpPr txBox="1"/>
          <p:nvPr/>
        </p:nvSpPr>
        <p:spPr>
          <a:xfrm>
            <a:off x="3566160" y="5715000"/>
            <a:ext cx="1371600" cy="457200"/>
          </a:xfrm>
          <a:prstGeom prst="rect">
            <a:avLst/>
          </a:prstGeom>
          <a:noFill/>
        </p:spPr>
        <p:txBody>
          <a:bodyPr wrap="square"/>
          <a:lstStyle/>
          <a:p>
            <a:pPr algn="l">
              <a:defRPr sz="3600" b="1" i="0">
                <a:solidFill>
                  <a:srgbClr val="FF8C00"/>
                </a:solidFill>
                <a:latin typeface="Arial Black"/>
              </a:defRPr>
            </a:pPr>
            <a:r>
              <a:t>3</a:t>
            </a:r>
          </a:p>
        </p:txBody>
      </p:sp>
      <p:sp>
        <p:nvSpPr>
          <p:cNvPr id="49" name="TextBox 48"/>
          <p:cNvSpPr txBox="1"/>
          <p:nvPr/>
        </p:nvSpPr>
        <p:spPr>
          <a:xfrm>
            <a:off x="4663440" y="5760720"/>
            <a:ext cx="1828800" cy="457200"/>
          </a:xfrm>
          <a:prstGeom prst="rect">
            <a:avLst/>
          </a:prstGeom>
          <a:noFill/>
        </p:spPr>
        <p:txBody>
          <a:bodyPr wrap="square"/>
          <a:lstStyle/>
          <a:p>
            <a:pPr algn="l">
              <a:lnSpc>
                <a:spcPts val="1200"/>
              </a:lnSpc>
              <a:defRPr sz="800" b="1" i="0">
                <a:solidFill>
                  <a:srgbClr val="555555"/>
                </a:solidFill>
                <a:latin typeface="Calibri"/>
              </a:defRPr>
            </a:pPr>
            <a:r>
              <a:t>CLIMBING</a:t>
            </a:r>
            <a:br/>
            <a:r>
              <a:t>DISCIPLINES</a:t>
            </a:r>
          </a:p>
        </p:txBody>
      </p:sp>
      <p:sp>
        <p:nvSpPr>
          <p:cNvPr id="50" name="TextBox 49"/>
          <p:cNvSpPr txBox="1"/>
          <p:nvPr/>
        </p:nvSpPr>
        <p:spPr>
          <a:xfrm>
            <a:off x="6400800" y="5715000"/>
            <a:ext cx="1371600" cy="457200"/>
          </a:xfrm>
          <a:prstGeom prst="rect">
            <a:avLst/>
          </a:prstGeom>
          <a:noFill/>
        </p:spPr>
        <p:txBody>
          <a:bodyPr wrap="square"/>
          <a:lstStyle/>
          <a:p>
            <a:pPr algn="l">
              <a:defRPr sz="3600" b="1" i="0">
                <a:solidFill>
                  <a:srgbClr val="FF8C00"/>
                </a:solidFill>
                <a:latin typeface="Arial Black"/>
              </a:defRPr>
            </a:pPr>
            <a:r>
              <a:t>2025</a:t>
            </a:r>
          </a:p>
        </p:txBody>
      </p:sp>
      <p:sp>
        <p:nvSpPr>
          <p:cNvPr id="51" name="TextBox 50"/>
          <p:cNvSpPr txBox="1"/>
          <p:nvPr/>
        </p:nvSpPr>
        <p:spPr>
          <a:xfrm>
            <a:off x="7498079" y="5760720"/>
            <a:ext cx="1828800" cy="457200"/>
          </a:xfrm>
          <a:prstGeom prst="rect">
            <a:avLst/>
          </a:prstGeom>
          <a:noFill/>
        </p:spPr>
        <p:txBody>
          <a:bodyPr wrap="square"/>
          <a:lstStyle/>
          <a:p>
            <a:pPr algn="l">
              <a:lnSpc>
                <a:spcPts val="1200"/>
              </a:lnSpc>
              <a:defRPr sz="800" b="1" i="0">
                <a:solidFill>
                  <a:srgbClr val="555555"/>
                </a:solidFill>
                <a:latin typeface="Calibri"/>
              </a:defRPr>
            </a:pPr>
            <a:r>
              <a:t>33RD SEA</a:t>
            </a:r>
            <a:br/>
            <a:r>
              <a:t>GAMES</a:t>
            </a:r>
          </a:p>
        </p:txBody>
      </p:sp>
      <p:sp>
        <p:nvSpPr>
          <p:cNvPr id="52" name="TextBox 51"/>
          <p:cNvSpPr txBox="1"/>
          <p:nvPr/>
        </p:nvSpPr>
        <p:spPr>
          <a:xfrm>
            <a:off x="9235440" y="5715000"/>
            <a:ext cx="1371600" cy="457200"/>
          </a:xfrm>
          <a:prstGeom prst="rect">
            <a:avLst/>
          </a:prstGeom>
          <a:noFill/>
        </p:spPr>
        <p:txBody>
          <a:bodyPr wrap="square"/>
          <a:lstStyle/>
          <a:p>
            <a:pPr algn="l">
              <a:defRPr sz="3600" b="1" i="0">
                <a:solidFill>
                  <a:srgbClr val="FF8C00"/>
                </a:solidFill>
                <a:latin typeface="Arial Black"/>
              </a:defRPr>
            </a:pPr>
            <a:r>
              <a:t>1</a:t>
            </a:r>
          </a:p>
        </p:txBody>
      </p:sp>
      <p:sp>
        <p:nvSpPr>
          <p:cNvPr id="53" name="TextBox 52"/>
          <p:cNvSpPr txBox="1"/>
          <p:nvPr/>
        </p:nvSpPr>
        <p:spPr>
          <a:xfrm>
            <a:off x="10332720" y="5760720"/>
            <a:ext cx="1828800" cy="457200"/>
          </a:xfrm>
          <a:prstGeom prst="rect">
            <a:avLst/>
          </a:prstGeom>
          <a:noFill/>
        </p:spPr>
        <p:txBody>
          <a:bodyPr wrap="square"/>
          <a:lstStyle/>
          <a:p>
            <a:pPr algn="l">
              <a:lnSpc>
                <a:spcPts val="1200"/>
              </a:lnSpc>
              <a:defRPr sz="800" b="1" i="0">
                <a:solidFill>
                  <a:srgbClr val="555555"/>
                </a:solidFill>
                <a:latin typeface="Calibri"/>
              </a:defRPr>
            </a:pPr>
            <a:r>
              <a:t>UNIFIED SCORING</a:t>
            </a:r>
            <a:br/>
            <a:r>
              <a:t>PLATFORM</a:t>
            </a:r>
          </a:p>
        </p:txBody>
      </p:sp>
      <p:sp>
        <p:nvSpPr>
          <p:cNvPr id="54" name="Rectangle 53"/>
          <p:cNvSpPr/>
          <p:nvPr/>
        </p:nvSpPr>
        <p:spPr>
          <a:xfrm>
            <a:off x="0" y="6784848"/>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40080" y="6446520"/>
            <a:ext cx="365760" cy="1828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51560" y="6446520"/>
            <a:ext cx="10469880" cy="127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 y="6537959"/>
            <a:ext cx="4572000" cy="228600"/>
          </a:xfrm>
          <a:prstGeom prst="rect">
            <a:avLst/>
          </a:prstGeom>
          <a:noFill/>
        </p:spPr>
        <p:txBody>
          <a:bodyPr wrap="square"/>
          <a:lstStyle/>
          <a:p>
            <a:pPr algn="l">
              <a:defRPr sz="800" b="1" i="0">
                <a:solidFill>
                  <a:srgbClr val="555555"/>
                </a:solidFill>
                <a:latin typeface="Calibri"/>
              </a:defRPr>
            </a:pPr>
            <a:r>
              <a:t>AUGMA IMAGINARIUM  |  PRESS KIT 2026</a:t>
            </a:r>
          </a:p>
        </p:txBody>
      </p:sp>
      <p:sp>
        <p:nvSpPr>
          <p:cNvPr id="58" name="TextBox 57"/>
          <p:cNvSpPr txBox="1"/>
          <p:nvPr/>
        </p:nvSpPr>
        <p:spPr>
          <a:xfrm>
            <a:off x="8321040" y="6537959"/>
            <a:ext cx="3200400" cy="228600"/>
          </a:xfrm>
          <a:prstGeom prst="rect">
            <a:avLst/>
          </a:prstGeom>
          <a:noFill/>
        </p:spPr>
        <p:txBody>
          <a:bodyPr wrap="square"/>
          <a:lstStyle/>
          <a:p>
            <a:pPr algn="r">
              <a:defRPr sz="800" b="0" i="0">
                <a:solidFill>
                  <a:srgbClr val="555555"/>
                </a:solidFill>
                <a:latin typeface="Calibri"/>
              </a:defRPr>
            </a:pPr>
            <a:r>
              <a:t>mlhariras.tongyai@gmail.com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5486400" cy="274320"/>
          </a:xfrm>
          <a:prstGeom prst="rect">
            <a:avLst/>
          </a:prstGeom>
          <a:noFill/>
        </p:spPr>
        <p:txBody>
          <a:bodyPr wrap="square"/>
          <a:lstStyle/>
          <a:p>
            <a:pPr algn="l">
              <a:defRPr sz="1000" b="1" i="0">
                <a:solidFill>
                  <a:srgbClr val="888580"/>
                </a:solidFill>
                <a:latin typeface="Calibri"/>
              </a:defRPr>
            </a:pPr>
            <a:r>
              <a:t>18  —  NETWORK</a:t>
            </a:r>
          </a:p>
        </p:txBody>
      </p:sp>
      <p:sp>
        <p:nvSpPr>
          <p:cNvPr id="3" name="Rectangle 2"/>
          <p:cNvSpPr/>
          <p:nvPr/>
        </p:nvSpPr>
        <p:spPr>
          <a:xfrm>
            <a:off x="731520" y="685800"/>
            <a:ext cx="832104" cy="13716"/>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9144000" cy="502920"/>
          </a:xfrm>
          <a:prstGeom prst="rect">
            <a:avLst/>
          </a:prstGeom>
          <a:noFill/>
        </p:spPr>
        <p:txBody>
          <a:bodyPr wrap="square"/>
          <a:lstStyle/>
          <a:p>
            <a:pPr algn="l">
              <a:defRPr sz="3600" b="1" i="0">
                <a:solidFill>
                  <a:srgbClr val="1A1A1A"/>
                </a:solidFill>
                <a:latin typeface="Arial Black"/>
              </a:defRPr>
            </a:pPr>
            <a:r>
              <a:t>Partnerships &amp;</a:t>
            </a:r>
          </a:p>
        </p:txBody>
      </p:sp>
      <p:sp>
        <p:nvSpPr>
          <p:cNvPr id="5" name="TextBox 4"/>
          <p:cNvSpPr txBox="1"/>
          <p:nvPr/>
        </p:nvSpPr>
        <p:spPr>
          <a:xfrm>
            <a:off x="731520" y="1280160"/>
            <a:ext cx="9144000" cy="502920"/>
          </a:xfrm>
          <a:prstGeom prst="rect">
            <a:avLst/>
          </a:prstGeom>
          <a:noFill/>
        </p:spPr>
        <p:txBody>
          <a:bodyPr wrap="square"/>
          <a:lstStyle/>
          <a:p>
            <a:pPr algn="l">
              <a:defRPr sz="3600" b="1" i="0">
                <a:solidFill>
                  <a:srgbClr val="CC0011"/>
                </a:solidFill>
                <a:latin typeface="Arial Black"/>
              </a:defRPr>
            </a:pPr>
            <a:r>
              <a:t>Collaborations</a:t>
            </a:r>
          </a:p>
        </p:txBody>
      </p:sp>
      <p:sp>
        <p:nvSpPr>
          <p:cNvPr id="6" name="Rectangle 5"/>
          <p:cNvSpPr/>
          <p:nvPr/>
        </p:nvSpPr>
        <p:spPr>
          <a:xfrm>
            <a:off x="640080" y="20116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66544"/>
            <a:ext cx="2377440" cy="347472"/>
          </a:xfrm>
          <a:prstGeom prst="rect">
            <a:avLst/>
          </a:prstGeom>
          <a:noFill/>
        </p:spPr>
        <p:txBody>
          <a:bodyPr wrap="square"/>
          <a:lstStyle/>
          <a:p>
            <a:pPr algn="l">
              <a:defRPr sz="1000" b="0" i="0">
                <a:solidFill>
                  <a:srgbClr val="1A1A1A"/>
                </a:solidFill>
                <a:latin typeface="Calibri"/>
              </a:defRPr>
            </a:pPr>
            <a:r>
              <a:t>BaanARVR</a:t>
            </a:r>
          </a:p>
        </p:txBody>
      </p:sp>
      <p:sp>
        <p:nvSpPr>
          <p:cNvPr id="8" name="Rectangle 7"/>
          <p:cNvSpPr/>
          <p:nvPr/>
        </p:nvSpPr>
        <p:spPr>
          <a:xfrm>
            <a:off x="3474720" y="20116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79" y="2066544"/>
            <a:ext cx="2377440" cy="347472"/>
          </a:xfrm>
          <a:prstGeom prst="rect">
            <a:avLst/>
          </a:prstGeom>
          <a:noFill/>
        </p:spPr>
        <p:txBody>
          <a:bodyPr wrap="square"/>
          <a:lstStyle/>
          <a:p>
            <a:pPr algn="l">
              <a:defRPr sz="1000" b="0" i="0">
                <a:solidFill>
                  <a:srgbClr val="1A1A1A"/>
                </a:solidFill>
                <a:latin typeface="Calibri"/>
              </a:defRPr>
            </a:pPr>
            <a:r>
              <a:t>Royal Thai Embassy London</a:t>
            </a:r>
          </a:p>
        </p:txBody>
      </p:sp>
      <p:sp>
        <p:nvSpPr>
          <p:cNvPr id="10" name="Rectangle 9"/>
          <p:cNvSpPr/>
          <p:nvPr/>
        </p:nvSpPr>
        <p:spPr>
          <a:xfrm>
            <a:off x="6309360" y="20116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066544"/>
            <a:ext cx="2377440" cy="347472"/>
          </a:xfrm>
          <a:prstGeom prst="rect">
            <a:avLst/>
          </a:prstGeom>
          <a:noFill/>
        </p:spPr>
        <p:txBody>
          <a:bodyPr wrap="square"/>
          <a:lstStyle/>
          <a:p>
            <a:pPr algn="l">
              <a:defRPr sz="1000" b="0" i="0">
                <a:solidFill>
                  <a:srgbClr val="1A1A1A"/>
                </a:solidFill>
                <a:latin typeface="Calibri"/>
              </a:defRPr>
            </a:pPr>
            <a:r>
              <a:t>Samaggi Samagom</a:t>
            </a:r>
          </a:p>
        </p:txBody>
      </p:sp>
      <p:sp>
        <p:nvSpPr>
          <p:cNvPr id="12" name="Rectangle 11"/>
          <p:cNvSpPr/>
          <p:nvPr/>
        </p:nvSpPr>
        <p:spPr>
          <a:xfrm>
            <a:off x="9144000" y="20116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60" y="2066544"/>
            <a:ext cx="2377440" cy="347472"/>
          </a:xfrm>
          <a:prstGeom prst="rect">
            <a:avLst/>
          </a:prstGeom>
          <a:noFill/>
        </p:spPr>
        <p:txBody>
          <a:bodyPr wrap="square"/>
          <a:lstStyle/>
          <a:p>
            <a:pPr algn="l">
              <a:defRPr sz="1000" b="0" i="0">
                <a:solidFill>
                  <a:srgbClr val="1A1A1A"/>
                </a:solidFill>
                <a:latin typeface="Calibri"/>
              </a:defRPr>
            </a:pPr>
            <a:r>
              <a:t>McKinsey &amp; Company</a:t>
            </a:r>
          </a:p>
        </p:txBody>
      </p:sp>
      <p:sp>
        <p:nvSpPr>
          <p:cNvPr id="14" name="Rectangle 13"/>
          <p:cNvSpPr/>
          <p:nvPr/>
        </p:nvSpPr>
        <p:spPr>
          <a:xfrm>
            <a:off x="640080" y="260604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660904"/>
            <a:ext cx="2377440" cy="347472"/>
          </a:xfrm>
          <a:prstGeom prst="rect">
            <a:avLst/>
          </a:prstGeom>
          <a:noFill/>
        </p:spPr>
        <p:txBody>
          <a:bodyPr wrap="square"/>
          <a:lstStyle/>
          <a:p>
            <a:pPr algn="l">
              <a:defRPr sz="1000" b="0" i="0">
                <a:solidFill>
                  <a:srgbClr val="1A1A1A"/>
                </a:solidFill>
                <a:latin typeface="Calibri"/>
              </a:defRPr>
            </a:pPr>
            <a:r>
              <a:t>INTOUCH (AIS)</a:t>
            </a:r>
          </a:p>
        </p:txBody>
      </p:sp>
      <p:sp>
        <p:nvSpPr>
          <p:cNvPr id="16" name="Rectangle 15"/>
          <p:cNvSpPr/>
          <p:nvPr/>
        </p:nvSpPr>
        <p:spPr>
          <a:xfrm>
            <a:off x="3474720" y="260604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79" y="2660904"/>
            <a:ext cx="2377440" cy="347472"/>
          </a:xfrm>
          <a:prstGeom prst="rect">
            <a:avLst/>
          </a:prstGeom>
          <a:noFill/>
        </p:spPr>
        <p:txBody>
          <a:bodyPr wrap="square"/>
          <a:lstStyle/>
          <a:p>
            <a:pPr algn="l">
              <a:defRPr sz="1000" b="0" i="0">
                <a:solidFill>
                  <a:srgbClr val="1A1A1A"/>
                </a:solidFill>
                <a:latin typeface="Calibri"/>
              </a:defRPr>
            </a:pPr>
            <a:r>
              <a:t>InVent Builder</a:t>
            </a:r>
          </a:p>
        </p:txBody>
      </p:sp>
      <p:sp>
        <p:nvSpPr>
          <p:cNvPr id="18" name="Rectangle 17"/>
          <p:cNvSpPr/>
          <p:nvPr/>
        </p:nvSpPr>
        <p:spPr>
          <a:xfrm>
            <a:off x="6309360" y="260604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2660904"/>
            <a:ext cx="2377440" cy="347472"/>
          </a:xfrm>
          <a:prstGeom prst="rect">
            <a:avLst/>
          </a:prstGeom>
          <a:noFill/>
        </p:spPr>
        <p:txBody>
          <a:bodyPr wrap="square"/>
          <a:lstStyle/>
          <a:p>
            <a:pPr algn="l">
              <a:defRPr sz="1000" b="0" i="0">
                <a:solidFill>
                  <a:srgbClr val="1A1A1A"/>
                </a:solidFill>
                <a:latin typeface="Calibri"/>
              </a:defRPr>
            </a:pPr>
            <a:r>
              <a:t>Grab Thailand</a:t>
            </a:r>
          </a:p>
        </p:txBody>
      </p:sp>
      <p:sp>
        <p:nvSpPr>
          <p:cNvPr id="20" name="Rectangle 19"/>
          <p:cNvSpPr/>
          <p:nvPr/>
        </p:nvSpPr>
        <p:spPr>
          <a:xfrm>
            <a:off x="9144000" y="260604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2660904"/>
            <a:ext cx="2377440" cy="347472"/>
          </a:xfrm>
          <a:prstGeom prst="rect">
            <a:avLst/>
          </a:prstGeom>
          <a:noFill/>
        </p:spPr>
        <p:txBody>
          <a:bodyPr wrap="square"/>
          <a:lstStyle/>
          <a:p>
            <a:pPr algn="l">
              <a:defRPr sz="1000" b="0" i="0">
                <a:solidFill>
                  <a:srgbClr val="1A1A1A"/>
                </a:solidFill>
                <a:latin typeface="Calibri"/>
              </a:defRPr>
            </a:pPr>
            <a:r>
              <a:t>Thailand Post</a:t>
            </a:r>
          </a:p>
        </p:txBody>
      </p:sp>
      <p:sp>
        <p:nvSpPr>
          <p:cNvPr id="22" name="Rectangle 21"/>
          <p:cNvSpPr/>
          <p:nvPr/>
        </p:nvSpPr>
        <p:spPr>
          <a:xfrm>
            <a:off x="640080" y="320040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255264"/>
            <a:ext cx="2377440" cy="347472"/>
          </a:xfrm>
          <a:prstGeom prst="rect">
            <a:avLst/>
          </a:prstGeom>
          <a:noFill/>
        </p:spPr>
        <p:txBody>
          <a:bodyPr wrap="square"/>
          <a:lstStyle/>
          <a:p>
            <a:pPr algn="l">
              <a:defRPr sz="1000" b="0" i="0">
                <a:solidFill>
                  <a:srgbClr val="1A1A1A"/>
                </a:solidFill>
                <a:latin typeface="Calibri"/>
              </a:defRPr>
            </a:pPr>
            <a:r>
              <a:t>TCDA</a:t>
            </a:r>
          </a:p>
        </p:txBody>
      </p:sp>
      <p:sp>
        <p:nvSpPr>
          <p:cNvPr id="24" name="Rectangle 23"/>
          <p:cNvSpPr/>
          <p:nvPr/>
        </p:nvSpPr>
        <p:spPr>
          <a:xfrm>
            <a:off x="3474720" y="320040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11879" y="3255264"/>
            <a:ext cx="2377440" cy="347472"/>
          </a:xfrm>
          <a:prstGeom prst="rect">
            <a:avLst/>
          </a:prstGeom>
          <a:noFill/>
        </p:spPr>
        <p:txBody>
          <a:bodyPr wrap="square"/>
          <a:lstStyle/>
          <a:p>
            <a:pPr algn="l">
              <a:defRPr sz="1000" b="0" i="0">
                <a:solidFill>
                  <a:srgbClr val="1A1A1A"/>
                </a:solidFill>
                <a:latin typeface="Calibri"/>
              </a:defRPr>
            </a:pPr>
            <a:r>
              <a:t>Conxo Lab</a:t>
            </a:r>
          </a:p>
        </p:txBody>
      </p:sp>
      <p:sp>
        <p:nvSpPr>
          <p:cNvPr id="26" name="Rectangle 25"/>
          <p:cNvSpPr/>
          <p:nvPr/>
        </p:nvSpPr>
        <p:spPr>
          <a:xfrm>
            <a:off x="6309360" y="320040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3255264"/>
            <a:ext cx="2377440" cy="347472"/>
          </a:xfrm>
          <a:prstGeom prst="rect">
            <a:avLst/>
          </a:prstGeom>
          <a:noFill/>
        </p:spPr>
        <p:txBody>
          <a:bodyPr wrap="square"/>
          <a:lstStyle/>
          <a:p>
            <a:pPr algn="l">
              <a:defRPr sz="1000" b="0" i="0">
                <a:solidFill>
                  <a:srgbClr val="1A1A1A"/>
                </a:solidFill>
                <a:latin typeface="Calibri"/>
              </a:defRPr>
            </a:pPr>
            <a:r>
              <a:t>Baanna Resort</a:t>
            </a:r>
          </a:p>
        </p:txBody>
      </p:sp>
      <p:sp>
        <p:nvSpPr>
          <p:cNvPr id="28" name="Rectangle 27"/>
          <p:cNvSpPr/>
          <p:nvPr/>
        </p:nvSpPr>
        <p:spPr>
          <a:xfrm>
            <a:off x="9144000" y="320040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3255264"/>
            <a:ext cx="2377440" cy="347472"/>
          </a:xfrm>
          <a:prstGeom prst="rect">
            <a:avLst/>
          </a:prstGeom>
          <a:noFill/>
        </p:spPr>
        <p:txBody>
          <a:bodyPr wrap="square"/>
          <a:lstStyle/>
          <a:p>
            <a:pPr algn="l">
              <a:defRPr sz="1000" b="0" i="0">
                <a:solidFill>
                  <a:srgbClr val="1A1A1A"/>
                </a:solidFill>
                <a:latin typeface="Calibri"/>
              </a:defRPr>
            </a:pPr>
            <a:r>
              <a:t>NASA Space Apps Challenge</a:t>
            </a:r>
          </a:p>
        </p:txBody>
      </p:sp>
      <p:sp>
        <p:nvSpPr>
          <p:cNvPr id="30" name="Rectangle 29"/>
          <p:cNvSpPr/>
          <p:nvPr/>
        </p:nvSpPr>
        <p:spPr>
          <a:xfrm>
            <a:off x="640080" y="379476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3849624"/>
            <a:ext cx="2377440" cy="347472"/>
          </a:xfrm>
          <a:prstGeom prst="rect">
            <a:avLst/>
          </a:prstGeom>
          <a:noFill/>
        </p:spPr>
        <p:txBody>
          <a:bodyPr wrap="square"/>
          <a:lstStyle/>
          <a:p>
            <a:pPr algn="l">
              <a:defRPr sz="1000" b="0" i="0">
                <a:solidFill>
                  <a:srgbClr val="1A1A1A"/>
                </a:solidFill>
                <a:latin typeface="Calibri"/>
              </a:defRPr>
            </a:pPr>
            <a:r>
              <a:t>THG (Thonburi Healthcare)</a:t>
            </a:r>
          </a:p>
        </p:txBody>
      </p:sp>
      <p:sp>
        <p:nvSpPr>
          <p:cNvPr id="32" name="Rectangle 31"/>
          <p:cNvSpPr/>
          <p:nvPr/>
        </p:nvSpPr>
        <p:spPr>
          <a:xfrm>
            <a:off x="3474720" y="379476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11879" y="3849624"/>
            <a:ext cx="2377440" cy="347472"/>
          </a:xfrm>
          <a:prstGeom prst="rect">
            <a:avLst/>
          </a:prstGeom>
          <a:noFill/>
        </p:spPr>
        <p:txBody>
          <a:bodyPr wrap="square"/>
          <a:lstStyle/>
          <a:p>
            <a:pPr algn="l">
              <a:defRPr sz="1000" b="0" i="0">
                <a:solidFill>
                  <a:srgbClr val="1A1A1A"/>
                </a:solidFill>
                <a:latin typeface="Calibri"/>
              </a:defRPr>
            </a:pPr>
            <a:r>
              <a:t>Bon Tré</a:t>
            </a:r>
          </a:p>
        </p:txBody>
      </p:sp>
      <p:sp>
        <p:nvSpPr>
          <p:cNvPr id="34" name="Rectangle 33"/>
          <p:cNvSpPr/>
          <p:nvPr/>
        </p:nvSpPr>
        <p:spPr>
          <a:xfrm>
            <a:off x="6309360" y="379476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3849624"/>
            <a:ext cx="2377440" cy="347472"/>
          </a:xfrm>
          <a:prstGeom prst="rect">
            <a:avLst/>
          </a:prstGeom>
          <a:noFill/>
        </p:spPr>
        <p:txBody>
          <a:bodyPr wrap="square"/>
          <a:lstStyle/>
          <a:p>
            <a:pPr algn="l">
              <a:defRPr sz="1000" b="0" i="0">
                <a:solidFill>
                  <a:srgbClr val="1A1A1A"/>
                </a:solidFill>
                <a:latin typeface="Calibri"/>
              </a:defRPr>
            </a:pPr>
            <a:r>
              <a:t>DoEd</a:t>
            </a:r>
          </a:p>
        </p:txBody>
      </p:sp>
      <p:sp>
        <p:nvSpPr>
          <p:cNvPr id="36" name="Rectangle 35"/>
          <p:cNvSpPr/>
          <p:nvPr/>
        </p:nvSpPr>
        <p:spPr>
          <a:xfrm>
            <a:off x="9144000" y="379476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81160" y="3849624"/>
            <a:ext cx="2377440" cy="347472"/>
          </a:xfrm>
          <a:prstGeom prst="rect">
            <a:avLst/>
          </a:prstGeom>
          <a:noFill/>
        </p:spPr>
        <p:txBody>
          <a:bodyPr wrap="square"/>
          <a:lstStyle/>
          <a:p>
            <a:pPr algn="l">
              <a:defRPr sz="1000" b="0" i="0">
                <a:solidFill>
                  <a:srgbClr val="1A1A1A"/>
                </a:solidFill>
                <a:latin typeface="Calibri"/>
              </a:defRPr>
            </a:pPr>
            <a:r>
              <a:t>Thaiyarnyon 1950</a:t>
            </a:r>
          </a:p>
        </p:txBody>
      </p:sp>
      <p:sp>
        <p:nvSpPr>
          <p:cNvPr id="38" name="Rectangle 37"/>
          <p:cNvSpPr/>
          <p:nvPr/>
        </p:nvSpPr>
        <p:spPr>
          <a:xfrm>
            <a:off x="640080" y="438912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4443984"/>
            <a:ext cx="2377440" cy="347472"/>
          </a:xfrm>
          <a:prstGeom prst="rect">
            <a:avLst/>
          </a:prstGeom>
          <a:noFill/>
        </p:spPr>
        <p:txBody>
          <a:bodyPr wrap="square"/>
          <a:lstStyle/>
          <a:p>
            <a:pPr algn="l">
              <a:defRPr sz="1000" b="0" i="0">
                <a:solidFill>
                  <a:srgbClr val="1A1A1A"/>
                </a:solidFill>
                <a:latin typeface="Calibri"/>
              </a:defRPr>
            </a:pPr>
            <a:r>
              <a:t>Queen Mary University</a:t>
            </a:r>
          </a:p>
        </p:txBody>
      </p:sp>
      <p:sp>
        <p:nvSpPr>
          <p:cNvPr id="40" name="Rectangle 39"/>
          <p:cNvSpPr/>
          <p:nvPr/>
        </p:nvSpPr>
        <p:spPr>
          <a:xfrm>
            <a:off x="3474720" y="438912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11879" y="4443984"/>
            <a:ext cx="2377440" cy="347472"/>
          </a:xfrm>
          <a:prstGeom prst="rect">
            <a:avLst/>
          </a:prstGeom>
          <a:noFill/>
        </p:spPr>
        <p:txBody>
          <a:bodyPr wrap="square"/>
          <a:lstStyle/>
          <a:p>
            <a:pPr algn="l">
              <a:defRPr sz="1000" b="0" i="0">
                <a:solidFill>
                  <a:srgbClr val="1A1A1A"/>
                </a:solidFill>
                <a:latin typeface="Calibri"/>
              </a:defRPr>
            </a:pPr>
            <a:r>
              <a:t>3 Day Startup</a:t>
            </a:r>
          </a:p>
        </p:txBody>
      </p:sp>
      <p:sp>
        <p:nvSpPr>
          <p:cNvPr id="42" name="Rectangle 41"/>
          <p:cNvSpPr/>
          <p:nvPr/>
        </p:nvSpPr>
        <p:spPr>
          <a:xfrm>
            <a:off x="6309360" y="438912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4443984"/>
            <a:ext cx="2377440" cy="347472"/>
          </a:xfrm>
          <a:prstGeom prst="rect">
            <a:avLst/>
          </a:prstGeom>
          <a:noFill/>
        </p:spPr>
        <p:txBody>
          <a:bodyPr wrap="square"/>
          <a:lstStyle/>
          <a:p>
            <a:pPr algn="l">
              <a:defRPr sz="1000" b="0" i="0">
                <a:solidFill>
                  <a:srgbClr val="1A1A1A"/>
                </a:solidFill>
                <a:latin typeface="Calibri"/>
              </a:defRPr>
            </a:pPr>
            <a:r>
              <a:t>B-EVER</a:t>
            </a:r>
          </a:p>
        </p:txBody>
      </p:sp>
      <p:sp>
        <p:nvSpPr>
          <p:cNvPr id="44" name="Rectangle 43"/>
          <p:cNvSpPr/>
          <p:nvPr/>
        </p:nvSpPr>
        <p:spPr>
          <a:xfrm>
            <a:off x="9144000" y="438912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81160" y="4443984"/>
            <a:ext cx="2377440" cy="347472"/>
          </a:xfrm>
          <a:prstGeom prst="rect">
            <a:avLst/>
          </a:prstGeom>
          <a:noFill/>
        </p:spPr>
        <p:txBody>
          <a:bodyPr wrap="square"/>
          <a:lstStyle/>
          <a:p>
            <a:pPr algn="l">
              <a:defRPr sz="1000" b="0" i="0">
                <a:solidFill>
                  <a:srgbClr val="1A1A1A"/>
                </a:solidFill>
                <a:latin typeface="Calibri"/>
              </a:defRPr>
            </a:pPr>
            <a:r>
              <a:t>KUN Inter Group</a:t>
            </a:r>
          </a:p>
        </p:txBody>
      </p:sp>
      <p:sp>
        <p:nvSpPr>
          <p:cNvPr id="46" name="Rectangle 45"/>
          <p:cNvSpPr/>
          <p:nvPr/>
        </p:nvSpPr>
        <p:spPr>
          <a:xfrm>
            <a:off x="640080" y="49834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5038344"/>
            <a:ext cx="2377440" cy="347472"/>
          </a:xfrm>
          <a:prstGeom prst="rect">
            <a:avLst/>
          </a:prstGeom>
          <a:noFill/>
        </p:spPr>
        <p:txBody>
          <a:bodyPr wrap="square"/>
          <a:lstStyle/>
          <a:p>
            <a:pPr algn="l">
              <a:defRPr sz="1000" b="0" i="0">
                <a:solidFill>
                  <a:srgbClr val="1A1A1A"/>
                </a:solidFill>
                <a:latin typeface="Calibri"/>
              </a:defRPr>
            </a:pPr>
            <a:r>
              <a:t>Valani</a:t>
            </a:r>
          </a:p>
        </p:txBody>
      </p:sp>
      <p:sp>
        <p:nvSpPr>
          <p:cNvPr id="48" name="Rectangle 47"/>
          <p:cNvSpPr/>
          <p:nvPr/>
        </p:nvSpPr>
        <p:spPr>
          <a:xfrm>
            <a:off x="3474720" y="49834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11879" y="5038344"/>
            <a:ext cx="2377440" cy="347472"/>
          </a:xfrm>
          <a:prstGeom prst="rect">
            <a:avLst/>
          </a:prstGeom>
          <a:noFill/>
        </p:spPr>
        <p:txBody>
          <a:bodyPr wrap="square"/>
          <a:lstStyle/>
          <a:p>
            <a:pPr algn="l">
              <a:defRPr sz="1000" b="0" i="0">
                <a:solidFill>
                  <a:srgbClr val="1A1A1A"/>
                </a:solidFill>
                <a:latin typeface="Calibri"/>
              </a:defRPr>
            </a:pPr>
            <a:r>
              <a:t>drin'c</a:t>
            </a:r>
          </a:p>
        </p:txBody>
      </p:sp>
      <p:sp>
        <p:nvSpPr>
          <p:cNvPr id="50" name="Rectangle 49"/>
          <p:cNvSpPr/>
          <p:nvPr/>
        </p:nvSpPr>
        <p:spPr>
          <a:xfrm>
            <a:off x="6309360" y="49834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46520" y="5038344"/>
            <a:ext cx="2377440" cy="347472"/>
          </a:xfrm>
          <a:prstGeom prst="rect">
            <a:avLst/>
          </a:prstGeom>
          <a:noFill/>
        </p:spPr>
        <p:txBody>
          <a:bodyPr wrap="square"/>
          <a:lstStyle/>
          <a:p>
            <a:pPr algn="l">
              <a:defRPr sz="1000" b="0" i="0">
                <a:solidFill>
                  <a:srgbClr val="1A1A1A"/>
                </a:solidFill>
                <a:latin typeface="Calibri"/>
              </a:defRPr>
            </a:pPr>
            <a:r>
              <a:t>Stonegoat Climbing</a:t>
            </a:r>
          </a:p>
        </p:txBody>
      </p:sp>
      <p:sp>
        <p:nvSpPr>
          <p:cNvPr id="52" name="Rectangle 51"/>
          <p:cNvSpPr/>
          <p:nvPr/>
        </p:nvSpPr>
        <p:spPr>
          <a:xfrm>
            <a:off x="9144000" y="4983480"/>
            <a:ext cx="2651760" cy="45720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81160" y="5038344"/>
            <a:ext cx="2377440" cy="347472"/>
          </a:xfrm>
          <a:prstGeom prst="rect">
            <a:avLst/>
          </a:prstGeom>
          <a:noFill/>
        </p:spPr>
        <p:txBody>
          <a:bodyPr wrap="square"/>
          <a:lstStyle/>
          <a:p>
            <a:pPr algn="l">
              <a:defRPr sz="1000" b="0" i="0">
                <a:solidFill>
                  <a:srgbClr val="1A1A1A"/>
                </a:solidFill>
                <a:latin typeface="Calibri"/>
              </a:defRPr>
            </a:pPr>
            <a:r>
              <a:t>TSCA</a:t>
            </a:r>
          </a:p>
        </p:txBody>
      </p:sp>
      <p:sp>
        <p:nvSpPr>
          <p:cNvPr id="54" name="Rectangle 53"/>
          <p:cNvSpPr/>
          <p:nvPr/>
        </p:nvSpPr>
        <p:spPr>
          <a:xfrm>
            <a:off x="640080" y="6446520"/>
            <a:ext cx="36576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51560" y="6446520"/>
            <a:ext cx="1046988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 y="6537959"/>
            <a:ext cx="4572000" cy="228600"/>
          </a:xfrm>
          <a:prstGeom prst="rect">
            <a:avLst/>
          </a:prstGeom>
          <a:noFill/>
        </p:spPr>
        <p:txBody>
          <a:bodyPr wrap="square"/>
          <a:lstStyle/>
          <a:p>
            <a:pPr algn="l">
              <a:defRPr sz="800" b="1" i="0">
                <a:solidFill>
                  <a:srgbClr val="888580"/>
                </a:solidFill>
                <a:latin typeface="Calibri"/>
              </a:defRPr>
            </a:pPr>
            <a:r>
              <a:t>AUGMA IMAGINARIUM  |  PRESS KIT 2026</a:t>
            </a:r>
          </a:p>
        </p:txBody>
      </p:sp>
      <p:sp>
        <p:nvSpPr>
          <p:cNvPr id="57" name="TextBox 56"/>
          <p:cNvSpPr txBox="1"/>
          <p:nvPr/>
        </p:nvSpPr>
        <p:spPr>
          <a:xfrm>
            <a:off x="8321040" y="6537959"/>
            <a:ext cx="3200400" cy="228600"/>
          </a:xfrm>
          <a:prstGeom prst="rect">
            <a:avLst/>
          </a:prstGeom>
          <a:noFill/>
        </p:spPr>
        <p:txBody>
          <a:bodyPr wrap="square"/>
          <a:lstStyle/>
          <a:p>
            <a:pPr algn="r">
              <a:defRPr sz="800" b="0" i="0">
                <a:solidFill>
                  <a:srgbClr val="888580"/>
                </a:solidFill>
                <a:latin typeface="Calibri"/>
              </a:defRPr>
            </a:pPr>
            <a:r>
              <a:t>mlhariras.tongyai@gmail.com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4572000" cy="6126480"/>
          </a:xfrm>
          <a:prstGeom prst="rect">
            <a:avLst/>
          </a:prstGeom>
          <a:solidFill>
            <a:srgbClr val="AA0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3474720" cy="365760"/>
          </a:xfrm>
          <a:prstGeom prst="rect">
            <a:avLst/>
          </a:prstGeom>
          <a:noFill/>
        </p:spPr>
        <p:txBody>
          <a:bodyPr wrap="square"/>
          <a:lstStyle/>
          <a:p>
            <a:pPr algn="ctr">
              <a:defRPr sz="1300" b="0" i="0">
                <a:solidFill>
                  <a:srgbClr val="FF9999"/>
                </a:solidFill>
                <a:latin typeface="Calibri"/>
              </a:defRPr>
            </a:pPr>
            <a:r>
              <a:t>[ CONTACT PHOTO ]</a:t>
            </a:r>
          </a:p>
        </p:txBody>
      </p:sp>
      <p:sp>
        <p:nvSpPr>
          <p:cNvPr id="5" name="TextBox 4"/>
          <p:cNvSpPr txBox="1"/>
          <p:nvPr/>
        </p:nvSpPr>
        <p:spPr>
          <a:xfrm>
            <a:off x="5943600" y="1097280"/>
            <a:ext cx="5486400" cy="548640"/>
          </a:xfrm>
          <a:prstGeom prst="rect">
            <a:avLst/>
          </a:prstGeom>
          <a:noFill/>
        </p:spPr>
        <p:txBody>
          <a:bodyPr wrap="square"/>
          <a:lstStyle/>
          <a:p>
            <a:pPr algn="l">
              <a:defRPr sz="4800" b="1" i="0">
                <a:solidFill>
                  <a:srgbClr val="FFFFFF"/>
                </a:solidFill>
                <a:latin typeface="Arial Black"/>
              </a:defRPr>
            </a:pPr>
            <a:r>
              <a:t>LET'S</a:t>
            </a:r>
          </a:p>
        </p:txBody>
      </p:sp>
      <p:sp>
        <p:nvSpPr>
          <p:cNvPr id="6" name="TextBox 5"/>
          <p:cNvSpPr txBox="1"/>
          <p:nvPr/>
        </p:nvSpPr>
        <p:spPr>
          <a:xfrm>
            <a:off x="5943600" y="1737360"/>
            <a:ext cx="5486400" cy="548640"/>
          </a:xfrm>
          <a:prstGeom prst="rect">
            <a:avLst/>
          </a:prstGeom>
          <a:noFill/>
        </p:spPr>
        <p:txBody>
          <a:bodyPr wrap="square"/>
          <a:lstStyle/>
          <a:p>
            <a:pPr algn="l">
              <a:defRPr sz="4800" b="1" i="0">
                <a:solidFill>
                  <a:srgbClr val="CC0011"/>
                </a:solidFill>
                <a:latin typeface="Arial Black"/>
              </a:defRPr>
            </a:pPr>
            <a:r>
              <a:t>CONNECT</a:t>
            </a:r>
          </a:p>
        </p:txBody>
      </p:sp>
      <p:sp>
        <p:nvSpPr>
          <p:cNvPr id="7" name="Rectangle 6"/>
          <p:cNvSpPr/>
          <p:nvPr/>
        </p:nvSpPr>
        <p:spPr>
          <a:xfrm>
            <a:off x="5943600" y="2560320"/>
            <a:ext cx="41148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2743200"/>
            <a:ext cx="1828800" cy="274320"/>
          </a:xfrm>
          <a:prstGeom prst="rect">
            <a:avLst/>
          </a:prstGeom>
          <a:noFill/>
        </p:spPr>
        <p:txBody>
          <a:bodyPr wrap="square"/>
          <a:lstStyle/>
          <a:p>
            <a:pPr algn="l">
              <a:defRPr sz="1100" b="1" i="0">
                <a:solidFill>
                  <a:srgbClr val="CC0011"/>
                </a:solidFill>
                <a:latin typeface="Calibri"/>
              </a:defRPr>
            </a:pPr>
            <a:r>
              <a:t>PERSONAL</a:t>
            </a:r>
          </a:p>
        </p:txBody>
      </p:sp>
      <p:sp>
        <p:nvSpPr>
          <p:cNvPr id="9" name="TextBox 8"/>
          <p:cNvSpPr txBox="1"/>
          <p:nvPr/>
        </p:nvSpPr>
        <p:spPr>
          <a:xfrm>
            <a:off x="7772400" y="2743200"/>
            <a:ext cx="4114800" cy="274320"/>
          </a:xfrm>
          <a:prstGeom prst="rect">
            <a:avLst/>
          </a:prstGeom>
          <a:noFill/>
        </p:spPr>
        <p:txBody>
          <a:bodyPr wrap="square"/>
          <a:lstStyle/>
          <a:p>
            <a:pPr algn="l">
              <a:defRPr sz="1400" b="0" i="0">
                <a:solidFill>
                  <a:srgbClr val="FFFFFF"/>
                </a:solidFill>
                <a:latin typeface="Calibri"/>
              </a:defRPr>
            </a:pPr>
            <a:r>
              <a:t>095-149-8291</a:t>
            </a:r>
          </a:p>
        </p:txBody>
      </p:sp>
      <p:sp>
        <p:nvSpPr>
          <p:cNvPr id="10" name="TextBox 9"/>
          <p:cNvSpPr txBox="1"/>
          <p:nvPr/>
        </p:nvSpPr>
        <p:spPr>
          <a:xfrm>
            <a:off x="5943600" y="3218688"/>
            <a:ext cx="1828800" cy="274320"/>
          </a:xfrm>
          <a:prstGeom prst="rect">
            <a:avLst/>
          </a:prstGeom>
          <a:noFill/>
        </p:spPr>
        <p:txBody>
          <a:bodyPr wrap="square"/>
          <a:lstStyle/>
          <a:p>
            <a:pPr algn="l">
              <a:defRPr sz="1100" b="1" i="0">
                <a:solidFill>
                  <a:srgbClr val="CC0011"/>
                </a:solidFill>
                <a:latin typeface="Calibri"/>
              </a:defRPr>
            </a:pPr>
            <a:r>
              <a:t>AUGMA</a:t>
            </a:r>
          </a:p>
        </p:txBody>
      </p:sp>
      <p:sp>
        <p:nvSpPr>
          <p:cNvPr id="11" name="TextBox 10"/>
          <p:cNvSpPr txBox="1"/>
          <p:nvPr/>
        </p:nvSpPr>
        <p:spPr>
          <a:xfrm>
            <a:off x="7772400" y="3218688"/>
            <a:ext cx="4114800" cy="274320"/>
          </a:xfrm>
          <a:prstGeom prst="rect">
            <a:avLst/>
          </a:prstGeom>
          <a:noFill/>
        </p:spPr>
        <p:txBody>
          <a:bodyPr wrap="square"/>
          <a:lstStyle/>
          <a:p>
            <a:pPr algn="l">
              <a:defRPr sz="1400" b="0" i="0">
                <a:solidFill>
                  <a:srgbClr val="FFFFFF"/>
                </a:solidFill>
                <a:latin typeface="Calibri"/>
              </a:defRPr>
            </a:pPr>
            <a:r>
              <a:t>090-912-6644</a:t>
            </a:r>
          </a:p>
        </p:txBody>
      </p:sp>
      <p:sp>
        <p:nvSpPr>
          <p:cNvPr id="12" name="TextBox 11"/>
          <p:cNvSpPr txBox="1"/>
          <p:nvPr/>
        </p:nvSpPr>
        <p:spPr>
          <a:xfrm>
            <a:off x="5943600" y="3694176"/>
            <a:ext cx="1828800" cy="274320"/>
          </a:xfrm>
          <a:prstGeom prst="rect">
            <a:avLst/>
          </a:prstGeom>
          <a:noFill/>
        </p:spPr>
        <p:txBody>
          <a:bodyPr wrap="square"/>
          <a:lstStyle/>
          <a:p>
            <a:pPr algn="l">
              <a:defRPr sz="1100" b="1" i="0">
                <a:solidFill>
                  <a:srgbClr val="CC0011"/>
                </a:solidFill>
                <a:latin typeface="Calibri"/>
              </a:defRPr>
            </a:pPr>
            <a:r>
              <a:t>EMAIL</a:t>
            </a:r>
          </a:p>
        </p:txBody>
      </p:sp>
      <p:sp>
        <p:nvSpPr>
          <p:cNvPr id="13" name="TextBox 12"/>
          <p:cNvSpPr txBox="1"/>
          <p:nvPr/>
        </p:nvSpPr>
        <p:spPr>
          <a:xfrm>
            <a:off x="7772400" y="3694176"/>
            <a:ext cx="4114800" cy="274320"/>
          </a:xfrm>
          <a:prstGeom prst="rect">
            <a:avLst/>
          </a:prstGeom>
          <a:noFill/>
        </p:spPr>
        <p:txBody>
          <a:bodyPr wrap="square"/>
          <a:lstStyle/>
          <a:p>
            <a:pPr algn="l">
              <a:defRPr sz="1400" b="0" i="0">
                <a:solidFill>
                  <a:srgbClr val="FFFFFF"/>
                </a:solidFill>
                <a:latin typeface="Calibri"/>
              </a:defRPr>
            </a:pPr>
            <a:r>
              <a:t>mlhariras.tongyai@gmail.com</a:t>
            </a:r>
          </a:p>
        </p:txBody>
      </p:sp>
      <p:sp>
        <p:nvSpPr>
          <p:cNvPr id="14" name="TextBox 13"/>
          <p:cNvSpPr txBox="1"/>
          <p:nvPr/>
        </p:nvSpPr>
        <p:spPr>
          <a:xfrm>
            <a:off x="5943600" y="4169664"/>
            <a:ext cx="1828800" cy="274320"/>
          </a:xfrm>
          <a:prstGeom prst="rect">
            <a:avLst/>
          </a:prstGeom>
          <a:noFill/>
        </p:spPr>
        <p:txBody>
          <a:bodyPr wrap="square"/>
          <a:lstStyle/>
          <a:p>
            <a:pPr algn="l">
              <a:defRPr sz="1100" b="1" i="0">
                <a:solidFill>
                  <a:srgbClr val="CC0011"/>
                </a:solidFill>
                <a:latin typeface="Calibri"/>
              </a:defRPr>
            </a:pPr>
            <a:r>
              <a:t>WORK EMAIL</a:t>
            </a:r>
          </a:p>
        </p:txBody>
      </p:sp>
      <p:sp>
        <p:nvSpPr>
          <p:cNvPr id="15" name="TextBox 14"/>
          <p:cNvSpPr txBox="1"/>
          <p:nvPr/>
        </p:nvSpPr>
        <p:spPr>
          <a:xfrm>
            <a:off x="7772400" y="4169664"/>
            <a:ext cx="4114800" cy="274320"/>
          </a:xfrm>
          <a:prstGeom prst="rect">
            <a:avLst/>
          </a:prstGeom>
          <a:noFill/>
        </p:spPr>
        <p:txBody>
          <a:bodyPr wrap="square"/>
          <a:lstStyle/>
          <a:p>
            <a:pPr algn="l">
              <a:defRPr sz="1400" b="0" i="0">
                <a:solidFill>
                  <a:srgbClr val="FFFFFF"/>
                </a:solidFill>
                <a:latin typeface="Calibri"/>
              </a:defRPr>
            </a:pPr>
            <a:r>
              <a:t>hariras@augmaimaginarium.com</a:t>
            </a:r>
          </a:p>
        </p:txBody>
      </p:sp>
      <p:sp>
        <p:nvSpPr>
          <p:cNvPr id="16" name="TextBox 15"/>
          <p:cNvSpPr txBox="1"/>
          <p:nvPr/>
        </p:nvSpPr>
        <p:spPr>
          <a:xfrm>
            <a:off x="5943600" y="4645152"/>
            <a:ext cx="1828800" cy="274320"/>
          </a:xfrm>
          <a:prstGeom prst="rect">
            <a:avLst/>
          </a:prstGeom>
          <a:noFill/>
        </p:spPr>
        <p:txBody>
          <a:bodyPr wrap="square"/>
          <a:lstStyle/>
          <a:p>
            <a:pPr algn="l">
              <a:defRPr sz="1100" b="1" i="0">
                <a:solidFill>
                  <a:srgbClr val="CC0011"/>
                </a:solidFill>
                <a:latin typeface="Calibri"/>
              </a:defRPr>
            </a:pPr>
            <a:r>
              <a:t>INSTAGRAM</a:t>
            </a:r>
          </a:p>
        </p:txBody>
      </p:sp>
      <p:sp>
        <p:nvSpPr>
          <p:cNvPr id="17" name="TextBox 16"/>
          <p:cNvSpPr txBox="1"/>
          <p:nvPr/>
        </p:nvSpPr>
        <p:spPr>
          <a:xfrm>
            <a:off x="7772400" y="4645152"/>
            <a:ext cx="4114800" cy="274320"/>
          </a:xfrm>
          <a:prstGeom prst="rect">
            <a:avLst/>
          </a:prstGeom>
          <a:noFill/>
        </p:spPr>
        <p:txBody>
          <a:bodyPr wrap="square"/>
          <a:lstStyle/>
          <a:p>
            <a:pPr algn="l">
              <a:defRPr sz="1400" b="0" i="0">
                <a:solidFill>
                  <a:srgbClr val="FFFFFF"/>
                </a:solidFill>
                <a:latin typeface="Calibri"/>
              </a:defRPr>
            </a:pPr>
            <a:r>
              <a:t>@tonythetechie</a:t>
            </a:r>
          </a:p>
        </p:txBody>
      </p:sp>
      <p:sp>
        <p:nvSpPr>
          <p:cNvPr id="18" name="Rectangle 17"/>
          <p:cNvSpPr/>
          <p:nvPr/>
        </p:nvSpPr>
        <p:spPr>
          <a:xfrm>
            <a:off x="5943600" y="5166360"/>
            <a:ext cx="36576" cy="6400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5120640"/>
            <a:ext cx="5029200" cy="822960"/>
          </a:xfrm>
          <a:prstGeom prst="rect">
            <a:avLst/>
          </a:prstGeom>
          <a:noFill/>
        </p:spPr>
        <p:txBody>
          <a:bodyPr wrap="square"/>
          <a:lstStyle/>
          <a:p>
            <a:pPr algn="l">
              <a:lnSpc>
                <a:spcPts val="1700"/>
              </a:lnSpc>
              <a:defRPr sz="1100" b="1" i="1">
                <a:solidFill>
                  <a:srgbClr val="BBBBBB"/>
                </a:solidFill>
                <a:latin typeface="Calibri"/>
              </a:defRPr>
            </a:pPr>
            <a:r>
              <a:t>"It is simply not enough to overlay a layer on top of our reality.</a:t>
            </a:r>
            <a:br/>
            <a:r>
              <a:t>We create worlds — authored stories, world elements,</a:t>
            </a:r>
            <a:br/>
            <a:r>
              <a:t>and gameplay at specific locations and landmarks."</a:t>
            </a:r>
          </a:p>
        </p:txBody>
      </p:sp>
      <p:sp>
        <p:nvSpPr>
          <p:cNvPr id="20" name="TextBox 19"/>
          <p:cNvSpPr txBox="1"/>
          <p:nvPr/>
        </p:nvSpPr>
        <p:spPr>
          <a:xfrm>
            <a:off x="5943600" y="5989320"/>
            <a:ext cx="5486400" cy="274320"/>
          </a:xfrm>
          <a:prstGeom prst="rect">
            <a:avLst/>
          </a:prstGeom>
          <a:noFill/>
        </p:spPr>
        <p:txBody>
          <a:bodyPr wrap="square"/>
          <a:lstStyle/>
          <a:p>
            <a:pPr algn="l">
              <a:defRPr sz="1200" b="1" i="0">
                <a:solidFill>
                  <a:srgbClr val="555555"/>
                </a:solidFill>
                <a:latin typeface="Calibri"/>
              </a:defRPr>
            </a:pPr>
            <a:r>
              <a:t>AUGMA  IMAGINARIUM</a:t>
            </a:r>
          </a:p>
        </p:txBody>
      </p:sp>
      <p:sp>
        <p:nvSpPr>
          <p:cNvPr id="21" name="TextBox 20"/>
          <p:cNvSpPr txBox="1"/>
          <p:nvPr/>
        </p:nvSpPr>
        <p:spPr>
          <a:xfrm>
            <a:off x="5943600" y="6263640"/>
            <a:ext cx="5486400" cy="274320"/>
          </a:xfrm>
          <a:prstGeom prst="rect">
            <a:avLst/>
          </a:prstGeom>
          <a:noFill/>
        </p:spPr>
        <p:txBody>
          <a:bodyPr wrap="square"/>
          <a:lstStyle/>
          <a:p>
            <a:pPr algn="l">
              <a:defRPr sz="1000" b="0" i="0">
                <a:solidFill>
                  <a:srgbClr val="444444"/>
                </a:solidFill>
                <a:latin typeface="Calibri"/>
              </a:defRPr>
            </a:pPr>
            <a:r>
              <a:t>XR Developer Studio  —  Bangkok, Thailand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